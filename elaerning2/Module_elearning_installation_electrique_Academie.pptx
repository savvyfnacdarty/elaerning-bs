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dans ce module de l'Académie Fnac Darty, consacré à l'installation électrique chez le client.</a:t>
            </a:r>
          </a:p>
          <a:p/>
          <a:p>
            <a:r>
              <a:t>[Durée estimée de consultation : 8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une vingtaine de minutes, vous allez voir ce que vous avez le droit de faire, et ce que vous devez refuser, quand vous installez un gros électroménager ou un téléviseur chez un client. Trois séquences, puis un quiz de dix questions. Pour valider, il faut au moins huit bonnes réponses. Cliquez sur Commencer.</a:t>
            </a:r>
          </a:p>
          <a:p/>
          <a:p>
            <a:r>
              <a:t>[Durée estimée de consultation : 28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arrivez chez le client pour installer un appareil. La prise ne correspond pas à la fiche, et le client est pressé. Qu'avez-vous le droit de faire ? Et que devez-vous refuser ? Ce module vous donne la règle.</a:t>
            </a:r>
          </a:p>
          <a:p/>
          <a:p>
            <a:r>
              <a:t>[Durée estimée de consultation : 15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Votre rôle, c'est de contrôler. Vous pouvez identifier visuellement l'installation, contrôler la prise avec un V.A.T., lire le repérage au tableau, constater et signaler une anomalie, et refuser le raccordement en cas de doute. En revanche, vous ne modifiez jamais l'installation du client. Règle d'or : au moindre doute, vous ne branchez pas.</a:t>
            </a:r>
          </a:p>
          <a:p/>
          <a:p>
            <a:r>
              <a:t>[Durée estimée de consultation : 30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confondez pas. L'habilitation électrique atteste que vous savez travailler en sécurité face au risque électrique. Ce n'est pas une formation au métier d'électricien. Votre compétence métier, c'est reconnaître une section, identifier une installation conforme, connaître vos limites. L'employeur vérifie ces compétences et vous fournit les outils nécessaires.</a:t>
            </a:r>
          </a:p>
          <a:p/>
          <a:p>
            <a:r>
              <a:t>[Durée estimée de consultation : 28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Après vos contrôles, trois décisions seulement. Tout est conforme : j'installe. Un défaut empêche le raccordement : je ne raccorde pas, j'informe le client et je notifie dans le dossier Nomad. Une mise en conformité est nécessaire : le client fait intervenir un électricien. En cas de doute, je ne branche pas.</a:t>
            </a:r>
          </a:p>
          <a:p/>
          <a:p>
            <a:r>
              <a:t>[Durée estimée de consultation : 26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seul appareil est réglementaire pour vérifier l'absence de tension : le V.A.T. Ni le multimètre, ni le tournevis testeur ne le remplacent. Il est conforme à la norme N.F.C. 18-510 et porte le marquage E.N. 61243-3. Les équipements de protection sont obligatoires.</a:t>
            </a:r>
          </a:p>
          <a:p/>
          <a:p>
            <a:r>
              <a:t>[Durée estimée de consultation : 25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et après chaque mesure, testez votre V.A.T. Pointe rouge sur plus, cordon noir sur COM, pointes en contact, bouton auto-test maintenu. Tous les voyants s'allument et le bip retentit : il est utilisable. Sinon, vérifiez cordons et piles. Échec persistant : V.A.T. hors service.</a:t>
            </a:r>
          </a:p>
          <a:p/>
          <a:p>
            <a:r>
              <a:t>[Durée estimée de consultation : 25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chaque branchement d'un gros électroménager, contrôlez la prise sur tous les conducteurs actifs, neutre compris. Mesurez phase-neutre, phase-terre, puis neutre-terre. Sur une prise conforme, vous lisez environ 230 volts entre phase et neutre, 230 volts entre phase et terre, et zéro volt entre neutre et terre. Là, le branchement est autorisé.</a:t>
            </a:r>
          </a:p>
          <a:p/>
          <a:p>
            <a:r>
              <a:t>[Durée estimée de consultation : 30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défauts sont bloquants. Mauvaise terre : plus de cinq volts entre neutre et terre. Absence de terre : aucune tension entre phase et terre. Neutre coupé : zéro volt, mais les voyants du V.A.T. clignotent. Dans les trois cas, je ne branche pas, j'informe le client et je notifie dans le dossier Nomad.</a:t>
            </a:r>
          </a:p>
          <a:p/>
          <a:p>
            <a:r>
              <a:t>[Durée estimée de consultation : 32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vous de décider. Lave-linge à installer. Vous mesurez : phase-neutre 230 volts, phase-terre 200 volts, neutre-terre 30 volts. Vous branchez ? Cliquez sur votre réponse.</a:t>
            </a:r>
          </a:p>
          <a:p/>
          <a:p>
            <a:r>
              <a:t>[Durée estimée de consultation : 22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Plus de cinq volts entre neutre et terre : c'est une mauvaise terre. On ne branche pas, le client fait appel à un électricien, et on notifie dans le dossier Nomad.</a:t>
            </a:r>
          </a:p>
          <a:p/>
          <a:p>
            <a:r>
              <a:t>[Durée estimée de consultation : 10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 tout à fait. Dès que la tension entre neutre et terre dépasse cinq volts, c'est une mauvaise terre : on ne branche pas, même si la tension est présente. Le client fait appel à un électricien, et on notifie dans le dossier Nomad.</a:t>
            </a:r>
          </a:p>
          <a:p/>
          <a:p>
            <a:r>
              <a:t>[Durée estimée de consultation : 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le tableau, repérez le différentiel : bouton T ou TEST, et sensibilité trente milliampères, qui protège les personnes. Pour un lave-linge ou une plaque de cuisson, il doit être de type A ou F. Vous repérez, vous ne modifiez rien.</a:t>
            </a:r>
          </a:p>
          <a:p/>
          <a:p>
            <a:r>
              <a:t>[Durée estimée de consultation : 25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Vérifiez le disjoncteur. Lave-linge, lave-vaisselle, sèche-linge, four : en général vingt ampères et deux virgule cinq millimètres carrés. Plaque de cuisson monophasée : trente-deux ampères et six millimètres carrés. Protection non adaptée : vous ne remplacez rien, le client fait intervenir un électricien.</a:t>
            </a:r>
          </a:p>
          <a:p/>
          <a:p>
            <a:r>
              <a:t>[Durée estimée de consultation : 26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retrouver le bon disjoncteur : un, lisez l'étiquette du tableau. Deux, si le tableau n'est pas repéré, appareil en marche, abaissez un disjoncteur à la fois et réenclenchez-le. Trois, si vous êtes habilité et formé, utilisez le V.A.T. sur la prise. Un doute ? Pas de branchement.</a:t>
            </a:r>
          </a:p>
          <a:p/>
          <a:p>
            <a:r>
              <a:t>[Durée estimée de consultation : 27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Prise dédiée ou confort ? Jamais sur l'apparence. Un : observez, une prise derrière le lave-linge n'est qu'un indice. Deux : regardez le tableau, repéré lave-linge, lave-vaisselle, sèche-linge, four. Trois : vérifiez les usages. Plusieurs prises, multiprise, téléviseur ou cafetière branchés : suspicion de prise confort.</a:t>
            </a:r>
          </a:p>
          <a:p/>
          <a:p>
            <a:r>
              <a:t>[Durée estimée de consultation : 32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vous fiez pas à la grosseur du fil. Un : lisez le marquage. Deux : comparez avec les repères de l'outil. Trois : vérifiez le disjoncteur. Six millimètres carrés correspondent couramment à une cuisson en trente-deux ampères. Vous ne démontez rien et vous ne coupez jamais le câble.</a:t>
            </a:r>
          </a:p>
          <a:p/>
          <a:p>
            <a:r>
              <a:t>[Durée estimée de consultation : 28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Interdits formels pour un gros électroménager de classe un : multiprise, triplette ou rallonge ; prise moulée coupée ; prise seize ampères sur un cordon non équipé d'usine ; socle sur dominos ; branchement sans terre ; moins de soixante centimètres d'une douche ; top d'un pose libre retiré hors consigne ; deux produits sur un même boîtier.</a:t>
            </a:r>
          </a:p>
          <a:p/>
          <a:p>
            <a:r>
              <a:t>[Durée estimée de consultation : 34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ne jamais couper une prise moulée ? Elle est fournie par le constructeur comme un ensemble indissociable : elle garantit l'isolation, la protection contre les contacts directs, la conformité du produit et la sécurité de l'utilisateur. Une fois coupée, le produit n'est plus conforme et des risques d'échauffement, de mauvais raccordement ou d'électrisation apparaissent.</a:t>
            </a:r>
          </a:p>
          <a:p/>
          <a:p>
            <a:r>
              <a:t>[Durée estimée de consultation : 22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appareil prévu en six millimètres carrés monophasé ne s'adapte jamais sur une installation triphasée en deux virgule cinq. Pas de modification du câblage, de la section ou du couplage, pas de brins coupés. Je constate, j'informe le client, je notifie dans le dossier Nomad, j'applique la procédure.</a:t>
            </a:r>
          </a:p>
          <a:p/>
          <a:p>
            <a:r>
              <a:t>[Durée estimée de consultation : 27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 d'encastrement absent, cassé ou desserré, placo dégradé, prise qui sort du mur : puis-je installer la prise ? Non. La fixation n'est plus garantie et les conducteurs sont accessibles. Je ne remets pas le mur en conformité : j'arrête, je photographie, je rédige le compte rendu et je laisse l'appareil débranché.</a:t>
            </a:r>
          </a:p>
          <a:p/>
          <a:p>
            <a:r>
              <a:t>[Durée estimée de consultation : 30 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millimètres carrés, disjoncteur trente-deux ampères, appareil avec fiche seize ampères. Une prise seize ampères exige une protection adaptée : elle ne se raccorde pas sur une ligne qui garde un trente-deux ampères. Vous ne remplacez pas le disjoncteur. Le client le fait adapter par un électricien. Vous informez et vous notifiez dans le dossier Nomad.</a:t>
            </a:r>
          </a:p>
          <a:p/>
          <a:p>
            <a:r>
              <a:t>[Durée estimée de consultation : 34 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dominos sont tolérés s'ils sont adaptés à la section, bien serrés et accessibles. Les fils torsadés avec ruban sont interdits. Les Wago d'origine sont fortement préconisés, mais vérifiez la section admise. Et ne retirez jamais un domino du client pour le remplacer.</a:t>
            </a:r>
          </a:p>
          <a:p/>
          <a:p>
            <a:r>
              <a:t>[Durée estimée de consultation : 32 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Fils équipés de bagues qui ne rentrent pas dans le bornier : interdit de couper ou retirer la bague, de diminuer la section ou de forcer. Pour une table de cuisson en biphasé ou triphasé, le débaguage demande une pince et un embout à sertir. Sinon, matériel compatible ou signalement.</a:t>
            </a:r>
          </a:p>
          <a:p/>
          <a:p>
            <a:r>
              <a:t>[Durée estimée de consultation : 30 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Fiche mâle au bout du câble de l'appareil : aucune norme explicite ne l'interdit si les règles de l'art sont respectées. Dénudez sans couper de brins, posez un embout adapté à la section, sertissez avec une pince appropriée. Sans embout, ce n'est pas conforme. Selon la consigne de votre entreprise.</a:t>
            </a:r>
          </a:p>
          <a:p/>
          <a:p>
            <a:r>
              <a:t>[Durée estimée de consultation : 32 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 vous ne pouvez pas raccorder, la conduite à tenir est toujours la même, en cinq étapes. Un : je m'arrête, sans adaptation improvisée. Deux : j'informe le client, qui fait appel à un électricien. Trois : je photographie l'anomalie. Quatre : je laisse l'appareil débranché. Cinq : je notifie dans le dossier Nomad.</a:t>
            </a:r>
          </a:p>
          <a:p/>
          <a:p>
            <a:r>
              <a:t>[Durée estimée de consultation : 28 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branchement non effectué doit être mentionné dans le dossier Nomad : l'appareil est laissé débranché au départ du livreur. Joignez la photographie de l'anomalie et rédigez un compte rendu d'intervention. Votre notification protège le client, vous et l'entreprise.</a:t>
            </a:r>
          </a:p>
          <a:p/>
          <a:p>
            <a:r>
              <a:t>[Durée estimée de consultation : 28 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Mise en situation. Vous installez un lave-linge. La prise murale est abîmée : le pot est desserré, le placo s'effrite. Le client insiste : branchez, c'est urgent, mon beau-frère s'en occupera. Que faites-vous ? Cliquez sur votre réponse.</a:t>
            </a:r>
          </a:p>
          <a:p/>
          <a:p>
            <a:r>
              <a:t>[Durée estimée de consultation : 25 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Pot cassé ou placo dégradé : on arrête le raccordement, on photographie, on laisse l'appareil débranché et on notifie dans le dossier Nomad. Le client fait intervenir un électricien.</a:t>
            </a:r>
          </a:p>
          <a:p/>
          <a:p>
            <a:r>
              <a:t>[Durée estimée de consultation : 10 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 tout à fait. Vous ne remettez pas l'installation en conformité, et la multiprise est interdite. La bonne réponse : appareil débranché, photo, explication au client, notification dans le dossier Nomad.</a:t>
            </a:r>
          </a:p>
          <a:p/>
          <a:p>
            <a:r>
              <a:t>[Durée estimée de consultation : 0 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retenir. Je contrôle : le V.A.T., la terre, le différentiel, le disjoncteur et la section. Je décide : j'installe, ou je refuse, ou le client fait appel à un électricien. Je notifie dans le dossier Nomad : photo, appareil débranché, dossier Nomad. Au moindre doute, je ne branche pas. Place au quiz.</a:t>
            </a:r>
          </a:p>
          <a:p/>
          <a:p>
            <a:r>
              <a:t>[Durée estimée de consultation : 25 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au quiz final. Dix mises en situation. Certaines questions ont une seule bonne réponse, d'autres plusieurs. Après chaque réponse, vous voyez la correction et l'explication. Il faut au moins huit bonnes réponses sur dix pour valider.</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Lave-linge. Vous mesurez : phase↔neutre 230 V, phase↔terre 200 V, neutre↔terre 30 V. Que faites-vous ?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B. Plus de 5 V entre neutre et terre = mauvaise terre. On ne branche pas, le client fait appel à un électricien et on notifie dans le dossier Nomad.</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Four à installer. Quelles actions relèvent de vos limites d'intervention ? Plusieurs réponses sont possibles.</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Bonnes réponses : A, B et D. Vous contrôlez, repérez et signalez. Remplacer un disjoncteur modifie l'installation : c'est le travail d'un électricien.</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3. Lave-vaisselle. La prise voisine alimente aussi un téléviseur et une cafetière, via une multiprise. Que faites-vous ?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C. Multiprise, triplette et rallonge sont interdites pour un GEM de classe I. Plusieurs usages sur la ligne = suspicion de prise confort : doute = refus.</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4. Plaque de cuisson : ligne 6 mm² protégée en 32 A, appareil avec fiche 16 A. Le client veut une prise 16 A tout de suite.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C. Le blocage est la protection 32 A, pas la section. Vous ne modifiez pas la protection : le client fait intervenir un électricien.</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5. Que signifie « être habilité BS » pour un livreur-installateur ?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A. L'habilitation atteste la capacité à travailler en sécurité. Elle ne remplace pas la compétence métier et ne fait pas de vous un électricien.</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6. Table de cuisson : les fils portent des bagues (ferrules) qui ne rentrent pas dans le bornier de la prise. Cochez toutes les actions INTERDITES. Plusieurs réponses sont possibles.</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Bonnes réponses : A, B et C. Il est interdit de couper la bague, de diminuer la section ou de forcer. La bonne pratique : matériel compatible, sinon signalement.</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7. Chez un client, vous voyez des dominos. Quelles affirmations sont exactes ? Plusieurs réponses sont possibles.</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Bonnes réponses : A et B. Toujours vérifier la section admise. Les épissures (fils torsadés + ruban) sont interdites, et un Wago n'est pas compatible avec toutes les sections.</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8. Plaque livrée pour un raccordement 6 mm² monophasé ; l'installation du client est en triphasé (câble 5 × 2,5 mm²). Que faites-vous ?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C. Vous ne modifiez ni le câblage, ni la section, ni le couplage. Vous constatez, informez, notifiez dans le dossier Nomad.</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9. L'appareil est livré avec un câble sans fiche. Si l'entreprise autorise la pose d'une fiche mâle, quelle méthode respecte les règles de l'art ? Une seule réponse est correcte.</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réponse : A. Dénudage soigné, embout de câblage adapté, sertissage à la pince appropriée. Sans embout, le raccordement n'est pas conforme.</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10. Pot cassé : vous ne pouvez pas brancher le lave-linge. Que faites-vous avant de partir ? Plusieurs réponses sont possibles.</a:t>
            </a:r>
          </a:p>
          <a:p/>
          <a:p>
            <a:r>
              <a:t>[Durée estimée de consultation : 20 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Bonnes réponses : A, B et C. Appareil débranché, photo, notification dans le dossier Nomad. La rallonge est interdite pour un GEM de classe I.</a:t>
            </a:r>
          </a:p>
          <a:p/>
          <a:p>
            <a:r>
              <a:t>[Durée estimée de consultation : 12 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bonnes réponses sur dix, ou plus : module validé, bravo. Sinon, revoyez les séquences indiquées puis refaites le quiz. Sur le terrain : je contrôle, je décide, je notifie dans le dossier Nomad, et au moindre doute je ne branche pas.</a:t>
            </a:r>
          </a:p>
          <a:p/>
          <a:p>
            <a:r>
              <a:t>[Durée estimée de consultation : 18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3CB947-B687-FE7D-2D72-523532927C7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E9F469D-F7FE-8A04-DB48-5BCA0EBE22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949ACB18-402A-4703-80A1-E0B3FAF7D7A4}"/>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8C51B7BE-720F-4109-3246-DAD8CFA631A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F8BD54-AC68-5402-A5CB-23E49D8D2107}"/>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835079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537771-F5CE-320A-CE49-1158DA5F1B4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7C1F42E-F6CC-BC2F-660F-12290939E5D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214728A-6ADC-F509-041A-68756EA15A5F}"/>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0A0C2E39-46F8-E112-5F8F-4380A67BAE4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3768766-02DB-0D33-F22D-BF0BF06B54F6}"/>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2039235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50A023-42F3-04D7-BE10-F91BE9690AB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09BD287-3D24-BC0F-942B-4ACD9B451D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A670883-8A0E-178F-C8A6-39CA31F9B05C}"/>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F230227E-F1CC-92DA-2732-EABD47163F0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F70C585-7C3E-4788-97E7-70D8BD309EDE}"/>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3550817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B7C5CB-9EA1-3CA0-F2BA-9CE93C25967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7C2D1F0-ADE4-A105-D36F-0225B5FD0A0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E395CD2-DB36-8692-9FFA-91EE79B43DD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81CB33D-EB1E-CE4E-FED5-C47606A9B705}"/>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CEF00A95-D54A-5615-0FDF-621D144B5D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71AF67-90C8-088F-513E-C275C561F325}"/>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2316110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B2BE0B-58B5-19B2-D973-45246976622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514BBD9-C86A-3F04-1B42-46FA40C05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9B7EE8D-43ED-C41F-60E3-D7368881376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5C4715B-6581-4EE5-A3BD-1319C06C53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012375E-8A48-6D68-DE67-B8388952401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DC0D438-124D-4AE6-BCFD-C1CAECF97950}"/>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8" name="Espace réservé du pied de page 7">
            <a:extLst>
              <a:ext uri="{FF2B5EF4-FFF2-40B4-BE49-F238E27FC236}">
                <a16:creationId xmlns:a16="http://schemas.microsoft.com/office/drawing/2014/main" id="{D1CBC75B-D8E4-08F9-564D-A6624CB3A62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58FBB68-57DB-3D82-A400-B6D8E7B9CAE5}"/>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566131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0E3DC3-6155-6E89-98DC-A3A9B969672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B480C2-3699-4C6B-0EEC-34F97035C53B}"/>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4" name="Espace réservé du pied de page 3">
            <a:extLst>
              <a:ext uri="{FF2B5EF4-FFF2-40B4-BE49-F238E27FC236}">
                <a16:creationId xmlns:a16="http://schemas.microsoft.com/office/drawing/2014/main" id="{99FF4F41-8FFB-2CB6-2F75-1914C7C5156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FBF1F07-3463-5A08-BBEF-BBB9EF71898B}"/>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2148889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0B4C87A-E30A-5D45-740B-46C1E84C263F}"/>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3" name="Espace réservé du pied de page 2">
            <a:extLst>
              <a:ext uri="{FF2B5EF4-FFF2-40B4-BE49-F238E27FC236}">
                <a16:creationId xmlns:a16="http://schemas.microsoft.com/office/drawing/2014/main" id="{9877442C-C924-29FD-4C4F-22FC3ABE3C2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1784C9F-033E-4DC4-18B5-5F61877DC72B}"/>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3798192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930A5-E813-7754-13D4-607B276274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AAB274A-5D8C-C7D9-715B-401653F223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1F6CE209-22AD-6391-B164-A601303AD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5B21219-95C8-85B6-8CE8-A53FBCBD6208}"/>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0885409C-C1C7-AB9D-9252-976FB91838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B2E0E37-7A39-7D58-3879-C685C34E281B}"/>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887088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6F6E7-2DF9-4D42-A59C-E686D44A67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F4F3EBB-53A6-F067-60B2-89A2D89C57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a:extLst>
              <a:ext uri="{FF2B5EF4-FFF2-40B4-BE49-F238E27FC236}">
                <a16:creationId xmlns:a16="http://schemas.microsoft.com/office/drawing/2014/main" id="{AEBC0E03-2516-42C0-CC3F-D5B986B14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88E64F7-322C-19E6-5B8D-2709CF1D7955}"/>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0975AC17-DB28-5093-D952-092F3F419E0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9E53903-D148-639D-A6B3-569DAB760767}"/>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266321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09AD28-C084-89DF-0B03-349AD9C48FE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AF81644-8FEC-39B2-9736-5DD743EF11A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4F0B3F4-3438-30D8-FD26-A0134C9468E2}"/>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C319DA65-6C67-5D91-197D-9B0D0879891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5C2345-EEDF-FC8D-6304-B0A1A07E1211}"/>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1939696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ABB8B8F-FA47-4D6B-4602-356BADEE0EB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9E77E4E-D5BA-8036-A21B-DD1510F9472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0133338-3DBD-8CB6-8B32-79AB2BA3ED7D}"/>
              </a:ext>
            </a:extLst>
          </p:cNvPr>
          <p:cNvSpPr>
            <a:spLocks noGrp="1"/>
          </p:cNvSpPr>
          <p:nvPr>
            <p:ph type="dt" sz="half" idx="10"/>
          </p:nvPr>
        </p:nvSpPr>
        <p:spPr/>
        <p:txBody>
          <a:body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6050B3C7-EC0B-3808-15E5-E8E9E5EA67E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8B27669-29DE-2AD4-294F-DD4D7FF58220}"/>
              </a:ext>
            </a:extLst>
          </p:cNvPr>
          <p:cNvSpPr>
            <a:spLocks noGrp="1"/>
          </p:cNvSpPr>
          <p:nvPr>
            <p:ph type="sldNum" sz="quarter" idx="12"/>
          </p:nvPr>
        </p:nvSpPr>
        <p:spPr/>
        <p:txBody>
          <a:bodyPr/>
          <a:lstStyle/>
          <a:p>
            <a:fld id="{26A5320A-7C0A-4856-9756-3C39BC45FF2B}" type="slidenum">
              <a:rPr lang="fr-FR" smtClean="0"/>
              <a:t>‹N°›</a:t>
            </a:fld>
            <a:endParaRPr lang="fr-FR"/>
          </a:p>
        </p:txBody>
      </p:sp>
    </p:spTree>
    <p:extLst>
      <p:ext uri="{BB962C8B-B14F-4D97-AF65-F5344CB8AC3E}">
        <p14:creationId xmlns:p14="http://schemas.microsoft.com/office/powerpoint/2010/main" val="399563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4_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99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mpty foil">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vl1pPr>
          </a:lstStyle>
          <a:p>
            <a:fld id="{EF99525A-F025-4588-9068-2F4235C33EBF}" type="datetimeFigureOut">
              <a:rPr lang="fr-FR" smtClean="0"/>
              <a:t>19/04/2026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6A5320A-7C0A-4856-9756-3C39BC45FF2B}" type="slidenum">
              <a:rPr lang="fr-FR" smtClean="0"/>
              <a:t>‹N°›</a:t>
            </a:fld>
            <a:endParaRPr lang="fr-FR"/>
          </a:p>
        </p:txBody>
      </p:sp>
      <p:sp>
        <p:nvSpPr>
          <p:cNvPr id="8" name="Title Placeholder 1"/>
          <p:cNvSpPr>
            <a:spLocks noGrp="1"/>
          </p:cNvSpPr>
          <p:nvPr>
            <p:ph type="title"/>
          </p:nvPr>
        </p:nvSpPr>
        <p:spPr>
          <a:xfrm>
            <a:off x="1434000" y="216000"/>
            <a:ext cx="10578000" cy="1008000"/>
          </a:xfrm>
          <a:prstGeom prst="rect">
            <a:avLst/>
          </a:prstGeom>
        </p:spPr>
        <p:txBody>
          <a:bodyPr vert="horz" lIns="360000" tIns="45720" rIns="360000" bIns="45720" rtlCol="0" anchor="ctr">
            <a:noAutofit/>
          </a:bodyPr>
          <a:lstStyle/>
          <a:p>
            <a:r>
              <a:rPr lang="fr-FR"/>
              <a:t>Modifiez le style du titre</a:t>
            </a:r>
            <a:endParaRPr lang="en-US" dirty="0"/>
          </a:p>
        </p:txBody>
      </p:sp>
      <p:cxnSp>
        <p:nvCxnSpPr>
          <p:cNvPr id="9" name="Straight Connector 10"/>
          <p:cNvCxnSpPr/>
          <p:nvPr/>
        </p:nvCxnSpPr>
        <p:spPr>
          <a:xfrm>
            <a:off x="180000" y="6318000"/>
            <a:ext cx="11832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Inhaltsplatzhalter 12"/>
          <p:cNvSpPr>
            <a:spLocks noGrp="1"/>
          </p:cNvSpPr>
          <p:nvPr>
            <p:ph sz="quarter" idx="13"/>
          </p:nvPr>
        </p:nvSpPr>
        <p:spPr>
          <a:xfrm>
            <a:off x="180000" y="1439999"/>
            <a:ext cx="11829600" cy="4680693"/>
          </a:xfrm>
        </p:spPr>
        <p:txBody>
          <a:bodyPr/>
          <a:lstStyle>
            <a:lvl1pPr>
              <a:defRPr>
                <a:latin typeface="Electrolux Sans Light" panose="020B0400020000000000" pitchFamily="34" charset="0"/>
              </a:defRPr>
            </a:lvl1pPr>
            <a:lvl2pPr>
              <a:defRPr>
                <a:latin typeface="Electrolux Sans Light" panose="020B0400020000000000" pitchFamily="34" charset="0"/>
              </a:defRPr>
            </a:lvl2pPr>
            <a:lvl3pPr>
              <a:defRPr>
                <a:latin typeface="Electrolux Sans Light" panose="020B0400020000000000" pitchFamily="34" charset="0"/>
              </a:defRPr>
            </a:lvl3pPr>
            <a:lvl4pPr>
              <a:defRPr>
                <a:latin typeface="Electrolux Sans Light" panose="020B0400020000000000" pitchFamily="34" charset="0"/>
              </a:defRPr>
            </a:lvl4pPr>
            <a:lvl5pPr>
              <a:defRPr>
                <a:latin typeface="Electrolux Sans Light" panose="020B0400020000000000"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Tree>
    <p:extLst>
      <p:ext uri="{BB962C8B-B14F-4D97-AF65-F5344CB8AC3E}">
        <p14:creationId xmlns:p14="http://schemas.microsoft.com/office/powerpoint/2010/main" val="31903138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 Id="rId1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6FB550B-E25D-94CE-F89B-CDB42A463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2B845B6-FCF4-0613-83AD-C90036BBB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C2EC5A34-D282-9B96-AAF6-2D30D3C731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99525A-F025-4588-9068-2F4235C33EBF}"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3A698205-6364-1959-8C35-769BD0727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8D41508-1EAB-671F-CA6B-A005AD059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A5320A-7C0A-4856-9756-3C39BC45FF2B}" type="slidenum">
              <a:rPr lang="fr-FR" smtClean="0"/>
              <a:t>‹N°›</a:t>
            </a:fld>
            <a:endParaRPr lang="fr-FR"/>
          </a:p>
        </p:txBody>
      </p:sp>
      <p:pic>
        <p:nvPicPr>
          <p:cNvPr id="10" name="Image 5" descr="Une image contenant orange, capture d’écran, Caractère coloré, Rectangle&#10;&#10;Description générée automatiquement">
            <a:extLst>
              <a:ext uri="{FF2B5EF4-FFF2-40B4-BE49-F238E27FC236}">
                <a16:creationId xmlns:a16="http://schemas.microsoft.com/office/drawing/2014/main" id="{81D8FFE7-D703-0ABF-D623-7107C56E820C}"/>
              </a:ext>
            </a:extLst>
          </p:cNvPr>
          <p:cNvPicPr>
            <a:picLocks noChangeAspect="1"/>
          </p:cNvPicPr>
          <p:nvPr/>
        </p:nvPicPr>
        <p:blipFill>
          <a:blip r:embed="rId15"/>
          <a:stretch>
            <a:fillRect/>
          </a:stretch>
        </p:blipFill>
        <p:spPr>
          <a:xfrm>
            <a:off x="11042952" y="5700717"/>
            <a:ext cx="856902" cy="867619"/>
          </a:xfrm>
          <a:prstGeom prst="rect">
            <a:avLst/>
          </a:prstGeom>
          <a:noFill/>
          <a:ln cap="flat">
            <a:noFill/>
          </a:ln>
        </p:spPr>
      </p:pic>
      <p:grpSp>
        <p:nvGrpSpPr>
          <p:cNvPr id="7" name="Groupe 6">
            <a:extLst>
              <a:ext uri="{FF2B5EF4-FFF2-40B4-BE49-F238E27FC236}">
                <a16:creationId xmlns:a16="http://schemas.microsoft.com/office/drawing/2014/main" id="{9FC7E6AE-9DB6-F2E5-77CB-21E52B4363C5}"/>
              </a:ext>
            </a:extLst>
          </p:cNvPr>
          <p:cNvGrpSpPr/>
          <p:nvPr/>
        </p:nvGrpSpPr>
        <p:grpSpPr>
          <a:xfrm>
            <a:off x="-1" y="-12700"/>
            <a:ext cx="1160438" cy="6870698"/>
            <a:chOff x="-1" y="-12700"/>
            <a:chExt cx="1160438" cy="6870698"/>
          </a:xfrm>
        </p:grpSpPr>
        <p:sp>
          <p:nvSpPr>
            <p:cNvPr id="8" name="Rectangle 3">
              <a:extLst>
                <a:ext uri="{FF2B5EF4-FFF2-40B4-BE49-F238E27FC236}">
                  <a16:creationId xmlns:a16="http://schemas.microsoft.com/office/drawing/2014/main" id="{2933529B-9807-A7C7-2CF6-39E2D36220D6}"/>
                </a:ext>
              </a:extLst>
            </p:cNvPr>
            <p:cNvSpPr/>
            <p:nvPr/>
          </p:nvSpPr>
          <p:spPr>
            <a:xfrm>
              <a:off x="0" y="3086099"/>
              <a:ext cx="468227" cy="3771899"/>
            </a:xfrm>
            <a:prstGeom prst="rect">
              <a:avLst/>
            </a:prstGeom>
            <a:gradFill>
              <a:gsLst>
                <a:gs pos="0">
                  <a:srgbClr val="F0F0F0"/>
                </a:gs>
                <a:gs pos="100000">
                  <a:srgbClr val="E1E1E1"/>
                </a:gs>
              </a:gsLst>
              <a:lin ang="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9" name="Image 4">
              <a:extLst>
                <a:ext uri="{FF2B5EF4-FFF2-40B4-BE49-F238E27FC236}">
                  <a16:creationId xmlns:a16="http://schemas.microsoft.com/office/drawing/2014/main" id="{CF1A9276-53E0-488B-9092-B11F25492FEE}"/>
                </a:ext>
              </a:extLst>
            </p:cNvPr>
            <p:cNvPicPr>
              <a:picLocks noChangeAspect="1"/>
            </p:cNvPicPr>
            <p:nvPr/>
          </p:nvPicPr>
          <p:blipFill>
            <a:blip r:embed="rId16"/>
            <a:srcRect l="59235" t="28996" r="-5658"/>
            <a:stretch>
              <a:fillRect/>
            </a:stretch>
          </p:blipFill>
          <p:spPr>
            <a:xfrm>
              <a:off x="768" y="624562"/>
              <a:ext cx="1159669" cy="5779099"/>
            </a:xfrm>
            <a:prstGeom prst="rect">
              <a:avLst/>
            </a:prstGeom>
            <a:noFill/>
            <a:ln cap="flat">
              <a:noFill/>
            </a:ln>
          </p:spPr>
        </p:pic>
        <p:pic>
          <p:nvPicPr>
            <p:cNvPr id="11" name="Image 6" descr="Une image contenant texte, logo, Graphique, clipart&#10;&#10;Description générée automatiquement">
              <a:extLst>
                <a:ext uri="{FF2B5EF4-FFF2-40B4-BE49-F238E27FC236}">
                  <a16:creationId xmlns:a16="http://schemas.microsoft.com/office/drawing/2014/main" id="{FB9CCEC0-FC75-20BD-EC9C-7BC49EC72CBA}"/>
                </a:ext>
              </a:extLst>
            </p:cNvPr>
            <p:cNvPicPr>
              <a:picLocks noChangeAspect="1"/>
            </p:cNvPicPr>
            <p:nvPr/>
          </p:nvPicPr>
          <p:blipFill>
            <a:blip r:embed="rId17"/>
            <a:stretch>
              <a:fillRect/>
            </a:stretch>
          </p:blipFill>
          <p:spPr>
            <a:xfrm>
              <a:off x="6720" y="1802904"/>
              <a:ext cx="856902" cy="884682"/>
            </a:xfrm>
            <a:prstGeom prst="rect">
              <a:avLst/>
            </a:prstGeom>
            <a:noFill/>
            <a:ln cap="flat">
              <a:noFill/>
            </a:ln>
          </p:spPr>
        </p:pic>
        <p:sp>
          <p:nvSpPr>
            <p:cNvPr id="18" name="Forme libre : forme 17">
              <a:extLst>
                <a:ext uri="{FF2B5EF4-FFF2-40B4-BE49-F238E27FC236}">
                  <a16:creationId xmlns:a16="http://schemas.microsoft.com/office/drawing/2014/main" id="{1D9924B5-0952-7EC7-F9D2-7691B34617F9}"/>
                </a:ext>
              </a:extLst>
            </p:cNvPr>
            <p:cNvSpPr/>
            <p:nvPr/>
          </p:nvSpPr>
          <p:spPr>
            <a:xfrm>
              <a:off x="-1" y="-12700"/>
              <a:ext cx="890724" cy="1739841"/>
            </a:xfrm>
            <a:custGeom>
              <a:avLst/>
              <a:gdLst>
                <a:gd name="connsiteX0" fmla="*/ 0 w 890724"/>
                <a:gd name="connsiteY0" fmla="*/ 0 h 1739841"/>
                <a:gd name="connsiteX1" fmla="*/ 68150 w 890724"/>
                <a:gd name="connsiteY1" fmla="*/ 0 h 1739841"/>
                <a:gd name="connsiteX2" fmla="*/ 890724 w 890724"/>
                <a:gd name="connsiteY2" fmla="*/ 1337584 h 1739841"/>
                <a:gd name="connsiteX3" fmla="*/ 644558 w 890724"/>
                <a:gd name="connsiteY3" fmla="*/ 1739841 h 1739841"/>
                <a:gd name="connsiteX4" fmla="*/ 0 w 890724"/>
                <a:gd name="connsiteY4" fmla="*/ 684803 h 1739841"/>
                <a:gd name="connsiteX5" fmla="*/ 0 w 890724"/>
                <a:gd name="connsiteY5" fmla="*/ 0 h 173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0724" h="1739841">
                  <a:moveTo>
                    <a:pt x="0" y="0"/>
                  </a:moveTo>
                  <a:lnTo>
                    <a:pt x="68150" y="0"/>
                  </a:lnTo>
                  <a:lnTo>
                    <a:pt x="890724" y="1337584"/>
                  </a:lnTo>
                  <a:lnTo>
                    <a:pt x="644558" y="1739841"/>
                  </a:lnTo>
                  <a:lnTo>
                    <a:pt x="0" y="684803"/>
                  </a:lnTo>
                  <a:lnTo>
                    <a:pt x="0" y="0"/>
                  </a:lnTo>
                  <a:close/>
                </a:path>
              </a:pathLst>
            </a:custGeom>
            <a:gradFill>
              <a:gsLst>
                <a:gs pos="0">
                  <a:srgbClr val="E9AB00"/>
                </a:gs>
                <a:gs pos="100000">
                  <a:srgbClr val="C10F1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22641945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b="1" i="1" kern="120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F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FF"/>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FF"/>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B05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6633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slide" Target="slide13.xml"/><Relationship Id="rId5"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5.jpg"/><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 Id="rId8" Type="http://schemas.openxmlformats.org/officeDocument/2006/relationships/image" Target="../media/image30.jpg"/><Relationship Id="rId9" Type="http://schemas.openxmlformats.org/officeDocument/2006/relationships/image" Target="../media/image31.jpg"/><Relationship Id="rId10" Type="http://schemas.openxmlformats.org/officeDocument/2006/relationships/image" Target="../media/image3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6.jpg"/><Relationship Id="rId4" Type="http://schemas.openxmlformats.org/officeDocument/2006/relationships/image" Target="../media/image3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3.jpg"/><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4.jpg"/><Relationship Id="rId4" Type="http://schemas.openxmlformats.org/officeDocument/2006/relationships/image" Target="../media/image3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image" Target="../media/image3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40.jpg"/><Relationship Id="rId4" Type="http://schemas.openxmlformats.org/officeDocument/2006/relationships/image" Target="../media/image4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42.jpg"/><Relationship Id="rId6" Type="http://schemas.openxmlformats.org/officeDocument/2006/relationships/image" Target="../media/image43.jpg"/><Relationship Id="rId7" Type="http://schemas.openxmlformats.org/officeDocument/2006/relationships/image" Target="../media/image4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5.jpg"/><Relationship Id="rId4" Type="http://schemas.openxmlformats.org/officeDocument/2006/relationships/slide" Target="slide31.xml"/><Relationship Id="rId5" Type="http://schemas.openxmlformats.org/officeDocument/2006/relationships/slide" Target="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slide" Target="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slide" Target="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slide" Target="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slide" Target="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slide" Target="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slide" Target="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slide" Target="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slide" Target="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slide" Target="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slide" Target="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slide" Target="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slide" Target="slide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slide" Target="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slide" Target="slide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slide" Target="slide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slide" Target="slide34.xml"/><Relationship Id="rId4"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400"/>
              <a:t>Installation électrique chez le client : ce que je peux faire… et ce que je refuse</a:t>
            </a:r>
          </a:p>
        </p:txBody>
      </p:sp>
      <p:sp>
        <p:nvSpPr>
          <p:cNvPr id="3" name="Subtitle 2"/>
          <p:cNvSpPr>
            <a:spLocks noGrp="1"/>
          </p:cNvSpPr>
          <p:nvPr>
            <p:ph type="subTitle" idx="1"/>
          </p:nvPr>
        </p:nvSpPr>
        <p:spPr/>
        <p:txBody>
          <a:bodyPr/>
          <a:lstStyle/>
          <a:p>
            <a:r>
              <a:rPr sz="2000">
                <a:solidFill>
                  <a:srgbClr val="0E2841"/>
                </a:solidFill>
                <a:latin typeface="Arial"/>
              </a:rPr>
              <a:t>E-learning livreurs-installateurs · Gros électroménager et TV · environ 19 minutes</a:t>
            </a:r>
          </a:p>
        </p:txBody>
      </p:sp>
      <p:pic>
        <p:nvPicPr>
          <p:cNvPr id="4" name="Picture 3" descr="2.symbole_HabElec.png"/>
          <p:cNvPicPr>
            <a:picLocks noChangeAspect="1"/>
          </p:cNvPicPr>
          <p:nvPr/>
        </p:nvPicPr>
        <p:blipFill>
          <a:blip r:embed="rId3"/>
          <a:stretch>
            <a:fillRect/>
          </a:stretch>
        </p:blipFill>
        <p:spPr>
          <a:xfrm>
            <a:off x="5394960" y="4572000"/>
            <a:ext cx="1463039" cy="1463039"/>
          </a:xfrm>
          <a:prstGeom prst="rect">
            <a:avLst/>
          </a:prstGeom>
        </p:spPr>
      </p:pic>
      <p:sp>
        <p:nvSpPr>
          <p:cNvPr id="5" name="TextBox 4"/>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Introduction  ·  Académie Fnac Darty</a:t>
            </a:r>
          </a:p>
        </p:txBody>
      </p:sp>
      <p:sp>
        <p:nvSpPr>
          <p:cNvPr id="6" name="TextBox 5"/>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 / 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Bienvenue : ce que vous allez voir</a:t>
            </a:r>
          </a:p>
        </p:txBody>
      </p:sp>
      <p:sp>
        <p:nvSpPr>
          <p:cNvPr id="3" name="Rounded Rectangle 2"/>
          <p:cNvSpPr/>
          <p:nvPr/>
        </p:nvSpPr>
        <p:spPr>
          <a:xfrm>
            <a:off x="1280160" y="1417320"/>
            <a:ext cx="4754880" cy="841248"/>
          </a:xfrm>
          <a:prstGeom prst="roundRect">
            <a:avLst>
              <a:gd name="adj" fmla="val 12000"/>
            </a:avLst>
          </a:prstGeom>
          <a:solidFill>
            <a:srgbClr val="F3F3F3"/>
          </a:solidFill>
          <a:ln w="12700">
            <a:solidFill>
              <a:srgbClr val="BDBDBD"/>
            </a:solidFill>
          </a:ln>
        </p:spPr>
        <p:txBody>
          <a:bodyPr rtlCol="0" anchor="ctr"/>
          <a:lstStyle/>
          <a:p>
            <a:pPr algn="ctr"/>
          </a:p>
        </p:txBody>
      </p:sp>
      <p:sp>
        <p:nvSpPr>
          <p:cNvPr id="4" name="Oval 3"/>
          <p:cNvSpPr/>
          <p:nvPr/>
        </p:nvSpPr>
        <p:spPr>
          <a:xfrm>
            <a:off x="1417319" y="1600200"/>
            <a:ext cx="475488" cy="47548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800" b="1" i="0">
                <a:solidFill>
                  <a:srgbClr val="FFFFFF"/>
                </a:solidFill>
                <a:latin typeface="Arial"/>
              </a:rPr>
              <a:t>1</a:t>
            </a:r>
          </a:p>
        </p:txBody>
      </p:sp>
      <p:sp>
        <p:nvSpPr>
          <p:cNvPr id="5" name="TextBox 4"/>
          <p:cNvSpPr txBox="1"/>
          <p:nvPr/>
        </p:nvSpPr>
        <p:spPr>
          <a:xfrm>
            <a:off x="2057400" y="1490472"/>
            <a:ext cx="3108960" cy="713232"/>
          </a:xfrm>
          <a:prstGeom prst="rect">
            <a:avLst/>
          </a:prstGeom>
          <a:noFill/>
        </p:spPr>
        <p:txBody>
          <a:bodyPr wrap="square" lIns="0" rIns="0" tIns="0" bIns="0" anchor="ctr">
            <a:spAutoFit/>
          </a:bodyPr>
          <a:lstStyle/>
          <a:p>
            <a:pPr algn="l">
              <a:spcBef>
                <a:spcPts val="0"/>
              </a:spcBef>
              <a:spcAft>
                <a:spcPts val="400"/>
              </a:spcAft>
            </a:pPr>
            <a:r>
              <a:rPr sz="1600" b="1" i="0">
                <a:solidFill>
                  <a:srgbClr val="1A1A1A"/>
                </a:solidFill>
                <a:latin typeface="Arial"/>
              </a:rPr>
              <a:t>Rôle et limites d'intervention</a:t>
            </a:r>
          </a:p>
        </p:txBody>
      </p:sp>
      <p:sp>
        <p:nvSpPr>
          <p:cNvPr id="6" name="TextBox 5"/>
          <p:cNvSpPr txBox="1"/>
          <p:nvPr/>
        </p:nvSpPr>
        <p:spPr>
          <a:xfrm>
            <a:off x="5120640" y="1490472"/>
            <a:ext cx="822960" cy="713232"/>
          </a:xfrm>
          <a:prstGeom prst="rect">
            <a:avLst/>
          </a:prstGeom>
          <a:noFill/>
        </p:spPr>
        <p:txBody>
          <a:bodyPr wrap="square" lIns="0" rIns="0" tIns="0" bIns="0" anchor="ctr">
            <a:spAutoFit/>
          </a:bodyPr>
          <a:lstStyle/>
          <a:p>
            <a:pPr algn="r">
              <a:spcBef>
                <a:spcPts val="0"/>
              </a:spcBef>
              <a:spcAft>
                <a:spcPts val="400"/>
              </a:spcAft>
            </a:pPr>
            <a:r>
              <a:rPr sz="1400" b="1" i="0">
                <a:solidFill>
                  <a:srgbClr val="5F5F5F"/>
                </a:solidFill>
                <a:latin typeface="Arial"/>
              </a:rPr>
              <a:t>≈ 2 min</a:t>
            </a:r>
          </a:p>
        </p:txBody>
      </p:sp>
      <p:sp>
        <p:nvSpPr>
          <p:cNvPr id="7" name="Rounded Rectangle 6"/>
          <p:cNvSpPr/>
          <p:nvPr/>
        </p:nvSpPr>
        <p:spPr>
          <a:xfrm>
            <a:off x="1280160" y="2404872"/>
            <a:ext cx="4754880" cy="841248"/>
          </a:xfrm>
          <a:prstGeom prst="roundRect">
            <a:avLst>
              <a:gd name="adj" fmla="val 12000"/>
            </a:avLst>
          </a:prstGeom>
          <a:solidFill>
            <a:srgbClr val="F3F3F3"/>
          </a:solidFill>
          <a:ln w="12700">
            <a:solidFill>
              <a:srgbClr val="BDBDBD"/>
            </a:solidFill>
          </a:ln>
        </p:spPr>
        <p:txBody>
          <a:bodyPr rtlCol="0" anchor="ctr"/>
          <a:lstStyle/>
          <a:p>
            <a:pPr algn="ctr"/>
          </a:p>
        </p:txBody>
      </p:sp>
      <p:sp>
        <p:nvSpPr>
          <p:cNvPr id="8" name="Oval 7"/>
          <p:cNvSpPr/>
          <p:nvPr/>
        </p:nvSpPr>
        <p:spPr>
          <a:xfrm>
            <a:off x="1417319" y="2587752"/>
            <a:ext cx="475488" cy="47548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800" b="1" i="0">
                <a:solidFill>
                  <a:srgbClr val="FFFFFF"/>
                </a:solidFill>
                <a:latin typeface="Arial"/>
              </a:rPr>
              <a:t>2</a:t>
            </a:r>
          </a:p>
        </p:txBody>
      </p:sp>
      <p:sp>
        <p:nvSpPr>
          <p:cNvPr id="9" name="TextBox 8"/>
          <p:cNvSpPr txBox="1"/>
          <p:nvPr/>
        </p:nvSpPr>
        <p:spPr>
          <a:xfrm>
            <a:off x="2057400" y="2478024"/>
            <a:ext cx="3108960" cy="713232"/>
          </a:xfrm>
          <a:prstGeom prst="rect">
            <a:avLst/>
          </a:prstGeom>
          <a:noFill/>
        </p:spPr>
        <p:txBody>
          <a:bodyPr wrap="square" lIns="0" rIns="0" tIns="0" bIns="0" anchor="ctr">
            <a:spAutoFit/>
          </a:bodyPr>
          <a:lstStyle/>
          <a:p>
            <a:pPr algn="l">
              <a:spcBef>
                <a:spcPts val="0"/>
              </a:spcBef>
              <a:spcAft>
                <a:spcPts val="400"/>
              </a:spcAft>
            </a:pPr>
            <a:r>
              <a:rPr sz="1600" b="1" i="0">
                <a:solidFill>
                  <a:srgbClr val="1A1A1A"/>
                </a:solidFill>
                <a:latin typeface="Arial"/>
              </a:rPr>
              <a:t>Contrôles avant l'installation</a:t>
            </a:r>
          </a:p>
        </p:txBody>
      </p:sp>
      <p:sp>
        <p:nvSpPr>
          <p:cNvPr id="10" name="TextBox 9"/>
          <p:cNvSpPr txBox="1"/>
          <p:nvPr/>
        </p:nvSpPr>
        <p:spPr>
          <a:xfrm>
            <a:off x="5120640" y="2478024"/>
            <a:ext cx="822960" cy="713232"/>
          </a:xfrm>
          <a:prstGeom prst="rect">
            <a:avLst/>
          </a:prstGeom>
          <a:noFill/>
        </p:spPr>
        <p:txBody>
          <a:bodyPr wrap="square" lIns="0" rIns="0" tIns="0" bIns="0" anchor="ctr">
            <a:spAutoFit/>
          </a:bodyPr>
          <a:lstStyle/>
          <a:p>
            <a:pPr algn="r">
              <a:spcBef>
                <a:spcPts val="0"/>
              </a:spcBef>
              <a:spcAft>
                <a:spcPts val="400"/>
              </a:spcAft>
            </a:pPr>
            <a:r>
              <a:rPr sz="1400" b="1" i="0">
                <a:solidFill>
                  <a:srgbClr val="5F5F5F"/>
                </a:solidFill>
                <a:latin typeface="Arial"/>
              </a:rPr>
              <a:t>≈ 5 min</a:t>
            </a:r>
          </a:p>
        </p:txBody>
      </p:sp>
      <p:sp>
        <p:nvSpPr>
          <p:cNvPr id="11" name="Rounded Rectangle 10"/>
          <p:cNvSpPr/>
          <p:nvPr/>
        </p:nvSpPr>
        <p:spPr>
          <a:xfrm>
            <a:off x="1280160" y="3392424"/>
            <a:ext cx="4754880" cy="841248"/>
          </a:xfrm>
          <a:prstGeom prst="roundRect">
            <a:avLst>
              <a:gd name="adj" fmla="val 12000"/>
            </a:avLst>
          </a:prstGeom>
          <a:solidFill>
            <a:srgbClr val="F3F3F3"/>
          </a:solidFill>
          <a:ln w="12700">
            <a:solidFill>
              <a:srgbClr val="BDBDBD"/>
            </a:solidFill>
          </a:ln>
        </p:spPr>
        <p:txBody>
          <a:bodyPr rtlCol="0" anchor="ctr"/>
          <a:lstStyle/>
          <a:p>
            <a:pPr algn="ctr"/>
          </a:p>
        </p:txBody>
      </p:sp>
      <p:sp>
        <p:nvSpPr>
          <p:cNvPr id="12" name="Oval 11"/>
          <p:cNvSpPr/>
          <p:nvPr/>
        </p:nvSpPr>
        <p:spPr>
          <a:xfrm>
            <a:off x="1417319" y="3575304"/>
            <a:ext cx="475488" cy="47548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800" b="1" i="0">
                <a:solidFill>
                  <a:srgbClr val="FFFFFF"/>
                </a:solidFill>
                <a:latin typeface="Arial"/>
              </a:rPr>
              <a:t>3</a:t>
            </a:r>
          </a:p>
        </p:txBody>
      </p:sp>
      <p:sp>
        <p:nvSpPr>
          <p:cNvPr id="13" name="TextBox 12"/>
          <p:cNvSpPr txBox="1"/>
          <p:nvPr/>
        </p:nvSpPr>
        <p:spPr>
          <a:xfrm>
            <a:off x="2057400" y="3465576"/>
            <a:ext cx="3108960" cy="713232"/>
          </a:xfrm>
          <a:prstGeom prst="rect">
            <a:avLst/>
          </a:prstGeom>
          <a:noFill/>
        </p:spPr>
        <p:txBody>
          <a:bodyPr wrap="square" lIns="0" rIns="0" tIns="0" bIns="0" anchor="ctr">
            <a:spAutoFit/>
          </a:bodyPr>
          <a:lstStyle/>
          <a:p>
            <a:pPr algn="l">
              <a:spcBef>
                <a:spcPts val="0"/>
              </a:spcBef>
              <a:spcAft>
                <a:spcPts val="400"/>
              </a:spcAft>
            </a:pPr>
            <a:r>
              <a:rPr sz="1600" b="1" i="0">
                <a:solidFill>
                  <a:srgbClr val="1A1A1A"/>
                </a:solidFill>
                <a:latin typeface="Arial"/>
              </a:rPr>
              <a:t>Raccordements, interdits, cas particuliers</a:t>
            </a:r>
          </a:p>
        </p:txBody>
      </p:sp>
      <p:sp>
        <p:nvSpPr>
          <p:cNvPr id="14" name="TextBox 13"/>
          <p:cNvSpPr txBox="1"/>
          <p:nvPr/>
        </p:nvSpPr>
        <p:spPr>
          <a:xfrm>
            <a:off x="5120640" y="3465576"/>
            <a:ext cx="822960" cy="713232"/>
          </a:xfrm>
          <a:prstGeom prst="rect">
            <a:avLst/>
          </a:prstGeom>
          <a:noFill/>
        </p:spPr>
        <p:txBody>
          <a:bodyPr wrap="square" lIns="0" rIns="0" tIns="0" bIns="0" anchor="ctr">
            <a:spAutoFit/>
          </a:bodyPr>
          <a:lstStyle/>
          <a:p>
            <a:pPr algn="r">
              <a:spcBef>
                <a:spcPts val="0"/>
              </a:spcBef>
              <a:spcAft>
                <a:spcPts val="400"/>
              </a:spcAft>
            </a:pPr>
            <a:r>
              <a:rPr sz="1400" b="1" i="0">
                <a:solidFill>
                  <a:srgbClr val="5F5F5F"/>
                </a:solidFill>
                <a:latin typeface="Arial"/>
              </a:rPr>
              <a:t>≈ 6 min</a:t>
            </a:r>
          </a:p>
        </p:txBody>
      </p:sp>
      <p:sp>
        <p:nvSpPr>
          <p:cNvPr id="15" name="Rounded Rectangle 14"/>
          <p:cNvSpPr/>
          <p:nvPr/>
        </p:nvSpPr>
        <p:spPr>
          <a:xfrm>
            <a:off x="1280160" y="4379976"/>
            <a:ext cx="4754880" cy="841248"/>
          </a:xfrm>
          <a:prstGeom prst="roundRect">
            <a:avLst>
              <a:gd name="adj" fmla="val 12000"/>
            </a:avLst>
          </a:prstGeom>
          <a:solidFill>
            <a:srgbClr val="F3F3F3"/>
          </a:solidFill>
          <a:ln w="12700">
            <a:solidFill>
              <a:srgbClr val="BDBDBD"/>
            </a:solidFill>
          </a:ln>
        </p:spPr>
        <p:txBody>
          <a:bodyPr rtlCol="0" anchor="ctr"/>
          <a:lstStyle/>
          <a:p>
            <a:pPr algn="ctr"/>
          </a:p>
        </p:txBody>
      </p:sp>
      <p:sp>
        <p:nvSpPr>
          <p:cNvPr id="16" name="Oval 15"/>
          <p:cNvSpPr/>
          <p:nvPr/>
        </p:nvSpPr>
        <p:spPr>
          <a:xfrm>
            <a:off x="1417319" y="4562856"/>
            <a:ext cx="475488" cy="475488"/>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800" b="1" i="0">
                <a:solidFill>
                  <a:srgbClr val="FFFFFF"/>
                </a:solidFill>
                <a:latin typeface="Arial"/>
              </a:rPr>
              <a:t>Q</a:t>
            </a:r>
          </a:p>
        </p:txBody>
      </p:sp>
      <p:sp>
        <p:nvSpPr>
          <p:cNvPr id="17" name="TextBox 16"/>
          <p:cNvSpPr txBox="1"/>
          <p:nvPr/>
        </p:nvSpPr>
        <p:spPr>
          <a:xfrm>
            <a:off x="2057400" y="4453128"/>
            <a:ext cx="3108960" cy="713232"/>
          </a:xfrm>
          <a:prstGeom prst="rect">
            <a:avLst/>
          </a:prstGeom>
          <a:noFill/>
        </p:spPr>
        <p:txBody>
          <a:bodyPr wrap="square" lIns="0" rIns="0" tIns="0" bIns="0" anchor="ctr">
            <a:spAutoFit/>
          </a:bodyPr>
          <a:lstStyle/>
          <a:p>
            <a:pPr algn="l">
              <a:spcBef>
                <a:spcPts val="0"/>
              </a:spcBef>
              <a:spcAft>
                <a:spcPts val="400"/>
              </a:spcAft>
            </a:pPr>
            <a:r>
              <a:rPr sz="1600" b="1" i="0">
                <a:solidFill>
                  <a:srgbClr val="1A1A1A"/>
                </a:solidFill>
                <a:latin typeface="Arial"/>
              </a:rPr>
              <a:t>Quiz final : 10 questions</a:t>
            </a:r>
          </a:p>
        </p:txBody>
      </p:sp>
      <p:sp>
        <p:nvSpPr>
          <p:cNvPr id="18" name="TextBox 17"/>
          <p:cNvSpPr txBox="1"/>
          <p:nvPr/>
        </p:nvSpPr>
        <p:spPr>
          <a:xfrm>
            <a:off x="5120640" y="4453128"/>
            <a:ext cx="822960" cy="713232"/>
          </a:xfrm>
          <a:prstGeom prst="rect">
            <a:avLst/>
          </a:prstGeom>
          <a:noFill/>
        </p:spPr>
        <p:txBody>
          <a:bodyPr wrap="square" lIns="0" rIns="0" tIns="0" bIns="0" anchor="ctr">
            <a:spAutoFit/>
          </a:bodyPr>
          <a:lstStyle/>
          <a:p>
            <a:pPr algn="r">
              <a:spcBef>
                <a:spcPts val="0"/>
              </a:spcBef>
              <a:spcAft>
                <a:spcPts val="400"/>
              </a:spcAft>
            </a:pPr>
            <a:r>
              <a:rPr sz="1400" b="1" i="0">
                <a:solidFill>
                  <a:srgbClr val="5F5F5F"/>
                </a:solidFill>
                <a:latin typeface="Arial"/>
              </a:rPr>
              <a:t>≈ 6 min</a:t>
            </a:r>
          </a:p>
        </p:txBody>
      </p:sp>
      <p:sp>
        <p:nvSpPr>
          <p:cNvPr id="19" name="Rounded Rectangle 18"/>
          <p:cNvSpPr/>
          <p:nvPr/>
        </p:nvSpPr>
        <p:spPr>
          <a:xfrm>
            <a:off x="6309360" y="1417320"/>
            <a:ext cx="5120640" cy="384048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20" name="Oval 19"/>
          <p:cNvSpPr/>
          <p:nvPr/>
        </p:nvSpPr>
        <p:spPr>
          <a:xfrm>
            <a:off x="6455664" y="15270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1" name="TextBox 20"/>
          <p:cNvSpPr txBox="1"/>
          <p:nvPr/>
        </p:nvSpPr>
        <p:spPr>
          <a:xfrm>
            <a:off x="6858000" y="1527048"/>
            <a:ext cx="44348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À LA FIN DU MODULE, VOUS SAUREZ</a:t>
            </a:r>
          </a:p>
        </p:txBody>
      </p:sp>
      <p:sp>
        <p:nvSpPr>
          <p:cNvPr id="22" name="TextBox 21"/>
          <p:cNvSpPr txBox="1"/>
          <p:nvPr/>
        </p:nvSpPr>
        <p:spPr>
          <a:xfrm>
            <a:off x="6492240" y="1947672"/>
            <a:ext cx="4754879" cy="3218688"/>
          </a:xfrm>
          <a:prstGeom prst="rect">
            <a:avLst/>
          </a:prstGeom>
          <a:noFill/>
        </p:spPr>
        <p:txBody>
          <a:bodyPr wrap="square" lIns="0" rIns="0" tIns="0" bIns="0" anchor="t">
            <a:spAutoFit/>
          </a:bodyPr>
          <a:lstStyle/>
          <a:p>
            <a:pPr algn="l" marL="228600" indent="-228600">
              <a:spcBef>
                <a:spcPts val="0"/>
              </a:spcBef>
              <a:spcAft>
                <a:spcPts val="800"/>
              </a:spcAft>
              <a:buClr>
                <a:srgbClr val="0E2841"/>
              </a:buClr>
              <a:buFont typeface="Arial"/>
              <a:buChar char="•"/>
            </a:pPr>
            <a:r>
              <a:rPr sz="1600" b="0" i="0">
                <a:solidFill>
                  <a:srgbClr val="1A1A1A"/>
                </a:solidFill>
                <a:latin typeface="Arial"/>
              </a:rPr>
              <a:t>Reconnaître les principaux </a:t>
            </a:r>
            <a:r>
              <a:rPr sz="1600" b="1" i="0">
                <a:solidFill>
                  <a:srgbClr val="1A1A1A"/>
                </a:solidFill>
                <a:latin typeface="Arial"/>
              </a:rPr>
              <a:t>risques électriques</a:t>
            </a:r>
          </a:p>
          <a:p>
            <a:pPr algn="l" marL="228600" indent="-228600">
              <a:spcBef>
                <a:spcPts val="0"/>
              </a:spcBef>
              <a:spcAft>
                <a:spcPts val="800"/>
              </a:spcAft>
              <a:buClr>
                <a:srgbClr val="0E2841"/>
              </a:buClr>
              <a:buFont typeface="Arial"/>
              <a:buChar char="•"/>
            </a:pPr>
            <a:r>
              <a:rPr sz="1600" b="0" i="0">
                <a:solidFill>
                  <a:srgbClr val="1A1A1A"/>
                </a:solidFill>
                <a:latin typeface="Arial"/>
              </a:rPr>
              <a:t>Effectuer les </a:t>
            </a:r>
            <a:r>
              <a:rPr sz="1600" b="1" i="0">
                <a:solidFill>
                  <a:srgbClr val="1A1A1A"/>
                </a:solidFill>
                <a:latin typeface="Arial"/>
              </a:rPr>
              <a:t>contrôles autorisés</a:t>
            </a:r>
            <a:r>
              <a:rPr sz="1600" b="0" i="0">
                <a:solidFill>
                  <a:srgbClr val="1A1A1A"/>
                </a:solidFill>
                <a:latin typeface="Arial"/>
              </a:rPr>
              <a:t> avant la mise en service</a:t>
            </a:r>
          </a:p>
          <a:p>
            <a:pPr algn="l" marL="228600" indent="-228600">
              <a:spcBef>
                <a:spcPts val="0"/>
              </a:spcBef>
              <a:spcAft>
                <a:spcPts val="800"/>
              </a:spcAft>
              <a:buClr>
                <a:srgbClr val="0E2841"/>
              </a:buClr>
              <a:buFont typeface="Arial"/>
              <a:buChar char="•"/>
            </a:pPr>
            <a:r>
              <a:rPr sz="1600" b="0" i="0">
                <a:solidFill>
                  <a:srgbClr val="1A1A1A"/>
                </a:solidFill>
                <a:latin typeface="Arial"/>
              </a:rPr>
              <a:t>Distinguer les situations </a:t>
            </a:r>
            <a:r>
              <a:rPr sz="1600" b="1" i="0">
                <a:solidFill>
                  <a:srgbClr val="1A1A1A"/>
                </a:solidFill>
                <a:latin typeface="Arial"/>
              </a:rPr>
              <a:t>conformes ou non conformes</a:t>
            </a:r>
          </a:p>
          <a:p>
            <a:pPr algn="l" marL="228600" indent="-228600">
              <a:spcBef>
                <a:spcPts val="0"/>
              </a:spcBef>
              <a:spcAft>
                <a:spcPts val="800"/>
              </a:spcAft>
              <a:buClr>
                <a:srgbClr val="0E2841"/>
              </a:buClr>
              <a:buFont typeface="Arial"/>
              <a:buChar char="•"/>
            </a:pPr>
            <a:r>
              <a:rPr sz="1600" b="0" i="0">
                <a:solidFill>
                  <a:srgbClr val="1A1A1A"/>
                </a:solidFill>
                <a:latin typeface="Arial"/>
              </a:rPr>
              <a:t>Connaître les interventions </a:t>
            </a:r>
            <a:r>
              <a:rPr sz="1600" b="1" i="0">
                <a:solidFill>
                  <a:srgbClr val="1A1A1A"/>
                </a:solidFill>
                <a:latin typeface="Arial"/>
              </a:rPr>
              <a:t>autorisées et interdites</a:t>
            </a:r>
          </a:p>
          <a:p>
            <a:pPr algn="l" marL="228600" indent="-228600">
              <a:spcBef>
                <a:spcPts val="0"/>
              </a:spcBef>
              <a:spcAft>
                <a:spcPts val="800"/>
              </a:spcAft>
              <a:buClr>
                <a:srgbClr val="0E2841"/>
              </a:buClr>
              <a:buFont typeface="Arial"/>
              <a:buChar char="•"/>
            </a:pPr>
            <a:r>
              <a:rPr sz="1600" b="0" i="0">
                <a:solidFill>
                  <a:srgbClr val="1A1A1A"/>
                </a:solidFill>
                <a:latin typeface="Arial"/>
              </a:rPr>
              <a:t>Savoir </a:t>
            </a:r>
            <a:r>
              <a:rPr sz="1600" b="1" i="0">
                <a:solidFill>
                  <a:srgbClr val="1A1A1A"/>
                </a:solidFill>
                <a:latin typeface="Arial"/>
              </a:rPr>
              <a:t>raccorder, refuser</a:t>
            </a:r>
            <a:r>
              <a:rPr sz="1600" b="0" i="0">
                <a:solidFill>
                  <a:srgbClr val="1A1A1A"/>
                </a:solidFill>
                <a:latin typeface="Arial"/>
              </a:rPr>
              <a:t> ou orienter vers un </a:t>
            </a:r>
            <a:r>
              <a:rPr sz="1600" b="1" i="0">
                <a:solidFill>
                  <a:srgbClr val="1A1A1A"/>
                </a:solidFill>
                <a:latin typeface="Arial"/>
              </a:rPr>
              <a:t>électricien</a:t>
            </a:r>
          </a:p>
          <a:p>
            <a:pPr algn="l" marL="228600" indent="-228600">
              <a:spcBef>
                <a:spcPts val="0"/>
              </a:spcBef>
              <a:spcAft>
                <a:spcPts val="800"/>
              </a:spcAft>
              <a:buClr>
                <a:srgbClr val="0E2841"/>
              </a:buClr>
              <a:buFont typeface="Arial"/>
              <a:buChar char="•"/>
            </a:pPr>
            <a:r>
              <a:rPr sz="1600" b="1" i="0">
                <a:solidFill>
                  <a:srgbClr val="1A1A1A"/>
                </a:solidFill>
                <a:latin typeface="Arial"/>
              </a:rPr>
              <a:t>Notifier</a:t>
            </a:r>
            <a:r>
              <a:rPr sz="1600" b="0" i="0">
                <a:solidFill>
                  <a:srgbClr val="1A1A1A"/>
                </a:solidFill>
                <a:latin typeface="Arial"/>
              </a:rPr>
              <a:t> dans le dossier Nomad l'appareil laissé débranché</a:t>
            </a:r>
          </a:p>
        </p:txBody>
      </p:sp>
      <p:sp>
        <p:nvSpPr>
          <p:cNvPr id="23" name="Rounded Rectangle 22"/>
          <p:cNvSpPr/>
          <p:nvPr/>
        </p:nvSpPr>
        <p:spPr>
          <a:xfrm>
            <a:off x="1280160" y="5532120"/>
            <a:ext cx="6949440" cy="685800"/>
          </a:xfrm>
          <a:prstGeom prst="roundRect">
            <a:avLst>
              <a:gd name="adj" fmla="val 12000"/>
            </a:avLst>
          </a:prstGeom>
          <a:solidFill>
            <a:srgbClr val="D99100"/>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Pour valider : 8 bonnes réponses sur 10 (80 %)</a:t>
            </a:r>
          </a:p>
        </p:txBody>
      </p:sp>
      <p:sp>
        <p:nvSpPr>
          <p:cNvPr id="24" name="Rounded Rectangle 23">
            <a:hlinkClick action="ppaction://hlinksldjump" r:id="rId3"/>
          </p:cNvPr>
          <p:cNvSpPr/>
          <p:nvPr/>
        </p:nvSpPr>
        <p:spPr>
          <a:xfrm>
            <a:off x="8503920" y="5532120"/>
            <a:ext cx="2194560" cy="68580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Commencer  ›</a:t>
            </a:r>
          </a:p>
        </p:txBody>
      </p:sp>
      <p:sp>
        <p:nvSpPr>
          <p:cNvPr id="25" name="TextBox 24"/>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Introduction  ·  Académie Fnac Darty</a:t>
            </a:r>
          </a:p>
        </p:txBody>
      </p:sp>
      <p:sp>
        <p:nvSpPr>
          <p:cNvPr id="26" name="TextBox 25"/>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 / 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Chez le client : prise, plaque à domino… que faites-vous ?</a:t>
            </a:r>
          </a:p>
        </p:txBody>
      </p:sp>
      <p:pic>
        <p:nvPicPr>
          <p:cNvPr id="3" name="Picture 2" descr="illustration_prise_et_domino.png"/>
          <p:cNvPicPr>
            <a:picLocks noChangeAspect="1"/>
          </p:cNvPicPr>
          <p:nvPr/>
        </p:nvPicPr>
        <p:blipFill>
          <a:blip r:embed="rId3"/>
          <a:stretch>
            <a:fillRect/>
          </a:stretch>
        </p:blipFill>
        <p:spPr>
          <a:xfrm>
            <a:off x="1282508" y="1417320"/>
            <a:ext cx="6030343" cy="3794760"/>
          </a:xfrm>
          <a:prstGeom prst="rect">
            <a:avLst/>
          </a:prstGeom>
          <a:ln w="9525">
            <a:solidFill>
              <a:srgbClr val="BDBDBD"/>
            </a:solidFill>
          </a:ln>
        </p:spPr>
      </p:pic>
      <p:sp>
        <p:nvSpPr>
          <p:cNvPr id="4" name="Rounded Rectangle 3"/>
          <p:cNvSpPr/>
          <p:nvPr/>
        </p:nvSpPr>
        <p:spPr>
          <a:xfrm>
            <a:off x="7589520" y="1417320"/>
            <a:ext cx="3840480" cy="20574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5" name="Oval 4"/>
          <p:cNvSpPr/>
          <p:nvPr/>
        </p:nvSpPr>
        <p:spPr>
          <a:xfrm>
            <a:off x="7735824" y="15270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6" name="TextBox 5"/>
          <p:cNvSpPr txBox="1"/>
          <p:nvPr/>
        </p:nvSpPr>
        <p:spPr>
          <a:xfrm>
            <a:off x="8138160" y="1527048"/>
            <a:ext cx="3154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LA SITUATION</a:t>
            </a:r>
          </a:p>
        </p:txBody>
      </p:sp>
      <p:sp>
        <p:nvSpPr>
          <p:cNvPr id="7" name="TextBox 6"/>
          <p:cNvSpPr txBox="1"/>
          <p:nvPr/>
        </p:nvSpPr>
        <p:spPr>
          <a:xfrm>
            <a:off x="7772400" y="1947672"/>
            <a:ext cx="3474720" cy="1435608"/>
          </a:xfrm>
          <a:prstGeom prst="rect">
            <a:avLst/>
          </a:prstGeom>
          <a:noFill/>
        </p:spPr>
        <p:txBody>
          <a:bodyPr wrap="square" lIns="0" rIns="0" tIns="0" bIns="0" anchor="t">
            <a:spAutoFit/>
          </a:bodyPr>
          <a:lstStyle/>
          <a:p>
            <a:pPr algn="l">
              <a:spcBef>
                <a:spcPts val="0"/>
              </a:spcBef>
              <a:spcAft>
                <a:spcPts val="400"/>
              </a:spcAft>
            </a:pPr>
            <a:r>
              <a:rPr sz="1500" b="0" i="0">
                <a:solidFill>
                  <a:srgbClr val="1A1A1A"/>
                </a:solidFill>
                <a:latin typeface="Arial"/>
              </a:rPr>
              <a:t>Prise 32 A (circuit cuisson), fiche 16 A, plaque à domino…</a:t>
            </a:r>
          </a:p>
          <a:p>
            <a:pPr algn="l">
              <a:spcBef>
                <a:spcPts val="0"/>
              </a:spcBef>
              <a:spcAft>
                <a:spcPts val="400"/>
              </a:spcAft>
            </a:pPr>
            <a:r>
              <a:rPr sz="1500" b="1" i="0">
                <a:solidFill>
                  <a:srgbClr val="1A1A1A"/>
                </a:solidFill>
                <a:latin typeface="Arial"/>
              </a:rPr>
              <a:t>Je raccorde ? Je refuse ? J'appelle un électricien ?</a:t>
            </a:r>
          </a:p>
        </p:txBody>
      </p:sp>
      <p:sp>
        <p:nvSpPr>
          <p:cNvPr id="8" name="Rounded Rectangle 7"/>
          <p:cNvSpPr/>
          <p:nvPr/>
        </p:nvSpPr>
        <p:spPr>
          <a:xfrm>
            <a:off x="7589520" y="3657600"/>
            <a:ext cx="3840480" cy="42062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Je contrôle</a:t>
            </a:r>
          </a:p>
        </p:txBody>
      </p:sp>
      <p:sp>
        <p:nvSpPr>
          <p:cNvPr id="9" name="Rounded Rectangle 8"/>
          <p:cNvSpPr/>
          <p:nvPr/>
        </p:nvSpPr>
        <p:spPr>
          <a:xfrm>
            <a:off x="7589520" y="4187952"/>
            <a:ext cx="3840480" cy="420624"/>
          </a:xfrm>
          <a:prstGeom prst="roundRect">
            <a:avLst>
              <a:gd name="adj" fmla="val 50000"/>
            </a:avLst>
          </a:prstGeom>
          <a:solidFill>
            <a:srgbClr val="D99100"/>
          </a:solidFill>
          <a:ln w="12700">
            <a:solidFill>
              <a:srgbClr val="D99100"/>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Je décide</a:t>
            </a:r>
          </a:p>
        </p:txBody>
      </p:sp>
      <p:sp>
        <p:nvSpPr>
          <p:cNvPr id="10" name="Rounded Rectangle 9"/>
          <p:cNvSpPr/>
          <p:nvPr/>
        </p:nvSpPr>
        <p:spPr>
          <a:xfrm>
            <a:off x="7589520" y="4718304"/>
            <a:ext cx="3840480" cy="420624"/>
          </a:xfrm>
          <a:prstGeom prst="roundRect">
            <a:avLst>
              <a:gd name="adj" fmla="val 50000"/>
            </a:avLst>
          </a:prstGeom>
          <a:solidFill>
            <a:srgbClr val="1B7F3B"/>
          </a:solidFill>
          <a:ln w="12700">
            <a:solidFill>
              <a:srgbClr val="1B7F3B"/>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Je notifie dans le dossier Nomad</a:t>
            </a:r>
          </a:p>
        </p:txBody>
      </p:sp>
      <p:sp>
        <p:nvSpPr>
          <p:cNvPr id="11" name="Rounded Rectangle 10"/>
          <p:cNvSpPr/>
          <p:nvPr/>
        </p:nvSpPr>
        <p:spPr>
          <a:xfrm>
            <a:off x="1280160" y="5440680"/>
            <a:ext cx="9509760" cy="68580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Fil rouge du module : contrôler, décider, notifier</a:t>
            </a:r>
          </a:p>
        </p:txBody>
      </p:sp>
      <p:sp>
        <p:nvSpPr>
          <p:cNvPr id="12" name="TextBox 11"/>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1 · Rôle et limites d'intervention  ·  Académie Fnac Darty</a:t>
            </a:r>
          </a:p>
        </p:txBody>
      </p:sp>
      <p:sp>
        <p:nvSpPr>
          <p:cNvPr id="13" name="TextBox 12"/>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Mon rôle : je contrôle, je ne modifie pas</a:t>
            </a:r>
          </a:p>
        </p:txBody>
      </p:sp>
      <p:sp>
        <p:nvSpPr>
          <p:cNvPr id="3" name="Rounded Rectangle 2"/>
          <p:cNvSpPr/>
          <p:nvPr/>
        </p:nvSpPr>
        <p:spPr>
          <a:xfrm>
            <a:off x="1280160" y="1417320"/>
            <a:ext cx="4937760" cy="35661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4" name="Oval 3"/>
          <p:cNvSpPr/>
          <p:nvPr/>
        </p:nvSpPr>
        <p:spPr>
          <a:xfrm>
            <a:off x="1426463" y="152704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27048"/>
            <a:ext cx="4251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 : JE PEUX</a:t>
            </a:r>
          </a:p>
        </p:txBody>
      </p:sp>
      <p:sp>
        <p:nvSpPr>
          <p:cNvPr id="6" name="TextBox 5"/>
          <p:cNvSpPr txBox="1"/>
          <p:nvPr/>
        </p:nvSpPr>
        <p:spPr>
          <a:xfrm>
            <a:off x="1463039" y="1947672"/>
            <a:ext cx="4572000" cy="2944368"/>
          </a:xfrm>
          <a:prstGeom prst="rect">
            <a:avLst/>
          </a:prstGeom>
          <a:noFill/>
        </p:spPr>
        <p:txBody>
          <a:bodyPr wrap="square" lIns="0" rIns="0" tIns="0" bIns="0" anchor="t">
            <a:spAutoFit/>
          </a:bodyPr>
          <a:lstStyle/>
          <a:p>
            <a:pPr algn="l" marL="228600" indent="-228600">
              <a:spcBef>
                <a:spcPts val="0"/>
              </a:spcBef>
              <a:spcAft>
                <a:spcPts val="1000"/>
              </a:spcAft>
              <a:buClr>
                <a:srgbClr val="1B7F3B"/>
              </a:buClr>
              <a:buFont typeface="Arial"/>
              <a:buChar char="•"/>
            </a:pPr>
            <a:r>
              <a:rPr sz="1800" b="0" i="0">
                <a:solidFill>
                  <a:srgbClr val="1A1A1A"/>
                </a:solidFill>
                <a:latin typeface="Arial"/>
              </a:rPr>
              <a:t>Identifier visuellement l'installation</a:t>
            </a:r>
          </a:p>
          <a:p>
            <a:pPr algn="l" marL="228600" indent="-228600">
              <a:spcBef>
                <a:spcPts val="0"/>
              </a:spcBef>
              <a:spcAft>
                <a:spcPts val="1000"/>
              </a:spcAft>
              <a:buClr>
                <a:srgbClr val="1B7F3B"/>
              </a:buClr>
              <a:buFont typeface="Arial"/>
              <a:buChar char="•"/>
            </a:pPr>
            <a:r>
              <a:rPr sz="1800" b="0" i="0">
                <a:solidFill>
                  <a:srgbClr val="1A1A1A"/>
                </a:solidFill>
                <a:latin typeface="Arial"/>
              </a:rPr>
              <a:t>Contrôler la prise avec un </a:t>
            </a:r>
            <a:r>
              <a:rPr sz="1800" b="1" i="0">
                <a:solidFill>
                  <a:srgbClr val="1A1A1A"/>
                </a:solidFill>
                <a:latin typeface="Arial"/>
              </a:rPr>
              <a:t>VAT</a:t>
            </a:r>
          </a:p>
          <a:p>
            <a:pPr algn="l" marL="228600" indent="-228600">
              <a:spcBef>
                <a:spcPts val="0"/>
              </a:spcBef>
              <a:spcAft>
                <a:spcPts val="1000"/>
              </a:spcAft>
              <a:buClr>
                <a:srgbClr val="1B7F3B"/>
              </a:buClr>
              <a:buFont typeface="Arial"/>
              <a:buChar char="•"/>
            </a:pPr>
            <a:r>
              <a:rPr sz="1800" b="0" i="0">
                <a:solidFill>
                  <a:srgbClr val="1A1A1A"/>
                </a:solidFill>
                <a:latin typeface="Arial"/>
              </a:rPr>
              <a:t>Lire le repérage du tableau électrique</a:t>
            </a:r>
          </a:p>
          <a:p>
            <a:pPr algn="l" marL="228600" indent="-228600">
              <a:spcBef>
                <a:spcPts val="0"/>
              </a:spcBef>
              <a:spcAft>
                <a:spcPts val="1000"/>
              </a:spcAft>
              <a:buClr>
                <a:srgbClr val="1B7F3B"/>
              </a:buClr>
              <a:buFont typeface="Arial"/>
              <a:buChar char="•"/>
            </a:pPr>
            <a:r>
              <a:rPr sz="1800" b="0" i="0">
                <a:solidFill>
                  <a:srgbClr val="1A1A1A"/>
                </a:solidFill>
                <a:latin typeface="Arial"/>
              </a:rPr>
              <a:t>Constater et </a:t>
            </a:r>
            <a:r>
              <a:rPr sz="1800" b="1" i="0">
                <a:solidFill>
                  <a:srgbClr val="1A1A1A"/>
                </a:solidFill>
                <a:latin typeface="Arial"/>
              </a:rPr>
              <a:t>signaler une anomalie</a:t>
            </a:r>
          </a:p>
          <a:p>
            <a:pPr algn="l" marL="228600" indent="-228600">
              <a:spcBef>
                <a:spcPts val="0"/>
              </a:spcBef>
              <a:spcAft>
                <a:spcPts val="1000"/>
              </a:spcAft>
              <a:buClr>
                <a:srgbClr val="1B7F3B"/>
              </a:buClr>
              <a:buFont typeface="Arial"/>
              <a:buChar char="•"/>
            </a:pPr>
            <a:r>
              <a:rPr sz="1800" b="1" i="0">
                <a:solidFill>
                  <a:srgbClr val="1A1A1A"/>
                </a:solidFill>
                <a:latin typeface="Arial"/>
              </a:rPr>
              <a:t>Refuser</a:t>
            </a:r>
            <a:r>
              <a:rPr sz="1800" b="0" i="0">
                <a:solidFill>
                  <a:srgbClr val="1A1A1A"/>
                </a:solidFill>
                <a:latin typeface="Arial"/>
              </a:rPr>
              <a:t> le raccordement en cas de doute</a:t>
            </a:r>
          </a:p>
        </p:txBody>
      </p:sp>
      <p:sp>
        <p:nvSpPr>
          <p:cNvPr id="7" name="Rounded Rectangle 6"/>
          <p:cNvSpPr/>
          <p:nvPr/>
        </p:nvSpPr>
        <p:spPr>
          <a:xfrm>
            <a:off x="6400800" y="1417320"/>
            <a:ext cx="5029200" cy="356616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8" name="Oval 7"/>
          <p:cNvSpPr/>
          <p:nvPr/>
        </p:nvSpPr>
        <p:spPr>
          <a:xfrm>
            <a:off x="6547104" y="152704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6949440" y="1527048"/>
            <a:ext cx="43434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INTERDIT : JE NE FAIS PAS</a:t>
            </a:r>
          </a:p>
        </p:txBody>
      </p:sp>
      <p:sp>
        <p:nvSpPr>
          <p:cNvPr id="10" name="TextBox 9"/>
          <p:cNvSpPr txBox="1"/>
          <p:nvPr/>
        </p:nvSpPr>
        <p:spPr>
          <a:xfrm>
            <a:off x="6583680" y="1947672"/>
            <a:ext cx="4663440" cy="2944368"/>
          </a:xfrm>
          <a:prstGeom prst="rect">
            <a:avLst/>
          </a:prstGeom>
          <a:noFill/>
        </p:spPr>
        <p:txBody>
          <a:bodyPr wrap="square" lIns="0" rIns="0" tIns="0" bIns="0" anchor="t">
            <a:spAutoFit/>
          </a:bodyPr>
          <a:lstStyle/>
          <a:p>
            <a:pPr algn="l" marL="228600" indent="-228600">
              <a:spcBef>
                <a:spcPts val="0"/>
              </a:spcBef>
              <a:spcAft>
                <a:spcPts val="1000"/>
              </a:spcAft>
              <a:buClr>
                <a:srgbClr val="C8102E"/>
              </a:buClr>
              <a:buFont typeface="Arial"/>
              <a:buChar char="•"/>
            </a:pPr>
            <a:r>
              <a:rPr sz="1800" b="0" i="0">
                <a:solidFill>
                  <a:srgbClr val="1A1A1A"/>
                </a:solidFill>
                <a:latin typeface="Arial"/>
              </a:rPr>
              <a:t>Modifier ou remettre en conformité l'installation</a:t>
            </a:r>
          </a:p>
          <a:p>
            <a:pPr algn="l" marL="228600" indent="-228600">
              <a:spcBef>
                <a:spcPts val="0"/>
              </a:spcBef>
              <a:spcAft>
                <a:spcPts val="1000"/>
              </a:spcAft>
              <a:buClr>
                <a:srgbClr val="C8102E"/>
              </a:buClr>
              <a:buFont typeface="Arial"/>
              <a:buChar char="•"/>
            </a:pPr>
            <a:r>
              <a:rPr sz="1800" b="0" i="0">
                <a:solidFill>
                  <a:srgbClr val="1A1A1A"/>
                </a:solidFill>
                <a:latin typeface="Arial"/>
              </a:rPr>
              <a:t>Remplacer un disjoncteur ou changer la protection</a:t>
            </a:r>
          </a:p>
          <a:p>
            <a:pPr algn="l" marL="228600" indent="-228600">
              <a:spcBef>
                <a:spcPts val="0"/>
              </a:spcBef>
              <a:spcAft>
                <a:spcPts val="1000"/>
              </a:spcAft>
              <a:buClr>
                <a:srgbClr val="C8102E"/>
              </a:buClr>
              <a:buFont typeface="Arial"/>
              <a:buChar char="•"/>
            </a:pPr>
            <a:r>
              <a:rPr sz="1800" b="0" i="0">
                <a:solidFill>
                  <a:srgbClr val="1A1A1A"/>
                </a:solidFill>
                <a:latin typeface="Arial"/>
              </a:rPr>
              <a:t>Modifier la section ou couper des brins</a:t>
            </a:r>
          </a:p>
          <a:p>
            <a:pPr algn="l" marL="228600" indent="-228600">
              <a:spcBef>
                <a:spcPts val="0"/>
              </a:spcBef>
              <a:spcAft>
                <a:spcPts val="1000"/>
              </a:spcAft>
              <a:buClr>
                <a:srgbClr val="C8102E"/>
              </a:buClr>
              <a:buFont typeface="Arial"/>
              <a:buChar char="•"/>
            </a:pPr>
            <a:r>
              <a:rPr sz="1800" b="0" i="0">
                <a:solidFill>
                  <a:srgbClr val="1A1A1A"/>
                </a:solidFill>
                <a:latin typeface="Arial"/>
              </a:rPr>
              <a:t>Réparer un pot d'encastrement ou le placo</a:t>
            </a:r>
          </a:p>
          <a:p>
            <a:pPr algn="l" marL="228600" indent="-228600">
              <a:spcBef>
                <a:spcPts val="0"/>
              </a:spcBef>
              <a:spcAft>
                <a:spcPts val="1000"/>
              </a:spcAft>
              <a:buClr>
                <a:srgbClr val="C8102E"/>
              </a:buClr>
              <a:buFont typeface="Arial"/>
              <a:buChar char="•"/>
            </a:pPr>
            <a:r>
              <a:rPr sz="1800" b="0" i="0">
                <a:solidFill>
                  <a:srgbClr val="1A1A1A"/>
                </a:solidFill>
                <a:latin typeface="Arial"/>
              </a:rPr>
              <a:t>Improviser un montage « pour dépanner »</a:t>
            </a:r>
          </a:p>
        </p:txBody>
      </p:sp>
      <p:sp>
        <p:nvSpPr>
          <p:cNvPr id="11" name="Rounded Rectangle 10"/>
          <p:cNvSpPr/>
          <p:nvPr/>
        </p:nvSpPr>
        <p:spPr>
          <a:xfrm>
            <a:off x="1280160" y="5166360"/>
            <a:ext cx="9509760" cy="566928"/>
          </a:xfrm>
          <a:prstGeom prst="roundRect">
            <a:avLst>
              <a:gd name="adj" fmla="val 12000"/>
            </a:avLst>
          </a:prstGeom>
          <a:solidFill>
            <a:srgbClr val="D99100"/>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Règle d'or : au moindre doute, aucun branchement. Le client fait appel à un électricien.</a:t>
            </a:r>
          </a:p>
        </p:txBody>
      </p:sp>
      <p:sp>
        <p:nvSpPr>
          <p:cNvPr id="12" name="TextBox 11"/>
          <p:cNvSpPr txBox="1"/>
          <p:nvPr/>
        </p:nvSpPr>
        <p:spPr>
          <a:xfrm>
            <a:off x="1280160" y="589788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3" name="Rounded Rectangle 12"/>
          <p:cNvSpPr/>
          <p:nvPr/>
        </p:nvSpPr>
        <p:spPr>
          <a:xfrm>
            <a:off x="2148839" y="589788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VAT</a:t>
            </a:r>
          </a:p>
        </p:txBody>
      </p:sp>
      <p:sp>
        <p:nvSpPr>
          <p:cNvPr id="14" name="Rounded Rectangle 13"/>
          <p:cNvSpPr/>
          <p:nvPr/>
        </p:nvSpPr>
        <p:spPr>
          <a:xfrm>
            <a:off x="2766974" y="589788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EPI</a:t>
            </a:r>
          </a:p>
        </p:txBody>
      </p:sp>
      <p:sp>
        <p:nvSpPr>
          <p:cNvPr id="15" name="Rounded Rectangle 14"/>
          <p:cNvSpPr/>
          <p:nvPr/>
        </p:nvSpPr>
        <p:spPr>
          <a:xfrm>
            <a:off x="3385108" y="589788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Appareil photo</a:t>
            </a:r>
          </a:p>
        </p:txBody>
      </p:sp>
      <p:sp>
        <p:nvSpPr>
          <p:cNvPr id="16" name="Rounded Rectangle 15"/>
          <p:cNvSpPr/>
          <p:nvPr/>
        </p:nvSpPr>
        <p:spPr>
          <a:xfrm>
            <a:off x="4928616" y="5897880"/>
            <a:ext cx="134965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Dossier Nomad</a:t>
            </a:r>
          </a:p>
        </p:txBody>
      </p:sp>
      <p:sp>
        <p:nvSpPr>
          <p:cNvPr id="17" name="TextBox 16"/>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1 · Rôle et limites d'intervention  ·  Académie Fnac Darty</a:t>
            </a:r>
          </a:p>
        </p:txBody>
      </p:sp>
      <p:sp>
        <p:nvSpPr>
          <p:cNvPr id="18" name="TextBox 17"/>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 / 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Habilitation électrique et compétence métier</a:t>
            </a:r>
          </a:p>
        </p:txBody>
      </p:sp>
      <p:pic>
        <p:nvPicPr>
          <p:cNvPr id="3" name="Picture 2" descr="2.symbole_HabElec.png"/>
          <p:cNvPicPr>
            <a:picLocks noChangeAspect="1"/>
          </p:cNvPicPr>
          <p:nvPr/>
        </p:nvPicPr>
        <p:blipFill>
          <a:blip r:embed="rId3"/>
          <a:stretch>
            <a:fillRect/>
          </a:stretch>
        </p:blipFill>
        <p:spPr>
          <a:xfrm>
            <a:off x="1280160" y="1371600"/>
            <a:ext cx="1371600" cy="1371600"/>
          </a:xfrm>
          <a:prstGeom prst="rect">
            <a:avLst/>
          </a:prstGeom>
        </p:spPr>
      </p:pic>
      <p:sp>
        <p:nvSpPr>
          <p:cNvPr id="4" name="Rounded Rectangle 3"/>
          <p:cNvSpPr/>
          <p:nvPr/>
        </p:nvSpPr>
        <p:spPr>
          <a:xfrm>
            <a:off x="1280160" y="2926080"/>
            <a:ext cx="3246120" cy="2514600"/>
          </a:xfrm>
          <a:prstGeom prst="roundRect">
            <a:avLst>
              <a:gd name="adj" fmla="val 6000"/>
            </a:avLst>
          </a:prstGeom>
          <a:solidFill>
            <a:srgbClr val="F3F3F3"/>
          </a:solidFill>
          <a:ln w="19050">
            <a:solidFill>
              <a:srgbClr val="8C8C8C"/>
            </a:solidFill>
          </a:ln>
        </p:spPr>
        <p:txBody>
          <a:bodyPr rtlCol="0" anchor="ctr"/>
          <a:lstStyle/>
          <a:p>
            <a:pPr algn="ctr"/>
          </a:p>
        </p:txBody>
      </p:sp>
      <p:sp>
        <p:nvSpPr>
          <p:cNvPr id="5" name="Oval 4"/>
          <p:cNvSpPr/>
          <p:nvPr/>
        </p:nvSpPr>
        <p:spPr>
          <a:xfrm>
            <a:off x="1426463" y="3035808"/>
            <a:ext cx="310896" cy="310896"/>
          </a:xfrm>
          <a:prstGeom prst="ellipse">
            <a:avLst/>
          </a:prstGeom>
          <a:solidFill>
            <a:srgbClr val="8C8C8C"/>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i</a:t>
            </a:r>
          </a:p>
        </p:txBody>
      </p:sp>
      <p:sp>
        <p:nvSpPr>
          <p:cNvPr id="6" name="TextBox 5"/>
          <p:cNvSpPr txBox="1"/>
          <p:nvPr/>
        </p:nvSpPr>
        <p:spPr>
          <a:xfrm>
            <a:off x="1828800" y="303580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8C8C8C"/>
                </a:solidFill>
                <a:latin typeface="Arial"/>
              </a:rPr>
              <a:t>HABILITATION ÉLECTRIQUE</a:t>
            </a:r>
          </a:p>
        </p:txBody>
      </p:sp>
      <p:sp>
        <p:nvSpPr>
          <p:cNvPr id="7" name="TextBox 6"/>
          <p:cNvSpPr txBox="1"/>
          <p:nvPr/>
        </p:nvSpPr>
        <p:spPr>
          <a:xfrm>
            <a:off x="1463039" y="3456432"/>
            <a:ext cx="2880360" cy="1892807"/>
          </a:xfrm>
          <a:prstGeom prst="rect">
            <a:avLst/>
          </a:prstGeom>
          <a:noFill/>
        </p:spPr>
        <p:txBody>
          <a:bodyPr wrap="square" lIns="0" rIns="0" tIns="0" bIns="0" anchor="t">
            <a:spAutoFit/>
          </a:bodyPr>
          <a:lstStyle/>
          <a:p>
            <a:pPr algn="l" marL="228600" indent="-228600">
              <a:spcBef>
                <a:spcPts val="0"/>
              </a:spcBef>
              <a:spcAft>
                <a:spcPts val="400"/>
              </a:spcAft>
              <a:buClr>
                <a:srgbClr val="8C8C8C"/>
              </a:buClr>
              <a:buFont typeface="Arial"/>
              <a:buChar char="•"/>
            </a:pPr>
            <a:r>
              <a:rPr sz="1500" b="0" i="0">
                <a:solidFill>
                  <a:srgbClr val="1A1A1A"/>
                </a:solidFill>
                <a:latin typeface="Arial"/>
              </a:rPr>
              <a:t>Reconnaissance par l'employeur de la capacité à </a:t>
            </a:r>
            <a:r>
              <a:rPr sz="1500" b="1" i="0">
                <a:solidFill>
                  <a:srgbClr val="1A1A1A"/>
                </a:solidFill>
                <a:latin typeface="Arial"/>
              </a:rPr>
              <a:t>travailler en sécurité</a:t>
            </a:r>
            <a:r>
              <a:rPr sz="1500" b="0" i="0">
                <a:solidFill>
                  <a:srgbClr val="1A1A1A"/>
                </a:solidFill>
                <a:latin typeface="Arial"/>
              </a:rPr>
              <a:t> face au risque électrique</a:t>
            </a:r>
          </a:p>
          <a:p>
            <a:pPr algn="l" marL="228600" indent="-228600">
              <a:spcBef>
                <a:spcPts val="0"/>
              </a:spcBef>
              <a:spcAft>
                <a:spcPts val="400"/>
              </a:spcAft>
              <a:buClr>
                <a:srgbClr val="8C8C8C"/>
              </a:buClr>
              <a:buFont typeface="Arial"/>
              <a:buChar char="•"/>
            </a:pPr>
            <a:r>
              <a:rPr sz="1500" b="1" i="0">
                <a:solidFill>
                  <a:srgbClr val="1A1A1A"/>
                </a:solidFill>
                <a:latin typeface="Arial"/>
              </a:rPr>
              <a:t>Ce n'est pas</a:t>
            </a:r>
            <a:r>
              <a:rPr sz="1500" b="0" i="0">
                <a:solidFill>
                  <a:srgbClr val="1A1A1A"/>
                </a:solidFill>
                <a:latin typeface="Arial"/>
              </a:rPr>
              <a:t> une formation au métier d'électricien</a:t>
            </a:r>
          </a:p>
        </p:txBody>
      </p:sp>
      <p:sp>
        <p:nvSpPr>
          <p:cNvPr id="8" name="Rounded Rectangle 7"/>
          <p:cNvSpPr/>
          <p:nvPr/>
        </p:nvSpPr>
        <p:spPr>
          <a:xfrm>
            <a:off x="4709160" y="2926080"/>
            <a:ext cx="3246120" cy="251460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9" name="Oval 8"/>
          <p:cNvSpPr/>
          <p:nvPr/>
        </p:nvSpPr>
        <p:spPr>
          <a:xfrm>
            <a:off x="4855464" y="303580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5257800" y="303580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COMPÉTENCE MÉTIER</a:t>
            </a:r>
          </a:p>
        </p:txBody>
      </p:sp>
      <p:sp>
        <p:nvSpPr>
          <p:cNvPr id="11" name="TextBox 10"/>
          <p:cNvSpPr txBox="1"/>
          <p:nvPr/>
        </p:nvSpPr>
        <p:spPr>
          <a:xfrm>
            <a:off x="4892040" y="3456432"/>
            <a:ext cx="2880360" cy="1892807"/>
          </a:xfrm>
          <a:prstGeom prst="rect">
            <a:avLst/>
          </a:prstGeom>
          <a:noFill/>
        </p:spPr>
        <p:txBody>
          <a:bodyPr wrap="square" lIns="0" rIns="0" tIns="0" bIns="0" anchor="t">
            <a:spAutoFit/>
          </a:bodyPr>
          <a:lstStyle/>
          <a:p>
            <a:pPr algn="l" marL="228600" indent="-228600">
              <a:spcBef>
                <a:spcPts val="0"/>
              </a:spcBef>
              <a:spcAft>
                <a:spcPts val="400"/>
              </a:spcAft>
              <a:buClr>
                <a:srgbClr val="1B7F3B"/>
              </a:buClr>
              <a:buFont typeface="Arial"/>
              <a:buChar char="•"/>
            </a:pPr>
            <a:r>
              <a:rPr sz="1500" b="0" i="0">
                <a:solidFill>
                  <a:srgbClr val="1A1A1A"/>
                </a:solidFill>
                <a:latin typeface="Arial"/>
              </a:rPr>
              <a:t>Reconnaître la </a:t>
            </a:r>
            <a:r>
              <a:rPr sz="1500" b="1" i="0">
                <a:solidFill>
                  <a:srgbClr val="1A1A1A"/>
                </a:solidFill>
                <a:latin typeface="Arial"/>
              </a:rPr>
              <a:t>section</a:t>
            </a:r>
            <a:r>
              <a:rPr sz="1500" b="0" i="0">
                <a:solidFill>
                  <a:srgbClr val="1A1A1A"/>
                </a:solidFill>
                <a:latin typeface="Arial"/>
              </a:rPr>
              <a:t> d'un conducteur</a:t>
            </a:r>
          </a:p>
          <a:p>
            <a:pPr algn="l" marL="228600" indent="-228600">
              <a:spcBef>
                <a:spcPts val="0"/>
              </a:spcBef>
              <a:spcAft>
                <a:spcPts val="400"/>
              </a:spcAft>
              <a:buClr>
                <a:srgbClr val="1B7F3B"/>
              </a:buClr>
              <a:buFont typeface="Arial"/>
              <a:buChar char="•"/>
            </a:pPr>
            <a:r>
              <a:rPr sz="1500" b="0" i="0">
                <a:solidFill>
                  <a:srgbClr val="1A1A1A"/>
                </a:solidFill>
                <a:latin typeface="Arial"/>
              </a:rPr>
              <a:t>Identifier une installation </a:t>
            </a:r>
            <a:r>
              <a:rPr sz="1500" b="1" i="0">
                <a:solidFill>
                  <a:srgbClr val="1A1A1A"/>
                </a:solidFill>
                <a:latin typeface="Arial"/>
              </a:rPr>
              <a:t>conforme</a:t>
            </a:r>
          </a:p>
          <a:p>
            <a:pPr algn="l" marL="228600" indent="-228600">
              <a:spcBef>
                <a:spcPts val="0"/>
              </a:spcBef>
              <a:spcAft>
                <a:spcPts val="400"/>
              </a:spcAft>
              <a:buClr>
                <a:srgbClr val="1B7F3B"/>
              </a:buClr>
              <a:buFont typeface="Arial"/>
              <a:buChar char="•"/>
            </a:pPr>
            <a:r>
              <a:rPr sz="1500" b="0" i="0">
                <a:solidFill>
                  <a:srgbClr val="1A1A1A"/>
                </a:solidFill>
                <a:latin typeface="Arial"/>
              </a:rPr>
              <a:t>Connaître </a:t>
            </a:r>
            <a:r>
              <a:rPr sz="1500" b="1" i="0">
                <a:solidFill>
                  <a:srgbClr val="1A1A1A"/>
                </a:solidFill>
                <a:latin typeface="Arial"/>
              </a:rPr>
              <a:t>les limites</a:t>
            </a:r>
            <a:r>
              <a:rPr sz="1500" b="0" i="0">
                <a:solidFill>
                  <a:srgbClr val="1A1A1A"/>
                </a:solidFill>
                <a:latin typeface="Arial"/>
              </a:rPr>
              <a:t> de son intervention</a:t>
            </a:r>
          </a:p>
        </p:txBody>
      </p:sp>
      <p:sp>
        <p:nvSpPr>
          <p:cNvPr id="12" name="Rounded Rectangle 11"/>
          <p:cNvSpPr/>
          <p:nvPr/>
        </p:nvSpPr>
        <p:spPr>
          <a:xfrm>
            <a:off x="8138160" y="2926080"/>
            <a:ext cx="3291840" cy="2514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3" name="Oval 12"/>
          <p:cNvSpPr/>
          <p:nvPr/>
        </p:nvSpPr>
        <p:spPr>
          <a:xfrm>
            <a:off x="8284464" y="303580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4" name="TextBox 13"/>
          <p:cNvSpPr txBox="1"/>
          <p:nvPr/>
        </p:nvSpPr>
        <p:spPr>
          <a:xfrm>
            <a:off x="8686800" y="3035808"/>
            <a:ext cx="26060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L'EMPLOYEUR</a:t>
            </a:r>
          </a:p>
        </p:txBody>
      </p:sp>
      <p:sp>
        <p:nvSpPr>
          <p:cNvPr id="15" name="TextBox 14"/>
          <p:cNvSpPr txBox="1"/>
          <p:nvPr/>
        </p:nvSpPr>
        <p:spPr>
          <a:xfrm>
            <a:off x="8321040" y="3456432"/>
            <a:ext cx="2926080" cy="1892807"/>
          </a:xfrm>
          <a:prstGeom prst="rect">
            <a:avLst/>
          </a:prstGeom>
          <a:noFill/>
        </p:spPr>
        <p:txBody>
          <a:bodyPr wrap="square" lIns="0" rIns="0" tIns="0" bIns="0" anchor="t">
            <a:spAutoFit/>
          </a:bodyPr>
          <a:lstStyle/>
          <a:p>
            <a:pPr algn="l" marL="228600" indent="-228600">
              <a:spcBef>
                <a:spcPts val="0"/>
              </a:spcBef>
              <a:spcAft>
                <a:spcPts val="400"/>
              </a:spcAft>
              <a:buClr>
                <a:srgbClr val="0E2841"/>
              </a:buClr>
              <a:buFont typeface="Arial"/>
              <a:buChar char="•"/>
            </a:pPr>
            <a:r>
              <a:rPr sz="1500" b="0" i="0">
                <a:solidFill>
                  <a:srgbClr val="1A1A1A"/>
                </a:solidFill>
                <a:latin typeface="Arial"/>
              </a:rPr>
              <a:t>Vérifie que vous avez les </a:t>
            </a:r>
            <a:r>
              <a:rPr sz="1500" b="1" i="0">
                <a:solidFill>
                  <a:srgbClr val="1A1A1A"/>
                </a:solidFill>
                <a:latin typeface="Arial"/>
              </a:rPr>
              <a:t>compétences</a:t>
            </a:r>
            <a:r>
              <a:rPr sz="1500" b="0" i="0">
                <a:solidFill>
                  <a:srgbClr val="1A1A1A"/>
                </a:solidFill>
                <a:latin typeface="Arial"/>
              </a:rPr>
              <a:t> pour les tâches prévues</a:t>
            </a:r>
          </a:p>
          <a:p>
            <a:pPr algn="l" marL="228600" indent="-228600">
              <a:spcBef>
                <a:spcPts val="0"/>
              </a:spcBef>
              <a:spcAft>
                <a:spcPts val="400"/>
              </a:spcAft>
              <a:buClr>
                <a:srgbClr val="0E2841"/>
              </a:buClr>
              <a:buFont typeface="Arial"/>
              <a:buChar char="•"/>
            </a:pPr>
            <a:r>
              <a:rPr sz="1500" b="0" i="0">
                <a:solidFill>
                  <a:srgbClr val="1A1A1A"/>
                </a:solidFill>
                <a:latin typeface="Arial"/>
              </a:rPr>
              <a:t>Fournit les </a:t>
            </a:r>
            <a:r>
              <a:rPr sz="1500" b="1" i="0">
                <a:solidFill>
                  <a:srgbClr val="1A1A1A"/>
                </a:solidFill>
                <a:latin typeface="Arial"/>
              </a:rPr>
              <a:t>outils</a:t>
            </a:r>
            <a:r>
              <a:rPr sz="1500" b="0" i="0">
                <a:solidFill>
                  <a:srgbClr val="1A1A1A"/>
                </a:solidFill>
                <a:latin typeface="Arial"/>
              </a:rPr>
              <a:t> nécessaires</a:t>
            </a:r>
          </a:p>
        </p:txBody>
      </p:sp>
      <p:sp>
        <p:nvSpPr>
          <p:cNvPr id="16" name="TextBox 15"/>
          <p:cNvSpPr txBox="1"/>
          <p:nvPr/>
        </p:nvSpPr>
        <p:spPr>
          <a:xfrm>
            <a:off x="2834640" y="1463040"/>
            <a:ext cx="8503920" cy="1188720"/>
          </a:xfrm>
          <a:prstGeom prst="rect">
            <a:avLst/>
          </a:prstGeom>
          <a:noFill/>
        </p:spPr>
        <p:txBody>
          <a:bodyPr wrap="square" lIns="0" rIns="0" tIns="0" bIns="0" anchor="ctr">
            <a:spAutoFit/>
          </a:bodyPr>
          <a:lstStyle/>
          <a:p>
            <a:pPr algn="l">
              <a:spcBef>
                <a:spcPts val="0"/>
              </a:spcBef>
              <a:spcAft>
                <a:spcPts val="600"/>
              </a:spcAft>
            </a:pPr>
            <a:r>
              <a:rPr sz="2200" b="1" i="0">
                <a:solidFill>
                  <a:srgbClr val="0E2841"/>
                </a:solidFill>
                <a:latin typeface="Arial"/>
              </a:rPr>
              <a:t>Habilitation BS : savoir </a:t>
            </a:r>
            <a:r>
              <a:rPr sz="2200" b="1" i="0">
                <a:solidFill>
                  <a:srgbClr val="0E2841"/>
                </a:solidFill>
                <a:latin typeface="Arial"/>
              </a:rPr>
              <a:t>travailler en sécurité</a:t>
            </a:r>
          </a:p>
          <a:p>
            <a:pPr algn="l">
              <a:spcBef>
                <a:spcPts val="0"/>
              </a:spcBef>
              <a:spcAft>
                <a:spcPts val="400"/>
              </a:spcAft>
            </a:pPr>
            <a:r>
              <a:rPr sz="2200" b="1" i="0">
                <a:solidFill>
                  <a:srgbClr val="1B7F3B"/>
                </a:solidFill>
                <a:latin typeface="Arial"/>
              </a:rPr>
              <a:t>Compétence métier : savoir </a:t>
            </a:r>
            <a:r>
              <a:rPr sz="2200" b="1" i="0">
                <a:solidFill>
                  <a:srgbClr val="1B7F3B"/>
                </a:solidFill>
                <a:latin typeface="Arial"/>
              </a:rPr>
              <a:t>reconnaître, vérifier, décider</a:t>
            </a:r>
          </a:p>
        </p:txBody>
      </p:sp>
      <p:sp>
        <p:nvSpPr>
          <p:cNvPr id="17" name="Rounded Rectangle 16"/>
          <p:cNvSpPr/>
          <p:nvPr/>
        </p:nvSpPr>
        <p:spPr>
          <a:xfrm>
            <a:off x="1280160" y="5623560"/>
            <a:ext cx="9509760" cy="566928"/>
          </a:xfrm>
          <a:prstGeom prst="roundRect">
            <a:avLst>
              <a:gd name="adj" fmla="val 12000"/>
            </a:avLst>
          </a:prstGeom>
          <a:solidFill>
            <a:srgbClr val="D99100"/>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Être habilité, c'est savoir travailler en sécurité, pas devenir électricien.</a:t>
            </a:r>
          </a:p>
        </p:txBody>
      </p:sp>
      <p:sp>
        <p:nvSpPr>
          <p:cNvPr id="18" name="TextBox 17"/>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1 · Rôle et limites d'intervention  ·  Académie Fnac Darty</a:t>
            </a:r>
          </a:p>
        </p:txBody>
      </p:sp>
      <p:sp>
        <p:nvSpPr>
          <p:cNvPr id="19" name="TextBox 18"/>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 / 54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Trois décisions possibles après mes contrôles</a:t>
            </a:r>
          </a:p>
        </p:txBody>
      </p:sp>
      <p:sp>
        <p:nvSpPr>
          <p:cNvPr id="3" name="Rounded Rectangle 2"/>
          <p:cNvSpPr/>
          <p:nvPr/>
        </p:nvSpPr>
        <p:spPr>
          <a:xfrm>
            <a:off x="4480560" y="1371600"/>
            <a:ext cx="301752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800" b="1" i="0">
                <a:solidFill>
                  <a:srgbClr val="FFFFFF"/>
                </a:solidFill>
                <a:latin typeface="Arial"/>
              </a:rPr>
              <a:t>Je contrôle</a:t>
            </a:r>
          </a:p>
        </p:txBody>
      </p:sp>
      <p:sp>
        <p:nvSpPr>
          <p:cNvPr id="4" name="Right Arrow 3"/>
          <p:cNvSpPr/>
          <p:nvPr/>
        </p:nvSpPr>
        <p:spPr>
          <a:xfrm rot="5400000">
            <a:off x="3218688" y="1965960"/>
            <a:ext cx="256032" cy="457200"/>
          </a:xfrm>
          <a:prstGeom prst="rightArrow">
            <a:avLst/>
          </a:prstGeom>
          <a:solidFill>
            <a:srgbClr val="5F5F5F"/>
          </a:solidFill>
          <a:ln>
            <a:noFill/>
          </a:ln>
        </p:spPr>
        <p:txBody>
          <a:bodyPr rtlCol="0" anchor="ctr"/>
          <a:lstStyle/>
          <a:p>
            <a:pPr algn="ctr"/>
          </a:p>
        </p:txBody>
      </p:sp>
      <p:sp>
        <p:nvSpPr>
          <p:cNvPr id="5" name="Right Arrow 4"/>
          <p:cNvSpPr/>
          <p:nvPr/>
        </p:nvSpPr>
        <p:spPr>
          <a:xfrm rot="5400000">
            <a:off x="6556248" y="1965960"/>
            <a:ext cx="256032" cy="457200"/>
          </a:xfrm>
          <a:prstGeom prst="rightArrow">
            <a:avLst/>
          </a:prstGeom>
          <a:solidFill>
            <a:srgbClr val="5F5F5F"/>
          </a:solidFill>
          <a:ln>
            <a:noFill/>
          </a:ln>
        </p:spPr>
        <p:txBody>
          <a:bodyPr rtlCol="0" anchor="ctr"/>
          <a:lstStyle/>
          <a:p>
            <a:pPr algn="ctr"/>
          </a:p>
        </p:txBody>
      </p:sp>
      <p:sp>
        <p:nvSpPr>
          <p:cNvPr id="6" name="Right Arrow 5"/>
          <p:cNvSpPr/>
          <p:nvPr/>
        </p:nvSpPr>
        <p:spPr>
          <a:xfrm rot="5400000">
            <a:off x="9893807" y="1965960"/>
            <a:ext cx="256032" cy="457200"/>
          </a:xfrm>
          <a:prstGeom prst="rightArrow">
            <a:avLst/>
          </a:prstGeom>
          <a:solidFill>
            <a:srgbClr val="5F5F5F"/>
          </a:solidFill>
          <a:ln>
            <a:noFill/>
          </a:ln>
        </p:spPr>
        <p:txBody>
          <a:bodyPr rtlCol="0" anchor="ctr"/>
          <a:lstStyle/>
          <a:p>
            <a:pPr algn="ctr"/>
          </a:p>
        </p:txBody>
      </p:sp>
      <p:sp>
        <p:nvSpPr>
          <p:cNvPr id="7" name="Rounded Rectangle 6"/>
          <p:cNvSpPr/>
          <p:nvPr/>
        </p:nvSpPr>
        <p:spPr>
          <a:xfrm>
            <a:off x="1280160" y="2560320"/>
            <a:ext cx="3291840" cy="28803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8" name="Oval 7"/>
          <p:cNvSpPr/>
          <p:nvPr/>
        </p:nvSpPr>
        <p:spPr>
          <a:xfrm>
            <a:off x="1426463" y="267004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1828800" y="2670048"/>
            <a:ext cx="26060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J'INSTALLE</a:t>
            </a:r>
          </a:p>
        </p:txBody>
      </p:sp>
      <p:sp>
        <p:nvSpPr>
          <p:cNvPr id="10" name="TextBox 9"/>
          <p:cNvSpPr txBox="1"/>
          <p:nvPr/>
        </p:nvSpPr>
        <p:spPr>
          <a:xfrm>
            <a:off x="1463039" y="3090672"/>
            <a:ext cx="2926080" cy="2258568"/>
          </a:xfrm>
          <a:prstGeom prst="rect">
            <a:avLst/>
          </a:prstGeom>
          <a:noFill/>
        </p:spPr>
        <p:txBody>
          <a:bodyPr wrap="square" lIns="0" rIns="0" tIns="0" bIns="0" anchor="t">
            <a:spAutoFit/>
          </a:bodyPr>
          <a:lstStyle/>
          <a:p>
            <a:pPr algn="l" marL="228600" indent="-228600">
              <a:spcBef>
                <a:spcPts val="0"/>
              </a:spcBef>
              <a:spcAft>
                <a:spcPts val="600"/>
              </a:spcAft>
              <a:buClr>
                <a:srgbClr val="1B7F3B"/>
              </a:buClr>
              <a:buFont typeface="Arial"/>
              <a:buChar char="•"/>
            </a:pPr>
            <a:r>
              <a:rPr sz="1500" b="0" i="0">
                <a:solidFill>
                  <a:srgbClr val="1A1A1A"/>
                </a:solidFill>
                <a:latin typeface="Arial"/>
              </a:rPr>
              <a:t>Prise conforme (terre, mesures OK)</a:t>
            </a:r>
          </a:p>
          <a:p>
            <a:pPr algn="l" marL="228600" indent="-228600">
              <a:spcBef>
                <a:spcPts val="0"/>
              </a:spcBef>
              <a:spcAft>
                <a:spcPts val="600"/>
              </a:spcAft>
              <a:buClr>
                <a:srgbClr val="1B7F3B"/>
              </a:buClr>
              <a:buFont typeface="Arial"/>
              <a:buChar char="•"/>
            </a:pPr>
            <a:r>
              <a:rPr sz="1500" b="0" i="0">
                <a:solidFill>
                  <a:srgbClr val="1A1A1A"/>
                </a:solidFill>
                <a:latin typeface="Arial"/>
              </a:rPr>
              <a:t>Protections adaptées à l'appareil</a:t>
            </a:r>
          </a:p>
          <a:p>
            <a:pPr algn="l" marL="228600" indent="-228600">
              <a:spcBef>
                <a:spcPts val="0"/>
              </a:spcBef>
              <a:spcAft>
                <a:spcPts val="600"/>
              </a:spcAft>
              <a:buClr>
                <a:srgbClr val="1B7F3B"/>
              </a:buClr>
              <a:buFont typeface="Arial"/>
              <a:buChar char="•"/>
            </a:pPr>
            <a:r>
              <a:rPr sz="1500" b="0" i="0">
                <a:solidFill>
                  <a:srgbClr val="1A1A1A"/>
                </a:solidFill>
                <a:latin typeface="Arial"/>
              </a:rPr>
              <a:t>Raccordement autorisé et compatible</a:t>
            </a:r>
          </a:p>
        </p:txBody>
      </p:sp>
      <p:sp>
        <p:nvSpPr>
          <p:cNvPr id="11" name="Rounded Rectangle 10"/>
          <p:cNvSpPr/>
          <p:nvPr/>
        </p:nvSpPr>
        <p:spPr>
          <a:xfrm>
            <a:off x="4663440" y="2560320"/>
            <a:ext cx="3291840" cy="288036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12" name="Oval 11"/>
          <p:cNvSpPr/>
          <p:nvPr/>
        </p:nvSpPr>
        <p:spPr>
          <a:xfrm>
            <a:off x="4809744" y="267004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5212079" y="2670048"/>
            <a:ext cx="26060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JE NE RACCORDE PAS ET JE NOTIFIE DANS NOMAD</a:t>
            </a:r>
          </a:p>
        </p:txBody>
      </p:sp>
      <p:sp>
        <p:nvSpPr>
          <p:cNvPr id="14" name="TextBox 13"/>
          <p:cNvSpPr txBox="1"/>
          <p:nvPr/>
        </p:nvSpPr>
        <p:spPr>
          <a:xfrm>
            <a:off x="4846320" y="3090672"/>
            <a:ext cx="2926080" cy="2258568"/>
          </a:xfrm>
          <a:prstGeom prst="rect">
            <a:avLst/>
          </a:prstGeom>
          <a:noFill/>
        </p:spPr>
        <p:txBody>
          <a:bodyPr wrap="square" lIns="0" rIns="0" tIns="0" bIns="0" anchor="t">
            <a:spAutoFit/>
          </a:bodyPr>
          <a:lstStyle/>
          <a:p>
            <a:pPr algn="l" marL="228600" indent="-228600">
              <a:spcBef>
                <a:spcPts val="0"/>
              </a:spcBef>
              <a:spcAft>
                <a:spcPts val="600"/>
              </a:spcAft>
              <a:buClr>
                <a:srgbClr val="D99100"/>
              </a:buClr>
              <a:buFont typeface="Arial"/>
              <a:buChar char="•"/>
            </a:pPr>
            <a:r>
              <a:rPr sz="1500" b="0" i="0">
                <a:solidFill>
                  <a:srgbClr val="1A1A1A"/>
                </a:solidFill>
                <a:latin typeface="Arial"/>
              </a:rPr>
              <a:t>Pas de terre, mauvaise terre, neutre coupé</a:t>
            </a:r>
          </a:p>
          <a:p>
            <a:pPr algn="l" marL="228600" indent="-228600">
              <a:spcBef>
                <a:spcPts val="0"/>
              </a:spcBef>
              <a:spcAft>
                <a:spcPts val="600"/>
              </a:spcAft>
              <a:buClr>
                <a:srgbClr val="D99100"/>
              </a:buClr>
              <a:buFont typeface="Arial"/>
              <a:buChar char="•"/>
            </a:pPr>
            <a:r>
              <a:rPr sz="1500" b="0" i="0">
                <a:solidFill>
                  <a:srgbClr val="1A1A1A"/>
                </a:solidFill>
                <a:latin typeface="Arial"/>
              </a:rPr>
              <a:t>Pot ou placo abîmé</a:t>
            </a:r>
          </a:p>
          <a:p>
            <a:pPr algn="l" marL="228600" indent="-228600">
              <a:spcBef>
                <a:spcPts val="0"/>
              </a:spcBef>
              <a:spcAft>
                <a:spcPts val="600"/>
              </a:spcAft>
              <a:buClr>
                <a:srgbClr val="D99100"/>
              </a:buClr>
              <a:buFont typeface="Arial"/>
              <a:buChar char="•"/>
            </a:pPr>
            <a:r>
              <a:rPr sz="1500" b="0" i="0">
                <a:solidFill>
                  <a:srgbClr val="1A1A1A"/>
                </a:solidFill>
                <a:latin typeface="Arial"/>
              </a:rPr>
              <a:t>Incompatibilité (mono / tri, bagues…)</a:t>
            </a:r>
          </a:p>
          <a:p>
            <a:pPr algn="l" marL="228600" indent="-228600">
              <a:spcBef>
                <a:spcPts val="0"/>
              </a:spcBef>
              <a:spcAft>
                <a:spcPts val="600"/>
              </a:spcAft>
              <a:buClr>
                <a:srgbClr val="D99100"/>
              </a:buClr>
              <a:buFont typeface="Arial"/>
              <a:buChar char="•"/>
            </a:pPr>
            <a:r>
              <a:rPr sz="1500" b="0" i="0">
                <a:solidFill>
                  <a:srgbClr val="1A1A1A"/>
                </a:solidFill>
                <a:latin typeface="Arial"/>
              </a:rPr>
              <a:t>Appareil laissé débranché</a:t>
            </a:r>
          </a:p>
        </p:txBody>
      </p:sp>
      <p:sp>
        <p:nvSpPr>
          <p:cNvPr id="15" name="Rounded Rectangle 14"/>
          <p:cNvSpPr/>
          <p:nvPr/>
        </p:nvSpPr>
        <p:spPr>
          <a:xfrm>
            <a:off x="8046720" y="2560320"/>
            <a:ext cx="3383280" cy="288036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6" name="Oval 15"/>
          <p:cNvSpPr/>
          <p:nvPr/>
        </p:nvSpPr>
        <p:spPr>
          <a:xfrm>
            <a:off x="8193024" y="26700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7" name="TextBox 16"/>
          <p:cNvSpPr txBox="1"/>
          <p:nvPr/>
        </p:nvSpPr>
        <p:spPr>
          <a:xfrm>
            <a:off x="8595360" y="2670048"/>
            <a:ext cx="26974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LE CLIENT FAIT INTERVENIR UN ÉLECTRICIEN</a:t>
            </a:r>
          </a:p>
        </p:txBody>
      </p:sp>
      <p:sp>
        <p:nvSpPr>
          <p:cNvPr id="18" name="TextBox 17"/>
          <p:cNvSpPr txBox="1"/>
          <p:nvPr/>
        </p:nvSpPr>
        <p:spPr>
          <a:xfrm>
            <a:off x="8229600" y="3090672"/>
            <a:ext cx="3017520" cy="2258568"/>
          </a:xfrm>
          <a:prstGeom prst="rect">
            <a:avLst/>
          </a:prstGeom>
          <a:noFill/>
        </p:spPr>
        <p:txBody>
          <a:bodyPr wrap="square" lIns="0" rIns="0" tIns="0" bIns="0" anchor="t">
            <a:spAutoFit/>
          </a:bodyPr>
          <a:lstStyle/>
          <a:p>
            <a:pPr algn="l" marL="228600" indent="-228600">
              <a:spcBef>
                <a:spcPts val="0"/>
              </a:spcBef>
              <a:spcAft>
                <a:spcPts val="600"/>
              </a:spcAft>
              <a:buClr>
                <a:srgbClr val="0E2841"/>
              </a:buClr>
              <a:buFont typeface="Arial"/>
              <a:buChar char="•"/>
            </a:pPr>
            <a:r>
              <a:rPr sz="1500" b="0" i="0">
                <a:solidFill>
                  <a:srgbClr val="1A1A1A"/>
                </a:solidFill>
                <a:latin typeface="Arial"/>
              </a:rPr>
              <a:t>Protection non adaptée à remplacer</a:t>
            </a:r>
          </a:p>
          <a:p>
            <a:pPr algn="l" marL="228600" indent="-228600">
              <a:spcBef>
                <a:spcPts val="0"/>
              </a:spcBef>
              <a:spcAft>
                <a:spcPts val="600"/>
              </a:spcAft>
              <a:buClr>
                <a:srgbClr val="0E2841"/>
              </a:buClr>
              <a:buFont typeface="Arial"/>
              <a:buChar char="•"/>
            </a:pPr>
            <a:r>
              <a:rPr sz="1500" b="0" i="0">
                <a:solidFill>
                  <a:srgbClr val="1A1A1A"/>
                </a:solidFill>
                <a:latin typeface="Arial"/>
              </a:rPr>
              <a:t>Installation à remettre en conformité</a:t>
            </a:r>
          </a:p>
          <a:p>
            <a:pPr algn="l" marL="228600" indent="-228600">
              <a:spcBef>
                <a:spcPts val="0"/>
              </a:spcBef>
              <a:spcAft>
                <a:spcPts val="600"/>
              </a:spcAft>
              <a:buClr>
                <a:srgbClr val="0E2841"/>
              </a:buClr>
              <a:buFont typeface="Arial"/>
              <a:buChar char="•"/>
            </a:pPr>
            <a:r>
              <a:rPr sz="1500" b="0" i="0">
                <a:solidFill>
                  <a:srgbClr val="1A1A1A"/>
                </a:solidFill>
                <a:latin typeface="Arial"/>
              </a:rPr>
              <a:t>Je ne modifie rien moi-même</a:t>
            </a:r>
          </a:p>
        </p:txBody>
      </p:sp>
      <p:sp>
        <p:nvSpPr>
          <p:cNvPr id="19" name="Rounded Rectangle 18"/>
          <p:cNvSpPr/>
          <p:nvPr/>
        </p:nvSpPr>
        <p:spPr>
          <a:xfrm>
            <a:off x="1280160" y="5623560"/>
            <a:ext cx="9509760" cy="566928"/>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En cas de doute : je ne branche pas.</a:t>
            </a:r>
          </a:p>
        </p:txBody>
      </p:sp>
      <p:sp>
        <p:nvSpPr>
          <p:cNvPr id="20" name="TextBox 1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1 · Rôle et limites d'intervention  ·  Académie Fnac Darty</a:t>
            </a:r>
          </a:p>
        </p:txBody>
      </p:sp>
      <p:sp>
        <p:nvSpPr>
          <p:cNvPr id="21" name="TextBox 2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6 /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Le VAT : le seul appareil réglementaire</a:t>
            </a:r>
          </a:p>
        </p:txBody>
      </p:sp>
      <p:sp>
        <p:nvSpPr>
          <p:cNvPr id="3" name="Rounded Rectangle 2"/>
          <p:cNvSpPr/>
          <p:nvPr/>
        </p:nvSpPr>
        <p:spPr>
          <a:xfrm>
            <a:off x="1280160" y="1371600"/>
            <a:ext cx="3200400" cy="2331720"/>
          </a:xfrm>
          <a:prstGeom prst="roundRect">
            <a:avLst>
              <a:gd name="adj" fmla="val 4000"/>
            </a:avLst>
          </a:prstGeom>
          <a:solidFill>
            <a:srgbClr val="FFFFFF"/>
          </a:solidFill>
          <a:ln w="25400">
            <a:solidFill>
              <a:srgbClr val="1B7F3B"/>
            </a:solidFill>
          </a:ln>
        </p:spPr>
        <p:txBody>
          <a:bodyPr rtlCol="0" anchor="ctr"/>
          <a:lstStyle/>
          <a:p>
            <a:pPr algn="ctr"/>
          </a:p>
        </p:txBody>
      </p:sp>
      <p:pic>
        <p:nvPicPr>
          <p:cNvPr id="4" name="Picture 3" descr="s02_04.jpg"/>
          <p:cNvPicPr>
            <a:picLocks noChangeAspect="1"/>
          </p:cNvPicPr>
          <p:nvPr/>
        </p:nvPicPr>
        <p:blipFill>
          <a:blip r:embed="rId3"/>
          <a:stretch>
            <a:fillRect/>
          </a:stretch>
        </p:blipFill>
        <p:spPr>
          <a:xfrm>
            <a:off x="1805939" y="1463040"/>
            <a:ext cx="2148840" cy="2148840"/>
          </a:xfrm>
          <a:prstGeom prst="rect">
            <a:avLst/>
          </a:prstGeom>
        </p:spPr>
      </p:pic>
      <p:sp>
        <p:nvSpPr>
          <p:cNvPr id="5" name="Oval 4"/>
          <p:cNvSpPr/>
          <p:nvPr/>
        </p:nvSpPr>
        <p:spPr>
          <a:xfrm>
            <a:off x="1371600" y="1463040"/>
            <a:ext cx="365760" cy="365760"/>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6" name="TextBox 5"/>
          <p:cNvSpPr txBox="1"/>
          <p:nvPr/>
        </p:nvSpPr>
        <p:spPr>
          <a:xfrm>
            <a:off x="1280160" y="3749039"/>
            <a:ext cx="3200400" cy="320040"/>
          </a:xfrm>
          <a:prstGeom prst="rect">
            <a:avLst/>
          </a:prstGeom>
          <a:noFill/>
        </p:spPr>
        <p:txBody>
          <a:bodyPr wrap="square" lIns="0" rIns="0" tIns="0" bIns="0" anchor="t">
            <a:spAutoFit/>
          </a:bodyPr>
          <a:lstStyle/>
          <a:p>
            <a:pPr algn="ctr">
              <a:spcBef>
                <a:spcPts val="0"/>
              </a:spcBef>
              <a:spcAft>
                <a:spcPts val="400"/>
              </a:spcAft>
            </a:pPr>
            <a:r>
              <a:rPr sz="1400" b="1" i="0">
                <a:solidFill>
                  <a:srgbClr val="1B7F3B"/>
                </a:solidFill>
                <a:latin typeface="Arial"/>
              </a:rPr>
              <a:t>VAT : l'appareil réglementaire</a:t>
            </a:r>
          </a:p>
        </p:txBody>
      </p:sp>
      <p:sp>
        <p:nvSpPr>
          <p:cNvPr id="7" name="Rounded Rectangle 6"/>
          <p:cNvSpPr/>
          <p:nvPr/>
        </p:nvSpPr>
        <p:spPr>
          <a:xfrm>
            <a:off x="4709160" y="1371600"/>
            <a:ext cx="3200400" cy="2331720"/>
          </a:xfrm>
          <a:prstGeom prst="roundRect">
            <a:avLst>
              <a:gd name="adj" fmla="val 4000"/>
            </a:avLst>
          </a:prstGeom>
          <a:solidFill>
            <a:srgbClr val="FFFFFF"/>
          </a:solidFill>
          <a:ln w="25400">
            <a:solidFill>
              <a:srgbClr val="C8102E"/>
            </a:solidFill>
          </a:ln>
        </p:spPr>
        <p:txBody>
          <a:bodyPr rtlCol="0" anchor="ctr"/>
          <a:lstStyle/>
          <a:p>
            <a:pPr algn="ctr"/>
          </a:p>
        </p:txBody>
      </p:sp>
      <p:pic>
        <p:nvPicPr>
          <p:cNvPr id="8" name="Picture 7" descr="s01_01.jpg"/>
          <p:cNvPicPr>
            <a:picLocks noChangeAspect="1"/>
          </p:cNvPicPr>
          <p:nvPr/>
        </p:nvPicPr>
        <p:blipFill>
          <a:blip r:embed="rId4"/>
          <a:stretch>
            <a:fillRect/>
          </a:stretch>
        </p:blipFill>
        <p:spPr>
          <a:xfrm>
            <a:off x="4800600" y="1683501"/>
            <a:ext cx="3017520" cy="1707916"/>
          </a:xfrm>
          <a:prstGeom prst="rect">
            <a:avLst/>
          </a:prstGeom>
        </p:spPr>
      </p:pic>
      <p:sp>
        <p:nvSpPr>
          <p:cNvPr id="9" name="Oval 8"/>
          <p:cNvSpPr/>
          <p:nvPr/>
        </p:nvSpPr>
        <p:spPr>
          <a:xfrm>
            <a:off x="4800600" y="1463040"/>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10" name="TextBox 9"/>
          <p:cNvSpPr txBox="1"/>
          <p:nvPr/>
        </p:nvSpPr>
        <p:spPr>
          <a:xfrm>
            <a:off x="4709160" y="3749039"/>
            <a:ext cx="3200400" cy="320040"/>
          </a:xfrm>
          <a:prstGeom prst="rect">
            <a:avLst/>
          </a:prstGeom>
          <a:noFill/>
        </p:spPr>
        <p:txBody>
          <a:bodyPr wrap="square" lIns="0" rIns="0" tIns="0" bIns="0" anchor="t">
            <a:spAutoFit/>
          </a:bodyPr>
          <a:lstStyle/>
          <a:p>
            <a:pPr algn="ctr">
              <a:spcBef>
                <a:spcPts val="0"/>
              </a:spcBef>
              <a:spcAft>
                <a:spcPts val="400"/>
              </a:spcAft>
            </a:pPr>
            <a:r>
              <a:rPr sz="1400" b="1" i="0">
                <a:solidFill>
                  <a:srgbClr val="C8102E"/>
                </a:solidFill>
                <a:latin typeface="Arial"/>
              </a:rPr>
              <a:t>Tournevis testeur : interdit</a:t>
            </a:r>
          </a:p>
        </p:txBody>
      </p:sp>
      <p:sp>
        <p:nvSpPr>
          <p:cNvPr id="11" name="Rounded Rectangle 10"/>
          <p:cNvSpPr/>
          <p:nvPr/>
        </p:nvSpPr>
        <p:spPr>
          <a:xfrm>
            <a:off x="8138160" y="1371600"/>
            <a:ext cx="3200400" cy="2331720"/>
          </a:xfrm>
          <a:prstGeom prst="roundRect">
            <a:avLst>
              <a:gd name="adj" fmla="val 4000"/>
            </a:avLst>
          </a:prstGeom>
          <a:solidFill>
            <a:srgbClr val="FFFFFF"/>
          </a:solidFill>
          <a:ln w="25400">
            <a:solidFill>
              <a:srgbClr val="C8102E"/>
            </a:solidFill>
          </a:ln>
        </p:spPr>
        <p:txBody>
          <a:bodyPr rtlCol="0" anchor="ctr"/>
          <a:lstStyle/>
          <a:p>
            <a:pPr algn="ctr"/>
          </a:p>
        </p:txBody>
      </p:sp>
      <p:pic>
        <p:nvPicPr>
          <p:cNvPr id="12" name="Picture 11" descr="s01_02.jpg"/>
          <p:cNvPicPr>
            <a:picLocks noChangeAspect="1"/>
          </p:cNvPicPr>
          <p:nvPr/>
        </p:nvPicPr>
        <p:blipFill>
          <a:blip r:embed="rId5"/>
          <a:stretch>
            <a:fillRect/>
          </a:stretch>
        </p:blipFill>
        <p:spPr>
          <a:xfrm>
            <a:off x="8642902" y="1463040"/>
            <a:ext cx="2190915" cy="2148840"/>
          </a:xfrm>
          <a:prstGeom prst="rect">
            <a:avLst/>
          </a:prstGeom>
        </p:spPr>
      </p:pic>
      <p:sp>
        <p:nvSpPr>
          <p:cNvPr id="13" name="Oval 12"/>
          <p:cNvSpPr/>
          <p:nvPr/>
        </p:nvSpPr>
        <p:spPr>
          <a:xfrm>
            <a:off x="8229600" y="1463040"/>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14" name="TextBox 13"/>
          <p:cNvSpPr txBox="1"/>
          <p:nvPr/>
        </p:nvSpPr>
        <p:spPr>
          <a:xfrm>
            <a:off x="8138160" y="3749039"/>
            <a:ext cx="3200400" cy="320040"/>
          </a:xfrm>
          <a:prstGeom prst="rect">
            <a:avLst/>
          </a:prstGeom>
          <a:noFill/>
        </p:spPr>
        <p:txBody>
          <a:bodyPr wrap="square" lIns="0" rIns="0" tIns="0" bIns="0" anchor="t">
            <a:spAutoFit/>
          </a:bodyPr>
          <a:lstStyle/>
          <a:p>
            <a:pPr algn="ctr">
              <a:spcBef>
                <a:spcPts val="0"/>
              </a:spcBef>
              <a:spcAft>
                <a:spcPts val="400"/>
              </a:spcAft>
            </a:pPr>
            <a:r>
              <a:rPr sz="1400" b="1" i="0">
                <a:solidFill>
                  <a:srgbClr val="C8102E"/>
                </a:solidFill>
                <a:latin typeface="Arial"/>
              </a:rPr>
              <a:t>Multimètre : interdit</a:t>
            </a:r>
          </a:p>
        </p:txBody>
      </p:sp>
      <p:sp>
        <p:nvSpPr>
          <p:cNvPr id="15" name="Rounded Rectangle 14"/>
          <p:cNvSpPr/>
          <p:nvPr/>
        </p:nvSpPr>
        <p:spPr>
          <a:xfrm>
            <a:off x="1280160" y="4206240"/>
            <a:ext cx="4937760" cy="132588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6" name="Oval 15"/>
          <p:cNvSpPr/>
          <p:nvPr/>
        </p:nvSpPr>
        <p:spPr>
          <a:xfrm>
            <a:off x="1426463" y="43159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7" name="TextBox 16"/>
          <p:cNvSpPr txBox="1"/>
          <p:nvPr/>
        </p:nvSpPr>
        <p:spPr>
          <a:xfrm>
            <a:off x="1828800" y="4315968"/>
            <a:ext cx="4251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a:t>
            </a:r>
          </a:p>
        </p:txBody>
      </p:sp>
      <p:sp>
        <p:nvSpPr>
          <p:cNvPr id="18" name="TextBox 17"/>
          <p:cNvSpPr txBox="1"/>
          <p:nvPr/>
        </p:nvSpPr>
        <p:spPr>
          <a:xfrm>
            <a:off x="1463039" y="4736592"/>
            <a:ext cx="4572000" cy="704087"/>
          </a:xfrm>
          <a:prstGeom prst="rect">
            <a:avLst/>
          </a:prstGeom>
          <a:noFill/>
        </p:spPr>
        <p:txBody>
          <a:bodyPr wrap="square" lIns="0" rIns="0" tIns="0" bIns="0" anchor="t">
            <a:spAutoFit/>
          </a:bodyPr>
          <a:lstStyle/>
          <a:p>
            <a:pPr algn="l">
              <a:spcBef>
                <a:spcPts val="0"/>
              </a:spcBef>
              <a:spcAft>
                <a:spcPts val="400"/>
              </a:spcAft>
            </a:pPr>
            <a:r>
              <a:rPr sz="1500" b="0" i="0">
                <a:solidFill>
                  <a:srgbClr val="1A1A1A"/>
                </a:solidFill>
                <a:latin typeface="Arial"/>
              </a:rPr>
              <a:t>VAT conforme </a:t>
            </a:r>
            <a:r>
              <a:rPr sz="1500" b="1" i="0">
                <a:solidFill>
                  <a:srgbClr val="1A1A1A"/>
                </a:solidFill>
                <a:latin typeface="Arial"/>
              </a:rPr>
              <a:t>NF C 18-510</a:t>
            </a:r>
            <a:r>
              <a:rPr sz="1500" b="0" i="0">
                <a:solidFill>
                  <a:srgbClr val="1A1A1A"/>
                </a:solidFill>
                <a:latin typeface="Arial"/>
              </a:rPr>
              <a:t>, marquage </a:t>
            </a:r>
            <a:r>
              <a:rPr sz="1500" b="1" i="0">
                <a:solidFill>
                  <a:srgbClr val="1A1A1A"/>
                </a:solidFill>
                <a:latin typeface="Arial"/>
              </a:rPr>
              <a:t>EN 61243-3</a:t>
            </a:r>
          </a:p>
        </p:txBody>
      </p:sp>
      <p:sp>
        <p:nvSpPr>
          <p:cNvPr id="19" name="Rounded Rectangle 18"/>
          <p:cNvSpPr/>
          <p:nvPr/>
        </p:nvSpPr>
        <p:spPr>
          <a:xfrm>
            <a:off x="6400800" y="4206240"/>
            <a:ext cx="5029200" cy="132588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20" name="Oval 19"/>
          <p:cNvSpPr/>
          <p:nvPr/>
        </p:nvSpPr>
        <p:spPr>
          <a:xfrm>
            <a:off x="6547104" y="431596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1" name="TextBox 20"/>
          <p:cNvSpPr txBox="1"/>
          <p:nvPr/>
        </p:nvSpPr>
        <p:spPr>
          <a:xfrm>
            <a:off x="6949440" y="4315968"/>
            <a:ext cx="43434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22" name="TextBox 21"/>
          <p:cNvSpPr txBox="1"/>
          <p:nvPr/>
        </p:nvSpPr>
        <p:spPr>
          <a:xfrm>
            <a:off x="6583680" y="4736592"/>
            <a:ext cx="4663440" cy="704087"/>
          </a:xfrm>
          <a:prstGeom prst="rect">
            <a:avLst/>
          </a:prstGeom>
          <a:noFill/>
        </p:spPr>
        <p:txBody>
          <a:bodyPr wrap="square" lIns="0" rIns="0" tIns="0" bIns="0" anchor="t">
            <a:spAutoFit/>
          </a:bodyPr>
          <a:lstStyle/>
          <a:p>
            <a:pPr algn="l">
              <a:spcBef>
                <a:spcPts val="0"/>
              </a:spcBef>
              <a:spcAft>
                <a:spcPts val="400"/>
              </a:spcAft>
            </a:pPr>
            <a:r>
              <a:rPr sz="1500" b="1" i="0">
                <a:solidFill>
                  <a:srgbClr val="1A1A1A"/>
                </a:solidFill>
                <a:latin typeface="Arial"/>
              </a:rPr>
              <a:t>EPI obligatoires.</a:t>
            </a:r>
            <a:r>
              <a:rPr sz="1500" b="0" i="0">
                <a:solidFill>
                  <a:srgbClr val="1A1A1A"/>
                </a:solidFill>
                <a:latin typeface="Arial"/>
              </a:rPr>
              <a:t> Je travaille sur une installation aux normes NF C 15-100</a:t>
            </a:r>
          </a:p>
        </p:txBody>
      </p:sp>
      <p:sp>
        <p:nvSpPr>
          <p:cNvPr id="23" name="TextBox 22"/>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4" name="Rounded Rectangle 23"/>
          <p:cNvSpPr/>
          <p:nvPr/>
        </p:nvSpPr>
        <p:spPr>
          <a:xfrm>
            <a:off x="2148839" y="585216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VAT</a:t>
            </a:r>
          </a:p>
        </p:txBody>
      </p:sp>
      <p:sp>
        <p:nvSpPr>
          <p:cNvPr id="25" name="Rounded Rectangle 24"/>
          <p:cNvSpPr/>
          <p:nvPr/>
        </p:nvSpPr>
        <p:spPr>
          <a:xfrm>
            <a:off x="2766974" y="585216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EPI</a:t>
            </a:r>
          </a:p>
        </p:txBody>
      </p:sp>
      <p:sp>
        <p:nvSpPr>
          <p:cNvPr id="26" name="TextBox 2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7" name="TextBox 2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7 /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Avant chaque contrôle : l'auto-test du VAT</a:t>
            </a:r>
          </a:p>
        </p:txBody>
      </p:sp>
      <p:pic>
        <p:nvPicPr>
          <p:cNvPr id="3" name="Auto_test_VAT_CA762.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280160" y="1417320"/>
            <a:ext cx="5669280" cy="3191256"/>
          </a:xfrm>
          <a:prstGeom prst="rect">
            <a:avLst/>
          </a:prstGeom>
        </p:spPr>
      </p:pic>
      <p:sp>
        <p:nvSpPr>
          <p:cNvPr id="4" name="TextBox 3"/>
          <p:cNvSpPr txBox="1"/>
          <p:nvPr/>
        </p:nvSpPr>
        <p:spPr>
          <a:xfrm>
            <a:off x="1280160" y="4663440"/>
            <a:ext cx="566928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Vidéo facultative : auto-test du détecteur C.A 762</a:t>
            </a:r>
          </a:p>
        </p:txBody>
      </p:sp>
      <p:sp>
        <p:nvSpPr>
          <p:cNvPr id="5" name="Rounded Rectangle 4"/>
          <p:cNvSpPr/>
          <p:nvPr/>
        </p:nvSpPr>
        <p:spPr>
          <a:xfrm>
            <a:off x="7315200" y="1417320"/>
            <a:ext cx="4114800" cy="804672"/>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6" name="Oval 5"/>
          <p:cNvSpPr/>
          <p:nvPr/>
        </p:nvSpPr>
        <p:spPr>
          <a:xfrm>
            <a:off x="7424927" y="160020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1</a:t>
            </a:r>
          </a:p>
        </p:txBody>
      </p:sp>
      <p:sp>
        <p:nvSpPr>
          <p:cNvPr id="7" name="TextBox 6"/>
          <p:cNvSpPr txBox="1"/>
          <p:nvPr/>
        </p:nvSpPr>
        <p:spPr>
          <a:xfrm>
            <a:off x="7973568" y="1472184"/>
            <a:ext cx="3383280" cy="713232"/>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Brancher</a:t>
            </a:r>
          </a:p>
          <a:p>
            <a:pPr algn="l">
              <a:spcBef>
                <a:spcPts val="0"/>
              </a:spcBef>
              <a:spcAft>
                <a:spcPts val="400"/>
              </a:spcAft>
            </a:pPr>
            <a:r>
              <a:rPr sz="1300" b="0" i="0">
                <a:solidFill>
                  <a:srgbClr val="1A1A1A"/>
                </a:solidFill>
                <a:latin typeface="Arial"/>
              </a:rPr>
              <a:t>Pointe rouge sur +, cordon noir sur COM</a:t>
            </a:r>
          </a:p>
        </p:txBody>
      </p:sp>
      <p:sp>
        <p:nvSpPr>
          <p:cNvPr id="8" name="Rounded Rectangle 7"/>
          <p:cNvSpPr/>
          <p:nvPr/>
        </p:nvSpPr>
        <p:spPr>
          <a:xfrm>
            <a:off x="7315200" y="2331720"/>
            <a:ext cx="4114800" cy="804672"/>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9" name="Oval 8"/>
          <p:cNvSpPr/>
          <p:nvPr/>
        </p:nvSpPr>
        <p:spPr>
          <a:xfrm>
            <a:off x="7424927" y="251460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2</a:t>
            </a:r>
          </a:p>
        </p:txBody>
      </p:sp>
      <p:sp>
        <p:nvSpPr>
          <p:cNvPr id="10" name="TextBox 9"/>
          <p:cNvSpPr txBox="1"/>
          <p:nvPr/>
        </p:nvSpPr>
        <p:spPr>
          <a:xfrm>
            <a:off x="7973568" y="2386584"/>
            <a:ext cx="3383280" cy="713232"/>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Mettre en contact</a:t>
            </a:r>
          </a:p>
          <a:p>
            <a:pPr algn="l">
              <a:spcBef>
                <a:spcPts val="0"/>
              </a:spcBef>
              <a:spcAft>
                <a:spcPts val="400"/>
              </a:spcAft>
            </a:pPr>
            <a:r>
              <a:rPr sz="1300" b="0" i="0">
                <a:solidFill>
                  <a:srgbClr val="1A1A1A"/>
                </a:solidFill>
                <a:latin typeface="Arial"/>
              </a:rPr>
              <a:t>Les 2 pointes l'une contre l'autre</a:t>
            </a:r>
          </a:p>
        </p:txBody>
      </p:sp>
      <p:sp>
        <p:nvSpPr>
          <p:cNvPr id="11" name="Rounded Rectangle 10"/>
          <p:cNvSpPr/>
          <p:nvPr/>
        </p:nvSpPr>
        <p:spPr>
          <a:xfrm>
            <a:off x="7315200" y="3246120"/>
            <a:ext cx="4114800" cy="804672"/>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12" name="Oval 11"/>
          <p:cNvSpPr/>
          <p:nvPr/>
        </p:nvSpPr>
        <p:spPr>
          <a:xfrm>
            <a:off x="7424927" y="342900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3</a:t>
            </a:r>
          </a:p>
        </p:txBody>
      </p:sp>
      <p:sp>
        <p:nvSpPr>
          <p:cNvPr id="13" name="TextBox 12"/>
          <p:cNvSpPr txBox="1"/>
          <p:nvPr/>
        </p:nvSpPr>
        <p:spPr>
          <a:xfrm>
            <a:off x="7973568" y="3300984"/>
            <a:ext cx="3383280" cy="713232"/>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Maintenir AUTO TEST</a:t>
            </a:r>
          </a:p>
          <a:p>
            <a:pPr algn="l">
              <a:spcBef>
                <a:spcPts val="0"/>
              </a:spcBef>
              <a:spcAft>
                <a:spcPts val="400"/>
              </a:spcAft>
            </a:pPr>
            <a:r>
              <a:rPr sz="1300" b="0" i="0">
                <a:solidFill>
                  <a:srgbClr val="1A1A1A"/>
                </a:solidFill>
                <a:latin typeface="Arial"/>
              </a:rPr>
              <a:t>Le bouton reste appuyé</a:t>
            </a:r>
          </a:p>
        </p:txBody>
      </p:sp>
      <p:sp>
        <p:nvSpPr>
          <p:cNvPr id="14" name="Rounded Rectangle 13"/>
          <p:cNvSpPr/>
          <p:nvPr/>
        </p:nvSpPr>
        <p:spPr>
          <a:xfrm>
            <a:off x="7315200" y="4206240"/>
            <a:ext cx="1965960" cy="137160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5" name="Oval 14"/>
          <p:cNvSpPr/>
          <p:nvPr/>
        </p:nvSpPr>
        <p:spPr>
          <a:xfrm>
            <a:off x="7461504" y="43159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6" name="TextBox 15"/>
          <p:cNvSpPr txBox="1"/>
          <p:nvPr/>
        </p:nvSpPr>
        <p:spPr>
          <a:xfrm>
            <a:off x="7863840" y="4315968"/>
            <a:ext cx="12801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OK</a:t>
            </a:r>
          </a:p>
        </p:txBody>
      </p:sp>
      <p:sp>
        <p:nvSpPr>
          <p:cNvPr id="17" name="TextBox 16"/>
          <p:cNvSpPr txBox="1"/>
          <p:nvPr/>
        </p:nvSpPr>
        <p:spPr>
          <a:xfrm>
            <a:off x="7498079" y="4736592"/>
            <a:ext cx="1600200" cy="749808"/>
          </a:xfrm>
          <a:prstGeom prst="rect">
            <a:avLst/>
          </a:prstGeom>
          <a:noFill/>
        </p:spPr>
        <p:txBody>
          <a:bodyPr wrap="square" lIns="0" rIns="0" tIns="0" bIns="0" anchor="t">
            <a:spAutoFit/>
          </a:bodyPr>
          <a:lstStyle/>
          <a:p>
            <a:pPr algn="l">
              <a:spcBef>
                <a:spcPts val="0"/>
              </a:spcBef>
              <a:spcAft>
                <a:spcPts val="400"/>
              </a:spcAft>
            </a:pPr>
            <a:r>
              <a:rPr sz="1300" b="0" i="0">
                <a:solidFill>
                  <a:srgbClr val="1A1A1A"/>
                </a:solidFill>
                <a:latin typeface="Arial"/>
              </a:rPr>
              <a:t>Voyants + bip : </a:t>
            </a:r>
            <a:r>
              <a:rPr sz="1300" b="1" i="0">
                <a:solidFill>
                  <a:srgbClr val="1A1A1A"/>
                </a:solidFill>
                <a:latin typeface="Arial"/>
              </a:rPr>
              <a:t>utilisable</a:t>
            </a:r>
          </a:p>
        </p:txBody>
      </p:sp>
      <p:sp>
        <p:nvSpPr>
          <p:cNvPr id="18" name="Rounded Rectangle 17"/>
          <p:cNvSpPr/>
          <p:nvPr/>
        </p:nvSpPr>
        <p:spPr>
          <a:xfrm>
            <a:off x="9418320" y="4206240"/>
            <a:ext cx="2011680" cy="137160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9" name="Oval 18"/>
          <p:cNvSpPr/>
          <p:nvPr/>
        </p:nvSpPr>
        <p:spPr>
          <a:xfrm>
            <a:off x="9564624" y="431596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0" name="TextBox 19"/>
          <p:cNvSpPr txBox="1"/>
          <p:nvPr/>
        </p:nvSpPr>
        <p:spPr>
          <a:xfrm>
            <a:off x="9966960" y="4315968"/>
            <a:ext cx="13258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ÉCHEC</a:t>
            </a:r>
          </a:p>
        </p:txBody>
      </p:sp>
      <p:sp>
        <p:nvSpPr>
          <p:cNvPr id="21" name="TextBox 20"/>
          <p:cNvSpPr txBox="1"/>
          <p:nvPr/>
        </p:nvSpPr>
        <p:spPr>
          <a:xfrm>
            <a:off x="9601200" y="4736592"/>
            <a:ext cx="1645920" cy="749808"/>
          </a:xfrm>
          <a:prstGeom prst="rect">
            <a:avLst/>
          </a:prstGeom>
          <a:noFill/>
        </p:spPr>
        <p:txBody>
          <a:bodyPr wrap="square" lIns="0" rIns="0" tIns="0" bIns="0" anchor="t">
            <a:spAutoFit/>
          </a:bodyPr>
          <a:lstStyle/>
          <a:p>
            <a:pPr algn="l">
              <a:spcBef>
                <a:spcPts val="0"/>
              </a:spcBef>
              <a:spcAft>
                <a:spcPts val="400"/>
              </a:spcAft>
            </a:pPr>
            <a:r>
              <a:rPr sz="1300" b="0" i="0">
                <a:solidFill>
                  <a:srgbClr val="1A1A1A"/>
                </a:solidFill>
                <a:latin typeface="Arial"/>
              </a:rPr>
              <a:t>Sinon : cordons, piles. Échec persistant : </a:t>
            </a:r>
            <a:r>
              <a:rPr sz="1300" b="1" i="0">
                <a:solidFill>
                  <a:srgbClr val="1A1A1A"/>
                </a:solidFill>
                <a:latin typeface="Arial"/>
              </a:rPr>
              <a:t>hors service</a:t>
            </a:r>
          </a:p>
        </p:txBody>
      </p:sp>
      <p:sp>
        <p:nvSpPr>
          <p:cNvPr id="22" name="Rounded Rectangle 21"/>
          <p:cNvSpPr/>
          <p:nvPr/>
        </p:nvSpPr>
        <p:spPr>
          <a:xfrm>
            <a:off x="1280160" y="5715000"/>
            <a:ext cx="5669280" cy="50292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500" b="1" i="0">
                <a:solidFill>
                  <a:srgbClr val="FFFFFF"/>
                </a:solidFill>
                <a:latin typeface="Arial"/>
              </a:rPr>
              <a:t>À faire avant ET après chaque contrôle</a:t>
            </a:r>
          </a:p>
        </p:txBody>
      </p:sp>
      <p:sp>
        <p:nvSpPr>
          <p:cNvPr id="23" name="TextBox 2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4" name="TextBox 2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8 / 54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Contrôler la prise : les valeurs d'une prise conforme</a:t>
            </a:r>
          </a:p>
        </p:txBody>
      </p:sp>
      <p:sp>
        <p:nvSpPr>
          <p:cNvPr id="3" name="Rounded Rectangle 2"/>
          <p:cNvSpPr/>
          <p:nvPr/>
        </p:nvSpPr>
        <p:spPr>
          <a:xfrm>
            <a:off x="1280160" y="1371600"/>
            <a:ext cx="5760720" cy="3657600"/>
          </a:xfrm>
          <a:prstGeom prst="roundRect">
            <a:avLst>
              <a:gd name="adj" fmla="val 3000"/>
            </a:avLst>
          </a:prstGeom>
          <a:solidFill>
            <a:srgbClr val="000000"/>
          </a:solidFill>
          <a:ln>
            <a:noFill/>
          </a:ln>
        </p:spPr>
        <p:txBody>
          <a:bodyPr rtlCol="0" anchor="ctr"/>
          <a:lstStyle/>
          <a:p>
            <a:pPr algn="ctr"/>
          </a:p>
        </p:txBody>
      </p:sp>
      <p:pic>
        <p:nvPicPr>
          <p:cNvPr id="4" name="Picture 3" descr="12_Controle_prise_OK.png"/>
          <p:cNvPicPr>
            <a:picLocks noChangeAspect="1"/>
          </p:cNvPicPr>
          <p:nvPr/>
        </p:nvPicPr>
        <p:blipFill>
          <a:blip r:embed="rId3"/>
          <a:stretch>
            <a:fillRect/>
          </a:stretch>
        </p:blipFill>
        <p:spPr>
          <a:xfrm>
            <a:off x="1339190" y="1417319"/>
            <a:ext cx="5642658" cy="3566160"/>
          </a:xfrm>
          <a:prstGeom prst="rect">
            <a:avLst/>
          </a:prstGeom>
        </p:spPr>
      </p:pic>
      <p:sp>
        <p:nvSpPr>
          <p:cNvPr id="5" name="Rounded Rectangle 4"/>
          <p:cNvSpPr/>
          <p:nvPr/>
        </p:nvSpPr>
        <p:spPr>
          <a:xfrm>
            <a:off x="7315200" y="1371600"/>
            <a:ext cx="4114800" cy="603504"/>
          </a:xfrm>
          <a:prstGeom prst="roundRect">
            <a:avLst>
              <a:gd name="adj" fmla="val 20000"/>
            </a:avLst>
          </a:prstGeom>
          <a:solidFill>
            <a:srgbClr val="F3F3F3"/>
          </a:solidFill>
          <a:ln w="12700">
            <a:solidFill>
              <a:srgbClr val="BDBDBD"/>
            </a:solidFill>
          </a:ln>
        </p:spPr>
        <p:txBody>
          <a:bodyPr rtlCol="0" anchor="ctr"/>
          <a:lstStyle/>
          <a:p>
            <a:pPr algn="ctr"/>
          </a:p>
        </p:txBody>
      </p:sp>
      <p:sp>
        <p:nvSpPr>
          <p:cNvPr id="6" name="Oval 5"/>
          <p:cNvSpPr/>
          <p:nvPr/>
        </p:nvSpPr>
        <p:spPr>
          <a:xfrm>
            <a:off x="7424927" y="148132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1</a:t>
            </a:r>
          </a:p>
        </p:txBody>
      </p:sp>
      <p:sp>
        <p:nvSpPr>
          <p:cNvPr id="7" name="TextBox 6"/>
          <p:cNvSpPr txBox="1"/>
          <p:nvPr/>
        </p:nvSpPr>
        <p:spPr>
          <a:xfrm>
            <a:off x="7955279" y="1371600"/>
            <a:ext cx="2011680" cy="603504"/>
          </a:xfrm>
          <a:prstGeom prst="rect">
            <a:avLst/>
          </a:prstGeom>
          <a:noFill/>
        </p:spPr>
        <p:txBody>
          <a:bodyPr wrap="square" lIns="0" rIns="0" tIns="0" bIns="0" anchor="ctr">
            <a:spAutoFit/>
          </a:bodyPr>
          <a:lstStyle/>
          <a:p>
            <a:pPr algn="l">
              <a:spcBef>
                <a:spcPts val="0"/>
              </a:spcBef>
              <a:spcAft>
                <a:spcPts val="400"/>
              </a:spcAft>
            </a:pPr>
            <a:r>
              <a:rPr sz="1500" b="1" i="0">
                <a:solidFill>
                  <a:srgbClr val="1A1A1A"/>
                </a:solidFill>
                <a:latin typeface="Arial"/>
              </a:rPr>
              <a:t>Phase ↔ Neutre</a:t>
            </a:r>
          </a:p>
        </p:txBody>
      </p:sp>
      <p:sp>
        <p:nvSpPr>
          <p:cNvPr id="8" name="TextBox 7"/>
          <p:cNvSpPr txBox="1"/>
          <p:nvPr/>
        </p:nvSpPr>
        <p:spPr>
          <a:xfrm>
            <a:off x="9784080" y="1371600"/>
            <a:ext cx="1554480" cy="603504"/>
          </a:xfrm>
          <a:prstGeom prst="rect">
            <a:avLst/>
          </a:prstGeom>
          <a:noFill/>
        </p:spPr>
        <p:txBody>
          <a:bodyPr wrap="square" lIns="0" rIns="0" tIns="0" bIns="0" anchor="ctr">
            <a:spAutoFit/>
          </a:bodyPr>
          <a:lstStyle/>
          <a:p>
            <a:pPr algn="r">
              <a:spcBef>
                <a:spcPts val="0"/>
              </a:spcBef>
              <a:spcAft>
                <a:spcPts val="400"/>
              </a:spcAft>
            </a:pPr>
            <a:r>
              <a:rPr sz="1800" b="1" i="0">
                <a:solidFill>
                  <a:srgbClr val="1B7F3B"/>
                </a:solidFill>
                <a:latin typeface="Arial"/>
              </a:rPr>
              <a:t>≈ 230 V</a:t>
            </a:r>
          </a:p>
        </p:txBody>
      </p:sp>
      <p:sp>
        <p:nvSpPr>
          <p:cNvPr id="9" name="Rounded Rectangle 8"/>
          <p:cNvSpPr/>
          <p:nvPr/>
        </p:nvSpPr>
        <p:spPr>
          <a:xfrm>
            <a:off x="7315200" y="2084832"/>
            <a:ext cx="4114800" cy="603504"/>
          </a:xfrm>
          <a:prstGeom prst="roundRect">
            <a:avLst>
              <a:gd name="adj" fmla="val 20000"/>
            </a:avLst>
          </a:prstGeom>
          <a:solidFill>
            <a:srgbClr val="F3F3F3"/>
          </a:solidFill>
          <a:ln w="12700">
            <a:solidFill>
              <a:srgbClr val="BDBDBD"/>
            </a:solidFill>
          </a:ln>
        </p:spPr>
        <p:txBody>
          <a:bodyPr rtlCol="0" anchor="ctr"/>
          <a:lstStyle/>
          <a:p>
            <a:pPr algn="ctr"/>
          </a:p>
        </p:txBody>
      </p:sp>
      <p:sp>
        <p:nvSpPr>
          <p:cNvPr id="10" name="Oval 9"/>
          <p:cNvSpPr/>
          <p:nvPr/>
        </p:nvSpPr>
        <p:spPr>
          <a:xfrm>
            <a:off x="7424927" y="2194560"/>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2</a:t>
            </a:r>
          </a:p>
        </p:txBody>
      </p:sp>
      <p:sp>
        <p:nvSpPr>
          <p:cNvPr id="11" name="TextBox 10"/>
          <p:cNvSpPr txBox="1"/>
          <p:nvPr/>
        </p:nvSpPr>
        <p:spPr>
          <a:xfrm>
            <a:off x="7955279" y="2084832"/>
            <a:ext cx="2011680" cy="603504"/>
          </a:xfrm>
          <a:prstGeom prst="rect">
            <a:avLst/>
          </a:prstGeom>
          <a:noFill/>
        </p:spPr>
        <p:txBody>
          <a:bodyPr wrap="square" lIns="0" rIns="0" tIns="0" bIns="0" anchor="ctr">
            <a:spAutoFit/>
          </a:bodyPr>
          <a:lstStyle/>
          <a:p>
            <a:pPr algn="l">
              <a:spcBef>
                <a:spcPts val="0"/>
              </a:spcBef>
              <a:spcAft>
                <a:spcPts val="400"/>
              </a:spcAft>
            </a:pPr>
            <a:r>
              <a:rPr sz="1500" b="1" i="0">
                <a:solidFill>
                  <a:srgbClr val="1A1A1A"/>
                </a:solidFill>
                <a:latin typeface="Arial"/>
              </a:rPr>
              <a:t>Phase ↔ Terre</a:t>
            </a:r>
          </a:p>
        </p:txBody>
      </p:sp>
      <p:sp>
        <p:nvSpPr>
          <p:cNvPr id="12" name="TextBox 11"/>
          <p:cNvSpPr txBox="1"/>
          <p:nvPr/>
        </p:nvSpPr>
        <p:spPr>
          <a:xfrm>
            <a:off x="9784080" y="2084832"/>
            <a:ext cx="1554480" cy="603504"/>
          </a:xfrm>
          <a:prstGeom prst="rect">
            <a:avLst/>
          </a:prstGeom>
          <a:noFill/>
        </p:spPr>
        <p:txBody>
          <a:bodyPr wrap="square" lIns="0" rIns="0" tIns="0" bIns="0" anchor="ctr">
            <a:spAutoFit/>
          </a:bodyPr>
          <a:lstStyle/>
          <a:p>
            <a:pPr algn="r">
              <a:spcBef>
                <a:spcPts val="0"/>
              </a:spcBef>
              <a:spcAft>
                <a:spcPts val="400"/>
              </a:spcAft>
            </a:pPr>
            <a:r>
              <a:rPr sz="1800" b="1" i="0">
                <a:solidFill>
                  <a:srgbClr val="1B7F3B"/>
                </a:solidFill>
                <a:latin typeface="Arial"/>
              </a:rPr>
              <a:t>≈ 230 V</a:t>
            </a:r>
          </a:p>
        </p:txBody>
      </p:sp>
      <p:sp>
        <p:nvSpPr>
          <p:cNvPr id="13" name="Rounded Rectangle 12"/>
          <p:cNvSpPr/>
          <p:nvPr/>
        </p:nvSpPr>
        <p:spPr>
          <a:xfrm>
            <a:off x="7315200" y="2798064"/>
            <a:ext cx="4114800" cy="603504"/>
          </a:xfrm>
          <a:prstGeom prst="roundRect">
            <a:avLst>
              <a:gd name="adj" fmla="val 20000"/>
            </a:avLst>
          </a:prstGeom>
          <a:solidFill>
            <a:srgbClr val="F3F3F3"/>
          </a:solidFill>
          <a:ln w="12700">
            <a:solidFill>
              <a:srgbClr val="BDBDBD"/>
            </a:solidFill>
          </a:ln>
        </p:spPr>
        <p:txBody>
          <a:bodyPr rtlCol="0" anchor="ctr"/>
          <a:lstStyle/>
          <a:p>
            <a:pPr algn="ctr"/>
          </a:p>
        </p:txBody>
      </p:sp>
      <p:sp>
        <p:nvSpPr>
          <p:cNvPr id="14" name="Oval 13"/>
          <p:cNvSpPr/>
          <p:nvPr/>
        </p:nvSpPr>
        <p:spPr>
          <a:xfrm>
            <a:off x="7424927" y="2907792"/>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3</a:t>
            </a:r>
          </a:p>
        </p:txBody>
      </p:sp>
      <p:sp>
        <p:nvSpPr>
          <p:cNvPr id="15" name="TextBox 14"/>
          <p:cNvSpPr txBox="1"/>
          <p:nvPr/>
        </p:nvSpPr>
        <p:spPr>
          <a:xfrm>
            <a:off x="7955279" y="2798064"/>
            <a:ext cx="2011680" cy="603504"/>
          </a:xfrm>
          <a:prstGeom prst="rect">
            <a:avLst/>
          </a:prstGeom>
          <a:noFill/>
        </p:spPr>
        <p:txBody>
          <a:bodyPr wrap="square" lIns="0" rIns="0" tIns="0" bIns="0" anchor="ctr">
            <a:spAutoFit/>
          </a:bodyPr>
          <a:lstStyle/>
          <a:p>
            <a:pPr algn="l">
              <a:spcBef>
                <a:spcPts val="0"/>
              </a:spcBef>
              <a:spcAft>
                <a:spcPts val="400"/>
              </a:spcAft>
            </a:pPr>
            <a:r>
              <a:rPr sz="1500" b="1" i="0">
                <a:solidFill>
                  <a:srgbClr val="1A1A1A"/>
                </a:solidFill>
                <a:latin typeface="Arial"/>
              </a:rPr>
              <a:t>Neutre ↔ Terre</a:t>
            </a:r>
          </a:p>
        </p:txBody>
      </p:sp>
      <p:sp>
        <p:nvSpPr>
          <p:cNvPr id="16" name="TextBox 15"/>
          <p:cNvSpPr txBox="1"/>
          <p:nvPr/>
        </p:nvSpPr>
        <p:spPr>
          <a:xfrm>
            <a:off x="9784080" y="2798064"/>
            <a:ext cx="1554480" cy="603504"/>
          </a:xfrm>
          <a:prstGeom prst="rect">
            <a:avLst/>
          </a:prstGeom>
          <a:noFill/>
        </p:spPr>
        <p:txBody>
          <a:bodyPr wrap="square" lIns="0" rIns="0" tIns="0" bIns="0" anchor="ctr">
            <a:spAutoFit/>
          </a:bodyPr>
          <a:lstStyle/>
          <a:p>
            <a:pPr algn="r">
              <a:spcBef>
                <a:spcPts val="0"/>
              </a:spcBef>
              <a:spcAft>
                <a:spcPts val="400"/>
              </a:spcAft>
            </a:pPr>
            <a:r>
              <a:rPr sz="1800" b="1" i="0">
                <a:solidFill>
                  <a:srgbClr val="1B7F3B"/>
                </a:solidFill>
                <a:latin typeface="Arial"/>
              </a:rPr>
              <a:t>≈ 0 V</a:t>
            </a:r>
          </a:p>
        </p:txBody>
      </p:sp>
      <p:pic>
        <p:nvPicPr>
          <p:cNvPr id="17" name="Picture 16" descr="9_Prise_avec_terre.png"/>
          <p:cNvPicPr>
            <a:picLocks noChangeAspect="1"/>
          </p:cNvPicPr>
          <p:nvPr/>
        </p:nvPicPr>
        <p:blipFill>
          <a:blip r:embed="rId4"/>
          <a:stretch>
            <a:fillRect/>
          </a:stretch>
        </p:blipFill>
        <p:spPr>
          <a:xfrm>
            <a:off x="7595801" y="3611880"/>
            <a:ext cx="1359037" cy="1417320"/>
          </a:xfrm>
          <a:prstGeom prst="rect">
            <a:avLst/>
          </a:prstGeom>
        </p:spPr>
      </p:pic>
      <p:pic>
        <p:nvPicPr>
          <p:cNvPr id="18" name="Picture 17" descr="8_Prise_sans_terre.png"/>
          <p:cNvPicPr>
            <a:picLocks noChangeAspect="1"/>
          </p:cNvPicPr>
          <p:nvPr/>
        </p:nvPicPr>
        <p:blipFill>
          <a:blip r:embed="rId5"/>
          <a:stretch>
            <a:fillRect/>
          </a:stretch>
        </p:blipFill>
        <p:spPr>
          <a:xfrm>
            <a:off x="9634999" y="3611880"/>
            <a:ext cx="1486881" cy="1417320"/>
          </a:xfrm>
          <a:prstGeom prst="rect">
            <a:avLst/>
          </a:prstGeom>
        </p:spPr>
      </p:pic>
      <p:sp>
        <p:nvSpPr>
          <p:cNvPr id="19" name="TextBox 18"/>
          <p:cNvSpPr txBox="1"/>
          <p:nvPr/>
        </p:nvSpPr>
        <p:spPr>
          <a:xfrm>
            <a:off x="7315200" y="5029200"/>
            <a:ext cx="19202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Prise avec terre</a:t>
            </a:r>
          </a:p>
        </p:txBody>
      </p:sp>
      <p:sp>
        <p:nvSpPr>
          <p:cNvPr id="20" name="TextBox 19"/>
          <p:cNvSpPr txBox="1"/>
          <p:nvPr/>
        </p:nvSpPr>
        <p:spPr>
          <a:xfrm>
            <a:off x="9418320" y="5029200"/>
            <a:ext cx="19202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Prise sans terre</a:t>
            </a:r>
          </a:p>
        </p:txBody>
      </p:sp>
      <p:sp>
        <p:nvSpPr>
          <p:cNvPr id="21" name="Rounded Rectangle 20"/>
          <p:cNvSpPr/>
          <p:nvPr/>
        </p:nvSpPr>
        <p:spPr>
          <a:xfrm>
            <a:off x="1280160" y="5349240"/>
            <a:ext cx="9509760" cy="566928"/>
          </a:xfrm>
          <a:prstGeom prst="roundRect">
            <a:avLst>
              <a:gd name="adj" fmla="val 12000"/>
            </a:avLst>
          </a:prstGeom>
          <a:solidFill>
            <a:srgbClr val="1B7F3B"/>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Valeurs conformes : branchement autorisé, sous réserve des autres contrôles</a:t>
            </a:r>
          </a:p>
        </p:txBody>
      </p:sp>
      <p:sp>
        <p:nvSpPr>
          <p:cNvPr id="22" name="TextBox 21"/>
          <p:cNvSpPr txBox="1"/>
          <p:nvPr/>
        </p:nvSpPr>
        <p:spPr>
          <a:xfrm>
            <a:off x="1280160" y="598932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3" name="Rounded Rectangle 22"/>
          <p:cNvSpPr/>
          <p:nvPr/>
        </p:nvSpPr>
        <p:spPr>
          <a:xfrm>
            <a:off x="2148839" y="598932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VAT</a:t>
            </a:r>
          </a:p>
        </p:txBody>
      </p:sp>
      <p:sp>
        <p:nvSpPr>
          <p:cNvPr id="24" name="Rounded Rectangle 23"/>
          <p:cNvSpPr/>
          <p:nvPr/>
        </p:nvSpPr>
        <p:spPr>
          <a:xfrm>
            <a:off x="2766974" y="598932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EPI</a:t>
            </a:r>
          </a:p>
        </p:txBody>
      </p:sp>
      <p:sp>
        <p:nvSpPr>
          <p:cNvPr id="25" name="TextBox 24"/>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6" name="TextBox 25"/>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9 /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Trois défauts qui interdisent le branchement</a:t>
            </a:r>
          </a:p>
        </p:txBody>
      </p:sp>
      <p:sp>
        <p:nvSpPr>
          <p:cNvPr id="3" name="Rounded Rectangle 2"/>
          <p:cNvSpPr/>
          <p:nvPr/>
        </p:nvSpPr>
        <p:spPr>
          <a:xfrm>
            <a:off x="1280160" y="1371600"/>
            <a:ext cx="3200400" cy="3977639"/>
          </a:xfrm>
          <a:prstGeom prst="roundRect">
            <a:avLst>
              <a:gd name="adj" fmla="val 4000"/>
            </a:avLst>
          </a:prstGeom>
          <a:solidFill>
            <a:srgbClr val="FFFFFF"/>
          </a:solidFill>
          <a:ln w="25400">
            <a:solidFill>
              <a:srgbClr val="C8102E"/>
            </a:solidFill>
          </a:ln>
        </p:spPr>
        <p:txBody>
          <a:bodyPr rtlCol="0" anchor="ctr"/>
          <a:lstStyle/>
          <a:p>
            <a:pPr algn="ctr"/>
          </a:p>
        </p:txBody>
      </p:sp>
      <p:sp>
        <p:nvSpPr>
          <p:cNvPr id="4" name="Rounded Rectangle 3"/>
          <p:cNvSpPr/>
          <p:nvPr/>
        </p:nvSpPr>
        <p:spPr>
          <a:xfrm>
            <a:off x="1417319" y="1481328"/>
            <a:ext cx="2926080" cy="457200"/>
          </a:xfrm>
          <a:prstGeom prst="roundRect">
            <a:avLst>
              <a:gd name="adj" fmla="val 50000"/>
            </a:avLst>
          </a:prstGeom>
          <a:solidFill>
            <a:srgbClr val="C8102E"/>
          </a:solidFill>
          <a:ln w="12700">
            <a:solidFill>
              <a:srgbClr val="C8102E"/>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Mauvaise terre</a:t>
            </a:r>
          </a:p>
        </p:txBody>
      </p:sp>
      <p:sp>
        <p:nvSpPr>
          <p:cNvPr id="5" name="Rounded Rectangle 4"/>
          <p:cNvSpPr/>
          <p:nvPr/>
        </p:nvSpPr>
        <p:spPr>
          <a:xfrm>
            <a:off x="1417319" y="2057400"/>
            <a:ext cx="2926080" cy="1965960"/>
          </a:xfrm>
          <a:prstGeom prst="roundRect">
            <a:avLst>
              <a:gd name="adj" fmla="val 4000"/>
            </a:avLst>
          </a:prstGeom>
          <a:solidFill>
            <a:srgbClr val="000000"/>
          </a:solidFill>
          <a:ln>
            <a:noFill/>
          </a:ln>
        </p:spPr>
        <p:txBody>
          <a:bodyPr rtlCol="0" anchor="ctr"/>
          <a:lstStyle/>
          <a:p>
            <a:pPr algn="ctr"/>
          </a:p>
        </p:txBody>
      </p:sp>
      <p:pic>
        <p:nvPicPr>
          <p:cNvPr id="6" name="Picture 5" descr="13_Controle_prise_MAUVAISE_TERRE.png"/>
          <p:cNvPicPr>
            <a:picLocks noChangeAspect="1"/>
          </p:cNvPicPr>
          <p:nvPr/>
        </p:nvPicPr>
        <p:blipFill>
          <a:blip r:embed="rId3"/>
          <a:stretch>
            <a:fillRect/>
          </a:stretch>
        </p:blipFill>
        <p:spPr>
          <a:xfrm>
            <a:off x="1475874" y="2103120"/>
            <a:ext cx="2808971" cy="1874519"/>
          </a:xfrm>
          <a:prstGeom prst="rect">
            <a:avLst/>
          </a:prstGeom>
        </p:spPr>
      </p:pic>
      <p:sp>
        <p:nvSpPr>
          <p:cNvPr id="7" name="TextBox 6"/>
          <p:cNvSpPr txBox="1"/>
          <p:nvPr/>
        </p:nvSpPr>
        <p:spPr>
          <a:xfrm>
            <a:off x="1417319" y="4160520"/>
            <a:ext cx="2926080" cy="1097280"/>
          </a:xfrm>
          <a:prstGeom prst="rect">
            <a:avLst/>
          </a:prstGeom>
          <a:noFill/>
        </p:spPr>
        <p:txBody>
          <a:bodyPr wrap="square" lIns="0" rIns="0" tIns="0" bIns="0" anchor="ctr">
            <a:spAutoFit/>
          </a:bodyPr>
          <a:lstStyle/>
          <a:p>
            <a:pPr algn="ctr">
              <a:spcBef>
                <a:spcPts val="0"/>
              </a:spcBef>
              <a:spcAft>
                <a:spcPts val="400"/>
              </a:spcAft>
            </a:pPr>
            <a:r>
              <a:rPr sz="1600" b="0" i="0">
                <a:solidFill>
                  <a:srgbClr val="1A1A1A"/>
                </a:solidFill>
                <a:latin typeface="Arial"/>
              </a:rPr>
              <a:t>Neutre ↔ Terre </a:t>
            </a:r>
            <a:r>
              <a:rPr sz="1600" b="1" i="0">
                <a:solidFill>
                  <a:srgbClr val="1A1A1A"/>
                </a:solidFill>
                <a:latin typeface="Arial"/>
              </a:rPr>
              <a:t>&gt; 5 V</a:t>
            </a:r>
          </a:p>
          <a:p>
            <a:pPr algn="ctr">
              <a:spcBef>
                <a:spcPts val="0"/>
              </a:spcBef>
              <a:spcAft>
                <a:spcPts val="400"/>
              </a:spcAft>
            </a:pPr>
            <a:r>
              <a:rPr sz="1500" b="0" i="0">
                <a:solidFill>
                  <a:srgbClr val="C8102E"/>
                </a:solidFill>
                <a:latin typeface="Arial"/>
              </a:rPr>
              <a:t>→ </a:t>
            </a:r>
            <a:r>
              <a:rPr sz="1500" b="1" i="0">
                <a:solidFill>
                  <a:srgbClr val="C8102E"/>
                </a:solidFill>
                <a:latin typeface="Arial"/>
              </a:rPr>
              <a:t>Je ne branche pas</a:t>
            </a:r>
          </a:p>
        </p:txBody>
      </p:sp>
      <p:sp>
        <p:nvSpPr>
          <p:cNvPr id="8" name="Rounded Rectangle 7"/>
          <p:cNvSpPr/>
          <p:nvPr/>
        </p:nvSpPr>
        <p:spPr>
          <a:xfrm>
            <a:off x="4709160" y="1371600"/>
            <a:ext cx="3200400" cy="3977639"/>
          </a:xfrm>
          <a:prstGeom prst="roundRect">
            <a:avLst>
              <a:gd name="adj" fmla="val 4000"/>
            </a:avLst>
          </a:prstGeom>
          <a:solidFill>
            <a:srgbClr val="FFFFFF"/>
          </a:solidFill>
          <a:ln w="25400">
            <a:solidFill>
              <a:srgbClr val="C8102E"/>
            </a:solidFill>
          </a:ln>
        </p:spPr>
        <p:txBody>
          <a:bodyPr rtlCol="0" anchor="ctr"/>
          <a:lstStyle/>
          <a:p>
            <a:pPr algn="ctr"/>
          </a:p>
        </p:txBody>
      </p:sp>
      <p:sp>
        <p:nvSpPr>
          <p:cNvPr id="9" name="Rounded Rectangle 8"/>
          <p:cNvSpPr/>
          <p:nvPr/>
        </p:nvSpPr>
        <p:spPr>
          <a:xfrm>
            <a:off x="4846320" y="1481328"/>
            <a:ext cx="2926080" cy="457200"/>
          </a:xfrm>
          <a:prstGeom prst="roundRect">
            <a:avLst>
              <a:gd name="adj" fmla="val 50000"/>
            </a:avLst>
          </a:prstGeom>
          <a:solidFill>
            <a:srgbClr val="C8102E"/>
          </a:solidFill>
          <a:ln w="12700">
            <a:solidFill>
              <a:srgbClr val="C8102E"/>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Absence de terre</a:t>
            </a:r>
          </a:p>
        </p:txBody>
      </p:sp>
      <p:sp>
        <p:nvSpPr>
          <p:cNvPr id="10" name="Rounded Rectangle 9"/>
          <p:cNvSpPr/>
          <p:nvPr/>
        </p:nvSpPr>
        <p:spPr>
          <a:xfrm>
            <a:off x="4846320" y="2057400"/>
            <a:ext cx="2926080" cy="1965960"/>
          </a:xfrm>
          <a:prstGeom prst="roundRect">
            <a:avLst>
              <a:gd name="adj" fmla="val 4000"/>
            </a:avLst>
          </a:prstGeom>
          <a:solidFill>
            <a:srgbClr val="000000"/>
          </a:solidFill>
          <a:ln>
            <a:noFill/>
          </a:ln>
        </p:spPr>
        <p:txBody>
          <a:bodyPr rtlCol="0" anchor="ctr"/>
          <a:lstStyle/>
          <a:p>
            <a:pPr algn="ctr"/>
          </a:p>
        </p:txBody>
      </p:sp>
      <p:pic>
        <p:nvPicPr>
          <p:cNvPr id="11" name="Picture 10" descr="14_Controle_prise_sans_TERRE.png"/>
          <p:cNvPicPr>
            <a:picLocks noChangeAspect="1"/>
          </p:cNvPicPr>
          <p:nvPr/>
        </p:nvPicPr>
        <p:blipFill>
          <a:blip r:embed="rId4"/>
          <a:stretch>
            <a:fillRect/>
          </a:stretch>
        </p:blipFill>
        <p:spPr>
          <a:xfrm>
            <a:off x="4892040" y="2246680"/>
            <a:ext cx="2834640" cy="1587398"/>
          </a:xfrm>
          <a:prstGeom prst="rect">
            <a:avLst/>
          </a:prstGeom>
        </p:spPr>
      </p:pic>
      <p:sp>
        <p:nvSpPr>
          <p:cNvPr id="12" name="TextBox 11"/>
          <p:cNvSpPr txBox="1"/>
          <p:nvPr/>
        </p:nvSpPr>
        <p:spPr>
          <a:xfrm>
            <a:off x="4846320" y="4160520"/>
            <a:ext cx="2926080" cy="1097280"/>
          </a:xfrm>
          <a:prstGeom prst="rect">
            <a:avLst/>
          </a:prstGeom>
          <a:noFill/>
        </p:spPr>
        <p:txBody>
          <a:bodyPr wrap="square" lIns="0" rIns="0" tIns="0" bIns="0" anchor="ctr">
            <a:spAutoFit/>
          </a:bodyPr>
          <a:lstStyle/>
          <a:p>
            <a:pPr algn="ctr">
              <a:spcBef>
                <a:spcPts val="0"/>
              </a:spcBef>
              <a:spcAft>
                <a:spcPts val="400"/>
              </a:spcAft>
            </a:pPr>
            <a:r>
              <a:rPr sz="1600" b="0" i="0">
                <a:solidFill>
                  <a:srgbClr val="1A1A1A"/>
                </a:solidFill>
                <a:latin typeface="Arial"/>
              </a:rPr>
              <a:t>Phase ↔ Terre </a:t>
            </a:r>
            <a:r>
              <a:rPr sz="1600" b="1" i="0">
                <a:solidFill>
                  <a:srgbClr val="1A1A1A"/>
                </a:solidFill>
                <a:latin typeface="Arial"/>
              </a:rPr>
              <a:t>≈ 0 V</a:t>
            </a:r>
          </a:p>
          <a:p>
            <a:pPr algn="ctr">
              <a:spcBef>
                <a:spcPts val="0"/>
              </a:spcBef>
              <a:spcAft>
                <a:spcPts val="400"/>
              </a:spcAft>
            </a:pPr>
            <a:r>
              <a:rPr sz="1500" b="0" i="0">
                <a:solidFill>
                  <a:srgbClr val="C8102E"/>
                </a:solidFill>
                <a:latin typeface="Arial"/>
              </a:rPr>
              <a:t>→ </a:t>
            </a:r>
            <a:r>
              <a:rPr sz="1500" b="1" i="0">
                <a:solidFill>
                  <a:srgbClr val="C8102E"/>
                </a:solidFill>
                <a:latin typeface="Arial"/>
              </a:rPr>
              <a:t>Je ne branche pas</a:t>
            </a:r>
          </a:p>
        </p:txBody>
      </p:sp>
      <p:sp>
        <p:nvSpPr>
          <p:cNvPr id="13" name="Rounded Rectangle 12"/>
          <p:cNvSpPr/>
          <p:nvPr/>
        </p:nvSpPr>
        <p:spPr>
          <a:xfrm>
            <a:off x="8138160" y="1371600"/>
            <a:ext cx="3200400" cy="3977639"/>
          </a:xfrm>
          <a:prstGeom prst="roundRect">
            <a:avLst>
              <a:gd name="adj" fmla="val 4000"/>
            </a:avLst>
          </a:prstGeom>
          <a:solidFill>
            <a:srgbClr val="FFFFFF"/>
          </a:solidFill>
          <a:ln w="25400">
            <a:solidFill>
              <a:srgbClr val="C8102E"/>
            </a:solidFill>
          </a:ln>
        </p:spPr>
        <p:txBody>
          <a:bodyPr rtlCol="0" anchor="ctr"/>
          <a:lstStyle/>
          <a:p>
            <a:pPr algn="ctr"/>
          </a:p>
        </p:txBody>
      </p:sp>
      <p:sp>
        <p:nvSpPr>
          <p:cNvPr id="14" name="Rounded Rectangle 13"/>
          <p:cNvSpPr/>
          <p:nvPr/>
        </p:nvSpPr>
        <p:spPr>
          <a:xfrm>
            <a:off x="8275320" y="1481328"/>
            <a:ext cx="2926080" cy="457200"/>
          </a:xfrm>
          <a:prstGeom prst="roundRect">
            <a:avLst>
              <a:gd name="adj" fmla="val 50000"/>
            </a:avLst>
          </a:prstGeom>
          <a:solidFill>
            <a:srgbClr val="C8102E"/>
          </a:solidFill>
          <a:ln w="12700">
            <a:solidFill>
              <a:srgbClr val="C8102E"/>
            </a:solidFill>
          </a:ln>
        </p:spPr>
        <p:txBody>
          <a:bodyPr rtlCol="0" anchor="ctr" lIns="45720" rIns="45720" tIns="27432" bIns="27432" wrap="square"/>
          <a:lstStyle/>
          <a:p>
            <a:pPr algn="ctr">
              <a:spcBef>
                <a:spcPts val="0"/>
              </a:spcBef>
              <a:spcAft>
                <a:spcPts val="200"/>
              </a:spcAft>
            </a:pPr>
            <a:r>
              <a:rPr sz="1600" b="1" i="0">
                <a:solidFill>
                  <a:srgbClr val="FFFFFF"/>
                </a:solidFill>
                <a:latin typeface="Arial"/>
              </a:rPr>
              <a:t>Neutre coupé</a:t>
            </a:r>
          </a:p>
        </p:txBody>
      </p:sp>
      <p:sp>
        <p:nvSpPr>
          <p:cNvPr id="15" name="Rounded Rectangle 14"/>
          <p:cNvSpPr/>
          <p:nvPr/>
        </p:nvSpPr>
        <p:spPr>
          <a:xfrm>
            <a:off x="8275320" y="2057400"/>
            <a:ext cx="2926080" cy="1965960"/>
          </a:xfrm>
          <a:prstGeom prst="roundRect">
            <a:avLst>
              <a:gd name="adj" fmla="val 4000"/>
            </a:avLst>
          </a:prstGeom>
          <a:solidFill>
            <a:srgbClr val="000000"/>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Phase ↔ Neutre : 0 V</a:t>
            </a:r>
          </a:p>
          <a:p>
            <a:pPr algn="ctr">
              <a:spcBef>
                <a:spcPts val="0"/>
              </a:spcBef>
              <a:spcAft>
                <a:spcPts val="200"/>
              </a:spcAft>
            </a:pPr>
            <a:r>
              <a:rPr sz="1400" b="1" i="0">
                <a:solidFill>
                  <a:srgbClr val="FFFFFF"/>
                </a:solidFill>
                <a:latin typeface="Arial"/>
              </a:rPr>
              <a:t>Phase ↔ Terre : 0 V</a:t>
            </a:r>
          </a:p>
          <a:p>
            <a:pPr algn="ctr">
              <a:spcBef>
                <a:spcPts val="0"/>
              </a:spcBef>
              <a:spcAft>
                <a:spcPts val="200"/>
              </a:spcAft>
            </a:pPr>
            <a:r>
              <a:rPr sz="1400" b="1" i="0">
                <a:solidFill>
                  <a:srgbClr val="FFFFFF"/>
                </a:solidFill>
                <a:latin typeface="Arial"/>
              </a:rPr>
              <a:t>Neutre ↔ Terre : 0 V</a:t>
            </a:r>
          </a:p>
          <a:p>
            <a:pPr algn="ctr">
              <a:spcBef>
                <a:spcPts val="0"/>
              </a:spcBef>
              <a:spcAft>
                <a:spcPts val="200"/>
              </a:spcAft>
            </a:pPr>
            <a:r>
              <a:rPr sz="1400" b="1" i="0">
                <a:solidFill>
                  <a:srgbClr val="FFC000"/>
                </a:solidFill>
                <a:latin typeface="Arial"/>
              </a:rPr>
              <a:t>⚠ Voyants du VAT clignotants</a:t>
            </a:r>
          </a:p>
        </p:txBody>
      </p:sp>
      <p:sp>
        <p:nvSpPr>
          <p:cNvPr id="16" name="TextBox 15"/>
          <p:cNvSpPr txBox="1"/>
          <p:nvPr/>
        </p:nvSpPr>
        <p:spPr>
          <a:xfrm>
            <a:off x="8275320" y="4160520"/>
            <a:ext cx="2926080" cy="1097280"/>
          </a:xfrm>
          <a:prstGeom prst="rect">
            <a:avLst/>
          </a:prstGeom>
          <a:noFill/>
        </p:spPr>
        <p:txBody>
          <a:bodyPr wrap="square" lIns="0" rIns="0" tIns="0" bIns="0" anchor="ctr">
            <a:spAutoFit/>
          </a:bodyPr>
          <a:lstStyle/>
          <a:p>
            <a:pPr algn="ctr">
              <a:spcBef>
                <a:spcPts val="0"/>
              </a:spcBef>
              <a:spcAft>
                <a:spcPts val="400"/>
              </a:spcAft>
            </a:pPr>
            <a:r>
              <a:rPr sz="1600" b="1" i="0">
                <a:solidFill>
                  <a:srgbClr val="1A1A1A"/>
                </a:solidFill>
                <a:latin typeface="Arial"/>
              </a:rPr>
              <a:t>0 V</a:t>
            </a:r>
            <a:r>
              <a:rPr sz="1600" b="0" i="0">
                <a:solidFill>
                  <a:srgbClr val="1A1A1A"/>
                </a:solidFill>
                <a:latin typeface="Arial"/>
              </a:rPr>
              <a:t> partout, voyants du VAT qui </a:t>
            </a:r>
            <a:r>
              <a:rPr sz="1600" b="1" i="0">
                <a:solidFill>
                  <a:srgbClr val="1A1A1A"/>
                </a:solidFill>
                <a:latin typeface="Arial"/>
              </a:rPr>
              <a:t>clignotent</a:t>
            </a:r>
          </a:p>
          <a:p>
            <a:pPr algn="ctr">
              <a:spcBef>
                <a:spcPts val="0"/>
              </a:spcBef>
              <a:spcAft>
                <a:spcPts val="400"/>
              </a:spcAft>
            </a:pPr>
            <a:r>
              <a:rPr sz="1500" b="0" i="0">
                <a:solidFill>
                  <a:srgbClr val="C8102E"/>
                </a:solidFill>
                <a:latin typeface="Arial"/>
              </a:rPr>
              <a:t>→ </a:t>
            </a:r>
            <a:r>
              <a:rPr sz="1500" b="1" i="0">
                <a:solidFill>
                  <a:srgbClr val="C8102E"/>
                </a:solidFill>
                <a:latin typeface="Arial"/>
              </a:rPr>
              <a:t>Je ne branche pas</a:t>
            </a:r>
          </a:p>
        </p:txBody>
      </p:sp>
      <p:sp>
        <p:nvSpPr>
          <p:cNvPr id="17" name="Rounded Rectangle 16"/>
          <p:cNvSpPr/>
          <p:nvPr/>
        </p:nvSpPr>
        <p:spPr>
          <a:xfrm>
            <a:off x="1280160" y="553212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Dans les 3 cas : je ne branche pas · j'informe le client (électricien) · je notifie dans le dossier Nomad</a:t>
            </a:r>
          </a:p>
        </p:txBody>
      </p:sp>
      <p:sp>
        <p:nvSpPr>
          <p:cNvPr id="18" name="TextBox 17"/>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9" name="TextBox 18"/>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10 / 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À vous : vous branchez ?</a:t>
            </a:r>
          </a:p>
        </p:txBody>
      </p:sp>
      <p:sp>
        <p:nvSpPr>
          <p:cNvPr id="3" name="Rounded Rectangle 2"/>
          <p:cNvSpPr/>
          <p:nvPr/>
        </p:nvSpPr>
        <p:spPr>
          <a:xfrm>
            <a:off x="1280160" y="1371600"/>
            <a:ext cx="5303520" cy="3566160"/>
          </a:xfrm>
          <a:prstGeom prst="roundRect">
            <a:avLst>
              <a:gd name="adj" fmla="val 3000"/>
            </a:avLst>
          </a:prstGeom>
          <a:solidFill>
            <a:srgbClr val="000000"/>
          </a:solidFill>
          <a:ln>
            <a:noFill/>
          </a:ln>
        </p:spPr>
        <p:txBody>
          <a:bodyPr rtlCol="0" anchor="ctr"/>
          <a:lstStyle/>
          <a:p>
            <a:pPr algn="ctr"/>
          </a:p>
        </p:txBody>
      </p:sp>
      <p:pic>
        <p:nvPicPr>
          <p:cNvPr id="4" name="Picture 3" descr="13_Controle_prise_MAUVAISE_TERRE.png"/>
          <p:cNvPicPr>
            <a:picLocks noChangeAspect="1"/>
          </p:cNvPicPr>
          <p:nvPr/>
        </p:nvPicPr>
        <p:blipFill>
          <a:blip r:embed="rId3"/>
          <a:stretch>
            <a:fillRect/>
          </a:stretch>
        </p:blipFill>
        <p:spPr>
          <a:xfrm>
            <a:off x="1328483" y="1417320"/>
            <a:ext cx="5206873" cy="3474720"/>
          </a:xfrm>
          <a:prstGeom prst="rect">
            <a:avLst/>
          </a:prstGeom>
        </p:spPr>
      </p:pic>
      <p:sp>
        <p:nvSpPr>
          <p:cNvPr id="5" name="TextBox 4"/>
          <p:cNvSpPr txBox="1"/>
          <p:nvPr/>
        </p:nvSpPr>
        <p:spPr>
          <a:xfrm>
            <a:off x="6858000" y="1371600"/>
            <a:ext cx="4572000" cy="822960"/>
          </a:xfrm>
          <a:prstGeom prst="rect">
            <a:avLst/>
          </a:prstGeom>
          <a:noFill/>
        </p:spPr>
        <p:txBody>
          <a:bodyPr wrap="square" lIns="0" rIns="0" tIns="0" bIns="0" anchor="t">
            <a:spAutoFit/>
          </a:bodyPr>
          <a:lstStyle/>
          <a:p>
            <a:pPr algn="l">
              <a:spcBef>
                <a:spcPts val="0"/>
              </a:spcBef>
              <a:spcAft>
                <a:spcPts val="400"/>
              </a:spcAft>
            </a:pPr>
            <a:r>
              <a:rPr sz="1700" b="1" i="0">
                <a:solidFill>
                  <a:srgbClr val="1A1A1A"/>
                </a:solidFill>
                <a:latin typeface="Arial"/>
              </a:rPr>
              <a:t>Lave-linge. Mesures : 230 V / 200 V / </a:t>
            </a:r>
            <a:r>
              <a:rPr sz="1700" b="1" i="0">
                <a:solidFill>
                  <a:srgbClr val="1A1A1A"/>
                </a:solidFill>
                <a:latin typeface="Arial"/>
              </a:rPr>
              <a:t>30 V</a:t>
            </a:r>
            <a:r>
              <a:rPr sz="1700" b="1" i="0">
                <a:solidFill>
                  <a:srgbClr val="1A1A1A"/>
                </a:solidFill>
                <a:latin typeface="Arial"/>
              </a:rPr>
              <a:t>.</a:t>
            </a:r>
          </a:p>
          <a:p>
            <a:pPr algn="l">
              <a:spcBef>
                <a:spcPts val="0"/>
              </a:spcBef>
              <a:spcAft>
                <a:spcPts val="400"/>
              </a:spcAft>
            </a:pPr>
            <a:r>
              <a:rPr sz="2000" b="1" i="0">
                <a:solidFill>
                  <a:srgbClr val="C8102E"/>
                </a:solidFill>
                <a:latin typeface="Arial"/>
              </a:rPr>
              <a:t>Vous branchez ?</a:t>
            </a:r>
          </a:p>
        </p:txBody>
      </p:sp>
      <p:sp>
        <p:nvSpPr>
          <p:cNvPr id="6" name="Rounded Rectangle 5">
            <a:hlinkClick action="ppaction://hlinksldjump" r:id="rId4"/>
          </p:cNvPr>
          <p:cNvSpPr/>
          <p:nvPr/>
        </p:nvSpPr>
        <p:spPr>
          <a:xfrm>
            <a:off x="6858000" y="2331720"/>
            <a:ext cx="4572000" cy="896112"/>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A · Oui, la tension est présente</a:t>
            </a:r>
          </a:p>
        </p:txBody>
      </p:sp>
      <p:sp>
        <p:nvSpPr>
          <p:cNvPr id="7" name="Rounded Rectangle 6">
            <a:hlinkClick action="ppaction://hlinksldjump" r:id="rId5"/>
          </p:cNvPr>
          <p:cNvSpPr/>
          <p:nvPr/>
        </p:nvSpPr>
        <p:spPr>
          <a:xfrm>
            <a:off x="6858000" y="3355848"/>
            <a:ext cx="4572000" cy="896112"/>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B · Non : mauvaise terre, j'oriente le client vers un électricien et je notifie dans le dossier Nomad</a:t>
            </a:r>
          </a:p>
        </p:txBody>
      </p:sp>
      <p:sp>
        <p:nvSpPr>
          <p:cNvPr id="8" name="Rounded Rectangle 7">
            <a:hlinkClick action="ppaction://hlinksldjump" r:id="rId4"/>
          </p:cNvPr>
          <p:cNvSpPr/>
          <p:nvPr/>
        </p:nvSpPr>
        <p:spPr>
          <a:xfrm>
            <a:off x="6858000" y="4379976"/>
            <a:ext cx="4572000" cy="896112"/>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C · Oui, mais je préviens le client après</a:t>
            </a:r>
          </a:p>
        </p:txBody>
      </p:sp>
      <p:sp>
        <p:nvSpPr>
          <p:cNvPr id="9" name="TextBox 8"/>
          <p:cNvSpPr txBox="1"/>
          <p:nvPr/>
        </p:nvSpPr>
        <p:spPr>
          <a:xfrm>
            <a:off x="1280160" y="5120640"/>
            <a:ext cx="5303520" cy="365760"/>
          </a:xfrm>
          <a:prstGeom prst="rect">
            <a:avLst/>
          </a:prstGeom>
          <a:noFill/>
        </p:spPr>
        <p:txBody>
          <a:bodyPr wrap="square" lIns="0" rIns="0" tIns="0" bIns="0" anchor="t">
            <a:spAutoFit/>
          </a:bodyPr>
          <a:lstStyle/>
          <a:p>
            <a:pPr algn="l">
              <a:spcBef>
                <a:spcPts val="0"/>
              </a:spcBef>
              <a:spcAft>
                <a:spcPts val="400"/>
              </a:spcAft>
            </a:pPr>
            <a:r>
              <a:rPr sz="1300" b="0" i="0">
                <a:solidFill>
                  <a:srgbClr val="5F5F5F"/>
                </a:solidFill>
                <a:latin typeface="Arial"/>
              </a:rPr>
              <a:t>Cliquez sur une réponse</a:t>
            </a:r>
          </a:p>
        </p:txBody>
      </p:sp>
      <p:sp>
        <p:nvSpPr>
          <p:cNvPr id="10" name="TextBox 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1" name="TextBox 1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11 / 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Bonne réponse !</a:t>
            </a:r>
          </a:p>
        </p:txBody>
      </p:sp>
      <p:sp>
        <p:nvSpPr>
          <p:cNvPr id="3" name="Rounded Rectangle 2"/>
          <p:cNvSpPr/>
          <p:nvPr/>
        </p:nvSpPr>
        <p:spPr>
          <a:xfrm>
            <a:off x="1280160" y="1463040"/>
            <a:ext cx="9509760" cy="237744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4" name="Oval 3"/>
          <p:cNvSpPr/>
          <p:nvPr/>
        </p:nvSpPr>
        <p:spPr>
          <a:xfrm>
            <a:off x="1426463" y="15727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7276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BONNE RÉPONSE : B</a:t>
            </a:r>
          </a:p>
        </p:txBody>
      </p:sp>
      <p:sp>
        <p:nvSpPr>
          <p:cNvPr id="6" name="TextBox 5"/>
          <p:cNvSpPr txBox="1"/>
          <p:nvPr/>
        </p:nvSpPr>
        <p:spPr>
          <a:xfrm>
            <a:off x="1463039" y="1993392"/>
            <a:ext cx="9144000" cy="1755648"/>
          </a:xfrm>
          <a:prstGeom prst="rect">
            <a:avLst/>
          </a:prstGeom>
          <a:noFill/>
        </p:spPr>
        <p:txBody>
          <a:bodyPr wrap="square" lIns="0" rIns="0" tIns="0" bIns="0" anchor="t">
            <a:spAutoFit/>
          </a:bodyPr>
          <a:lstStyle/>
          <a:p>
            <a:pPr algn="l" marL="228600" indent="-228600">
              <a:spcBef>
                <a:spcPts val="0"/>
              </a:spcBef>
              <a:spcAft>
                <a:spcPts val="800"/>
              </a:spcAft>
              <a:buClr>
                <a:srgbClr val="1B7F3B"/>
              </a:buClr>
              <a:buFont typeface="Arial"/>
              <a:buChar char="•"/>
            </a:pPr>
            <a:r>
              <a:rPr sz="1800" b="0" i="0">
                <a:solidFill>
                  <a:srgbClr val="1A1A1A"/>
                </a:solidFill>
                <a:latin typeface="Arial"/>
              </a:rPr>
              <a:t>Neutre ↔ Terre &gt; 5 V = </a:t>
            </a:r>
            <a:r>
              <a:rPr sz="1800" b="1" i="0">
                <a:solidFill>
                  <a:srgbClr val="1A1A1A"/>
                </a:solidFill>
                <a:latin typeface="Arial"/>
              </a:rPr>
              <a:t>mauvaise terre</a:t>
            </a:r>
          </a:p>
          <a:p>
            <a:pPr algn="l" marL="228600" indent="-228600">
              <a:spcBef>
                <a:spcPts val="0"/>
              </a:spcBef>
              <a:spcAft>
                <a:spcPts val="800"/>
              </a:spcAft>
              <a:buClr>
                <a:srgbClr val="1B7F3B"/>
              </a:buClr>
              <a:buFont typeface="Arial"/>
              <a:buChar char="•"/>
            </a:pPr>
            <a:r>
              <a:rPr sz="1800" b="0" i="0">
                <a:solidFill>
                  <a:srgbClr val="1A1A1A"/>
                </a:solidFill>
                <a:latin typeface="Arial"/>
              </a:rPr>
              <a:t>Je ne branche pas, le client fait appel à un électricien</a:t>
            </a:r>
          </a:p>
          <a:p>
            <a:pPr algn="l" marL="228600" indent="-228600">
              <a:spcBef>
                <a:spcPts val="0"/>
              </a:spcBef>
              <a:spcAft>
                <a:spcPts val="800"/>
              </a:spcAft>
              <a:buClr>
                <a:srgbClr val="1B7F3B"/>
              </a:buClr>
              <a:buFont typeface="Arial"/>
              <a:buChar char="•"/>
            </a:pPr>
            <a:r>
              <a:rPr sz="1800" b="0" i="0">
                <a:solidFill>
                  <a:srgbClr val="1A1A1A"/>
                </a:solidFill>
                <a:latin typeface="Arial"/>
              </a:rPr>
              <a:t>Je notifie l'anomalie dans le dossier Nomad</a:t>
            </a:r>
          </a:p>
        </p:txBody>
      </p:sp>
      <p:sp>
        <p:nvSpPr>
          <p:cNvPr id="7" name="Rounded Rectangle 6"/>
          <p:cNvSpPr/>
          <p:nvPr/>
        </p:nvSpPr>
        <p:spPr>
          <a:xfrm>
            <a:off x="1280160" y="420624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Règle : neutre ↔ terre &gt; 5 V = je ne branche pas</a:t>
            </a:r>
          </a:p>
        </p:txBody>
      </p:sp>
      <p:sp>
        <p:nvSpPr>
          <p:cNvPr id="8" name="Rounded Rectangle 7">
            <a:hlinkClick action="ppaction://hlinksldjump" r:id="rId3"/>
          </p:cNvPr>
          <p:cNvSpPr/>
          <p:nvPr/>
        </p:nvSpPr>
        <p:spPr>
          <a:xfrm>
            <a:off x="8412480" y="5394960"/>
            <a:ext cx="2103120" cy="64008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Continuer  ›</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Pas tout à fait</a:t>
            </a:r>
          </a:p>
        </p:txBody>
      </p:sp>
      <p:sp>
        <p:nvSpPr>
          <p:cNvPr id="3" name="Rounded Rectangle 2"/>
          <p:cNvSpPr/>
          <p:nvPr/>
        </p:nvSpPr>
        <p:spPr>
          <a:xfrm>
            <a:off x="1280160" y="1463040"/>
            <a:ext cx="9509760" cy="237744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4" name="Oval 3"/>
          <p:cNvSpPr/>
          <p:nvPr/>
        </p:nvSpPr>
        <p:spPr>
          <a:xfrm>
            <a:off x="1426463" y="157276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7276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PAS TOUT À FAIT</a:t>
            </a:r>
          </a:p>
        </p:txBody>
      </p:sp>
      <p:sp>
        <p:nvSpPr>
          <p:cNvPr id="6" name="TextBox 5"/>
          <p:cNvSpPr txBox="1"/>
          <p:nvPr/>
        </p:nvSpPr>
        <p:spPr>
          <a:xfrm>
            <a:off x="1463039" y="1993392"/>
            <a:ext cx="9144000" cy="1755648"/>
          </a:xfrm>
          <a:prstGeom prst="rect">
            <a:avLst/>
          </a:prstGeom>
          <a:noFill/>
        </p:spPr>
        <p:txBody>
          <a:bodyPr wrap="square" lIns="0" rIns="0" tIns="0" bIns="0" anchor="t">
            <a:spAutoFit/>
          </a:bodyPr>
          <a:lstStyle/>
          <a:p>
            <a:pPr algn="l" marL="228600" indent="-228600">
              <a:spcBef>
                <a:spcPts val="0"/>
              </a:spcBef>
              <a:spcAft>
                <a:spcPts val="800"/>
              </a:spcAft>
              <a:buClr>
                <a:srgbClr val="C8102E"/>
              </a:buClr>
              <a:buFont typeface="Arial"/>
              <a:buChar char="•"/>
            </a:pPr>
            <a:r>
              <a:rPr sz="1800" b="0" i="0">
                <a:solidFill>
                  <a:srgbClr val="1A1A1A"/>
                </a:solidFill>
                <a:latin typeface="Arial"/>
              </a:rPr>
              <a:t>La bonne réponse est </a:t>
            </a:r>
            <a:r>
              <a:rPr sz="1800" b="1" i="0">
                <a:solidFill>
                  <a:srgbClr val="1A1A1A"/>
                </a:solidFill>
                <a:latin typeface="Arial"/>
              </a:rPr>
              <a:t>B</a:t>
            </a:r>
          </a:p>
          <a:p>
            <a:pPr algn="l" marL="228600" indent="-228600">
              <a:spcBef>
                <a:spcPts val="0"/>
              </a:spcBef>
              <a:spcAft>
                <a:spcPts val="800"/>
              </a:spcAft>
              <a:buClr>
                <a:srgbClr val="C8102E"/>
              </a:buClr>
              <a:buFont typeface="Arial"/>
              <a:buChar char="•"/>
            </a:pPr>
            <a:r>
              <a:rPr sz="1800" b="0" i="0">
                <a:solidFill>
                  <a:srgbClr val="1A1A1A"/>
                </a:solidFill>
                <a:latin typeface="Arial"/>
              </a:rPr>
              <a:t>Neutre ↔ Terre &gt; 5 V = mauvaise terre : </a:t>
            </a:r>
            <a:r>
              <a:rPr sz="1800" b="1" i="0">
                <a:solidFill>
                  <a:srgbClr val="1A1A1A"/>
                </a:solidFill>
                <a:latin typeface="Arial"/>
              </a:rPr>
              <a:t>on ne branche pas</a:t>
            </a:r>
            <a:r>
              <a:rPr sz="1800" b="0" i="0">
                <a:solidFill>
                  <a:srgbClr val="1A1A1A"/>
                </a:solidFill>
                <a:latin typeface="Arial"/>
              </a:rPr>
              <a:t>, même avec 230 V</a:t>
            </a:r>
          </a:p>
          <a:p>
            <a:pPr algn="l" marL="228600" indent="-228600">
              <a:spcBef>
                <a:spcPts val="0"/>
              </a:spcBef>
              <a:spcAft>
                <a:spcPts val="800"/>
              </a:spcAft>
              <a:buClr>
                <a:srgbClr val="C8102E"/>
              </a:buClr>
              <a:buFont typeface="Arial"/>
              <a:buChar char="•"/>
            </a:pPr>
            <a:r>
              <a:rPr sz="1800" b="0" i="0">
                <a:solidFill>
                  <a:srgbClr val="1A1A1A"/>
                </a:solidFill>
                <a:latin typeface="Arial"/>
              </a:rPr>
              <a:t>J'oriente le client vers un électricien et je notifie dans le dossier Nomad</a:t>
            </a:r>
          </a:p>
        </p:txBody>
      </p:sp>
      <p:sp>
        <p:nvSpPr>
          <p:cNvPr id="7" name="Rounded Rectangle 6"/>
          <p:cNvSpPr/>
          <p:nvPr/>
        </p:nvSpPr>
        <p:spPr>
          <a:xfrm>
            <a:off x="1280160" y="420624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Règle : neutre ↔ terre &gt; 5 V = je ne branche pas</a:t>
            </a:r>
          </a:p>
        </p:txBody>
      </p:sp>
      <p:sp>
        <p:nvSpPr>
          <p:cNvPr id="8" name="Rounded Rectangle 7">
            <a:hlinkClick action="ppaction://hlinksldjump" r:id="rId3"/>
          </p:cNvPr>
          <p:cNvSpPr/>
          <p:nvPr/>
        </p:nvSpPr>
        <p:spPr>
          <a:xfrm>
            <a:off x="8412480" y="5394960"/>
            <a:ext cx="2103120" cy="64008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Continuer  ›</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13 / 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Vérifier le dispositif différentiel 30 mA</a:t>
            </a:r>
          </a:p>
        </p:txBody>
      </p:sp>
      <p:pic>
        <p:nvPicPr>
          <p:cNvPr id="3" name="Picture 2" descr="s14_20.jpg"/>
          <p:cNvPicPr>
            <a:picLocks noChangeAspect="1"/>
          </p:cNvPicPr>
          <p:nvPr/>
        </p:nvPicPr>
        <p:blipFill>
          <a:blip r:embed="rId3"/>
          <a:stretch>
            <a:fillRect/>
          </a:stretch>
        </p:blipFill>
        <p:spPr>
          <a:xfrm>
            <a:off x="1280160" y="1508760"/>
            <a:ext cx="2926079" cy="2926079"/>
          </a:xfrm>
          <a:prstGeom prst="rect">
            <a:avLst/>
          </a:prstGeom>
          <a:ln w="9525">
            <a:solidFill>
              <a:srgbClr val="BDBDBD"/>
            </a:solidFill>
          </a:ln>
        </p:spPr>
      </p:pic>
      <p:pic>
        <p:nvPicPr>
          <p:cNvPr id="4" name="Picture 3" descr="s14_21.jpg"/>
          <p:cNvPicPr>
            <a:picLocks noChangeAspect="1"/>
          </p:cNvPicPr>
          <p:nvPr/>
        </p:nvPicPr>
        <p:blipFill>
          <a:blip r:embed="rId4"/>
          <a:stretch>
            <a:fillRect/>
          </a:stretch>
        </p:blipFill>
        <p:spPr>
          <a:xfrm>
            <a:off x="4725035" y="1371600"/>
            <a:ext cx="2071370" cy="3200400"/>
          </a:xfrm>
          <a:prstGeom prst="rect">
            <a:avLst/>
          </a:prstGeom>
          <a:ln w="9525">
            <a:solidFill>
              <a:srgbClr val="BDBDBD"/>
            </a:solidFill>
          </a:ln>
        </p:spPr>
      </p:pic>
      <p:sp>
        <p:nvSpPr>
          <p:cNvPr id="5" name="Rounded Rectangle 4"/>
          <p:cNvSpPr/>
          <p:nvPr/>
        </p:nvSpPr>
        <p:spPr>
          <a:xfrm>
            <a:off x="7498079" y="1371600"/>
            <a:ext cx="393192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6" name="Oval 5"/>
          <p:cNvSpPr/>
          <p:nvPr/>
        </p:nvSpPr>
        <p:spPr>
          <a:xfrm>
            <a:off x="7607808" y="1627632"/>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1</a:t>
            </a:r>
          </a:p>
        </p:txBody>
      </p:sp>
      <p:sp>
        <p:nvSpPr>
          <p:cNvPr id="7" name="TextBox 6"/>
          <p:cNvSpPr txBox="1"/>
          <p:nvPr/>
        </p:nvSpPr>
        <p:spPr>
          <a:xfrm>
            <a:off x="8183879" y="1417320"/>
            <a:ext cx="3200400" cy="868680"/>
          </a:xfrm>
          <a:prstGeom prst="rect">
            <a:avLst/>
          </a:prstGeom>
          <a:noFill/>
        </p:spPr>
        <p:txBody>
          <a:bodyPr wrap="square" lIns="0" rIns="0" tIns="0" bIns="0" anchor="ctr">
            <a:spAutoFit/>
          </a:bodyPr>
          <a:lstStyle/>
          <a:p>
            <a:pPr algn="l">
              <a:spcBef>
                <a:spcPts val="0"/>
              </a:spcBef>
              <a:spcAft>
                <a:spcPts val="100"/>
              </a:spcAft>
            </a:pPr>
            <a:r>
              <a:rPr sz="1600" b="1" i="0">
                <a:solidFill>
                  <a:srgbClr val="1A1A1A"/>
                </a:solidFill>
                <a:latin typeface="Arial"/>
              </a:rPr>
              <a:t>Bouton « T » ou TEST</a:t>
            </a:r>
          </a:p>
          <a:p>
            <a:pPr algn="l">
              <a:spcBef>
                <a:spcPts val="0"/>
              </a:spcBef>
              <a:spcAft>
                <a:spcPts val="400"/>
              </a:spcAft>
            </a:pPr>
            <a:r>
              <a:rPr sz="1400" b="0" i="0">
                <a:solidFill>
                  <a:srgbClr val="1A1A1A"/>
                </a:solidFill>
                <a:latin typeface="Arial"/>
              </a:rPr>
              <a:t>Le repère le plus facile à voir</a:t>
            </a:r>
          </a:p>
        </p:txBody>
      </p:sp>
      <p:sp>
        <p:nvSpPr>
          <p:cNvPr id="8" name="Rounded Rectangle 7"/>
          <p:cNvSpPr/>
          <p:nvPr/>
        </p:nvSpPr>
        <p:spPr>
          <a:xfrm>
            <a:off x="7498079" y="2468880"/>
            <a:ext cx="393192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9" name="Oval 8"/>
          <p:cNvSpPr/>
          <p:nvPr/>
        </p:nvSpPr>
        <p:spPr>
          <a:xfrm>
            <a:off x="7607808" y="2724912"/>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2</a:t>
            </a:r>
          </a:p>
        </p:txBody>
      </p:sp>
      <p:sp>
        <p:nvSpPr>
          <p:cNvPr id="10" name="TextBox 9"/>
          <p:cNvSpPr txBox="1"/>
          <p:nvPr/>
        </p:nvSpPr>
        <p:spPr>
          <a:xfrm>
            <a:off x="8183879" y="2514600"/>
            <a:ext cx="3200400" cy="868680"/>
          </a:xfrm>
          <a:prstGeom prst="rect">
            <a:avLst/>
          </a:prstGeom>
          <a:noFill/>
        </p:spPr>
        <p:txBody>
          <a:bodyPr wrap="square" lIns="0" rIns="0" tIns="0" bIns="0" anchor="ctr">
            <a:spAutoFit/>
          </a:bodyPr>
          <a:lstStyle/>
          <a:p>
            <a:pPr algn="l">
              <a:spcBef>
                <a:spcPts val="0"/>
              </a:spcBef>
              <a:spcAft>
                <a:spcPts val="100"/>
              </a:spcAft>
            </a:pPr>
            <a:r>
              <a:rPr sz="1600" b="1" i="0">
                <a:solidFill>
                  <a:srgbClr val="1A1A1A"/>
                </a:solidFill>
                <a:latin typeface="Arial"/>
              </a:rPr>
              <a:t>Sensibilité 30 mA</a:t>
            </a:r>
          </a:p>
          <a:p>
            <a:pPr algn="l">
              <a:spcBef>
                <a:spcPts val="0"/>
              </a:spcBef>
              <a:spcAft>
                <a:spcPts val="400"/>
              </a:spcAft>
            </a:pPr>
            <a:r>
              <a:rPr sz="1400" b="0" i="0">
                <a:solidFill>
                  <a:srgbClr val="1A1A1A"/>
                </a:solidFill>
                <a:latin typeface="Arial"/>
              </a:rPr>
              <a:t>Protection des personnes</a:t>
            </a:r>
          </a:p>
        </p:txBody>
      </p:sp>
      <p:sp>
        <p:nvSpPr>
          <p:cNvPr id="11" name="Rounded Rectangle 10"/>
          <p:cNvSpPr/>
          <p:nvPr/>
        </p:nvSpPr>
        <p:spPr>
          <a:xfrm>
            <a:off x="7498079" y="3566160"/>
            <a:ext cx="393192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12" name="Oval 11"/>
          <p:cNvSpPr/>
          <p:nvPr/>
        </p:nvSpPr>
        <p:spPr>
          <a:xfrm>
            <a:off x="7607808" y="3822191"/>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3</a:t>
            </a:r>
          </a:p>
        </p:txBody>
      </p:sp>
      <p:sp>
        <p:nvSpPr>
          <p:cNvPr id="13" name="TextBox 12"/>
          <p:cNvSpPr txBox="1"/>
          <p:nvPr/>
        </p:nvSpPr>
        <p:spPr>
          <a:xfrm>
            <a:off x="8183879" y="3611879"/>
            <a:ext cx="3200400" cy="868680"/>
          </a:xfrm>
          <a:prstGeom prst="rect">
            <a:avLst/>
          </a:prstGeom>
          <a:noFill/>
        </p:spPr>
        <p:txBody>
          <a:bodyPr wrap="square" lIns="0" rIns="0" tIns="0" bIns="0" anchor="ctr">
            <a:spAutoFit/>
          </a:bodyPr>
          <a:lstStyle/>
          <a:p>
            <a:pPr algn="l">
              <a:spcBef>
                <a:spcPts val="0"/>
              </a:spcBef>
              <a:spcAft>
                <a:spcPts val="100"/>
              </a:spcAft>
            </a:pPr>
            <a:r>
              <a:rPr sz="1600" b="1" i="0">
                <a:solidFill>
                  <a:srgbClr val="1A1A1A"/>
                </a:solidFill>
                <a:latin typeface="Arial"/>
              </a:rPr>
              <a:t>Type A ou F</a:t>
            </a:r>
          </a:p>
          <a:p>
            <a:pPr algn="l">
              <a:spcBef>
                <a:spcPts val="0"/>
              </a:spcBef>
              <a:spcAft>
                <a:spcPts val="400"/>
              </a:spcAft>
            </a:pPr>
            <a:r>
              <a:rPr sz="1400" b="0" i="0">
                <a:solidFill>
                  <a:srgbClr val="1A1A1A"/>
                </a:solidFill>
                <a:latin typeface="Arial"/>
              </a:rPr>
              <a:t>Lave-linge et plaques de cuisson</a:t>
            </a:r>
          </a:p>
        </p:txBody>
      </p:sp>
      <p:sp>
        <p:nvSpPr>
          <p:cNvPr id="14" name="Rounded Rectangle 13"/>
          <p:cNvSpPr/>
          <p:nvPr/>
        </p:nvSpPr>
        <p:spPr>
          <a:xfrm>
            <a:off x="1280160" y="4754880"/>
            <a:ext cx="9509760" cy="64008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5" name="TextBox 14"/>
          <p:cNvSpPr txBox="1"/>
          <p:nvPr/>
        </p:nvSpPr>
        <p:spPr>
          <a:xfrm>
            <a:off x="1463039" y="4882896"/>
            <a:ext cx="9144000" cy="420624"/>
          </a:xfrm>
          <a:prstGeom prst="rect">
            <a:avLst/>
          </a:prstGeom>
          <a:noFill/>
        </p:spPr>
        <p:txBody>
          <a:bodyPr wrap="square" lIns="0" rIns="0" tIns="0" bIns="0" anchor="t">
            <a:spAutoFit/>
          </a:bodyPr>
          <a:lstStyle/>
          <a:p>
            <a:pPr algn="l">
              <a:spcBef>
                <a:spcPts val="0"/>
              </a:spcBef>
              <a:spcAft>
                <a:spcPts val="400"/>
              </a:spcAft>
            </a:pPr>
            <a:r>
              <a:rPr sz="1700" b="0" i="0">
                <a:solidFill>
                  <a:srgbClr val="1A1A1A"/>
                </a:solidFill>
                <a:latin typeface="Arial"/>
              </a:rPr>
              <a:t>Je </a:t>
            </a:r>
            <a:r>
              <a:rPr sz="1700" b="1" i="0">
                <a:solidFill>
                  <a:srgbClr val="1A1A1A"/>
                </a:solidFill>
                <a:latin typeface="Arial"/>
              </a:rPr>
              <a:t>repère</a:t>
            </a:r>
            <a:r>
              <a:rPr sz="1700" b="0" i="0">
                <a:solidFill>
                  <a:srgbClr val="1A1A1A"/>
                </a:solidFill>
                <a:latin typeface="Arial"/>
              </a:rPr>
              <a:t>. Je ne modifie rien.</a:t>
            </a:r>
          </a:p>
        </p:txBody>
      </p:sp>
      <p:sp>
        <p:nvSpPr>
          <p:cNvPr id="16" name="TextBox 15"/>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7" name="Rounded Rectangle 16"/>
          <p:cNvSpPr/>
          <p:nvPr/>
        </p:nvSpPr>
        <p:spPr>
          <a:xfrm>
            <a:off x="2148839" y="585216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EPI</a:t>
            </a:r>
          </a:p>
        </p:txBody>
      </p:sp>
      <p:sp>
        <p:nvSpPr>
          <p:cNvPr id="18" name="Rounded Rectangle 17"/>
          <p:cNvSpPr/>
          <p:nvPr/>
        </p:nvSpPr>
        <p:spPr>
          <a:xfrm>
            <a:off x="2766974" y="5852160"/>
            <a:ext cx="67665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Lampe</a:t>
            </a:r>
          </a:p>
        </p:txBody>
      </p:sp>
      <p:sp>
        <p:nvSpPr>
          <p:cNvPr id="19" name="TextBox 1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0" name="TextBox 1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14 / 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Vérifier le disjoncteur adapté à l'appareil</a:t>
            </a:r>
          </a:p>
        </p:txBody>
      </p:sp>
      <p:pic>
        <p:nvPicPr>
          <p:cNvPr id="3" name="Picture 2" descr="s15_23.jpg"/>
          <p:cNvPicPr>
            <a:picLocks noChangeAspect="1"/>
          </p:cNvPicPr>
          <p:nvPr/>
        </p:nvPicPr>
        <p:blipFill>
          <a:blip r:embed="rId3"/>
          <a:stretch>
            <a:fillRect/>
          </a:stretch>
        </p:blipFill>
        <p:spPr>
          <a:xfrm>
            <a:off x="1364883" y="1371600"/>
            <a:ext cx="1202153" cy="3200400"/>
          </a:xfrm>
          <a:prstGeom prst="rect">
            <a:avLst/>
          </a:prstGeom>
          <a:ln w="9525">
            <a:solidFill>
              <a:srgbClr val="BDBDBD"/>
            </a:solidFill>
          </a:ln>
        </p:spPr>
      </p:pic>
      <p:pic>
        <p:nvPicPr>
          <p:cNvPr id="4" name="Picture 3" descr="s15_22.jpg"/>
          <p:cNvPicPr>
            <a:picLocks noChangeAspect="1"/>
          </p:cNvPicPr>
          <p:nvPr/>
        </p:nvPicPr>
        <p:blipFill>
          <a:blip r:embed="rId4"/>
          <a:stretch>
            <a:fillRect/>
          </a:stretch>
        </p:blipFill>
        <p:spPr>
          <a:xfrm>
            <a:off x="2834640" y="1374651"/>
            <a:ext cx="6035040" cy="3057137"/>
          </a:xfrm>
          <a:prstGeom prst="rect">
            <a:avLst/>
          </a:prstGeom>
          <a:ln w="9525">
            <a:solidFill>
              <a:srgbClr val="BDBDBD"/>
            </a:solidFill>
          </a:ln>
        </p:spPr>
      </p:pic>
      <p:sp>
        <p:nvSpPr>
          <p:cNvPr id="5" name="TextBox 4"/>
          <p:cNvSpPr txBox="1"/>
          <p:nvPr/>
        </p:nvSpPr>
        <p:spPr>
          <a:xfrm>
            <a:off x="2834640" y="4480560"/>
            <a:ext cx="60350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Source : guide Legrand NF C 15-100</a:t>
            </a:r>
          </a:p>
        </p:txBody>
      </p:sp>
      <p:sp>
        <p:nvSpPr>
          <p:cNvPr id="6" name="Rounded Rectangle 5"/>
          <p:cNvSpPr/>
          <p:nvPr/>
        </p:nvSpPr>
        <p:spPr>
          <a:xfrm>
            <a:off x="9052560" y="1371600"/>
            <a:ext cx="2377440" cy="3200400"/>
          </a:xfrm>
          <a:prstGeom prst="roundRect">
            <a:avLst>
              <a:gd name="adj" fmla="val 6000"/>
            </a:avLst>
          </a:prstGeom>
          <a:solidFill>
            <a:srgbClr val="F3F3F3"/>
          </a:solidFill>
          <a:ln w="19050">
            <a:solidFill>
              <a:srgbClr val="8C8C8C"/>
            </a:solidFill>
          </a:ln>
        </p:spPr>
        <p:txBody>
          <a:bodyPr rtlCol="0" anchor="ctr"/>
          <a:lstStyle/>
          <a:p>
            <a:pPr algn="ctr"/>
          </a:p>
        </p:txBody>
      </p:sp>
      <p:sp>
        <p:nvSpPr>
          <p:cNvPr id="7" name="Oval 6"/>
          <p:cNvSpPr/>
          <p:nvPr/>
        </p:nvSpPr>
        <p:spPr>
          <a:xfrm>
            <a:off x="9198864" y="1481328"/>
            <a:ext cx="310896" cy="310896"/>
          </a:xfrm>
          <a:prstGeom prst="ellipse">
            <a:avLst/>
          </a:prstGeom>
          <a:solidFill>
            <a:srgbClr val="8C8C8C"/>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i</a:t>
            </a:r>
          </a:p>
        </p:txBody>
      </p:sp>
      <p:sp>
        <p:nvSpPr>
          <p:cNvPr id="8" name="TextBox 7"/>
          <p:cNvSpPr txBox="1"/>
          <p:nvPr/>
        </p:nvSpPr>
        <p:spPr>
          <a:xfrm>
            <a:off x="9601200" y="1481328"/>
            <a:ext cx="16916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8C8C8C"/>
                </a:solidFill>
                <a:latin typeface="Arial"/>
              </a:rPr>
              <a:t>REPÈRES</a:t>
            </a:r>
          </a:p>
        </p:txBody>
      </p:sp>
      <p:sp>
        <p:nvSpPr>
          <p:cNvPr id="9" name="TextBox 8"/>
          <p:cNvSpPr txBox="1"/>
          <p:nvPr/>
        </p:nvSpPr>
        <p:spPr>
          <a:xfrm>
            <a:off x="9235440" y="1901952"/>
            <a:ext cx="2011680" cy="2578608"/>
          </a:xfrm>
          <a:prstGeom prst="rect">
            <a:avLst/>
          </a:prstGeom>
          <a:noFill/>
        </p:spPr>
        <p:txBody>
          <a:bodyPr wrap="square" lIns="0" rIns="0" tIns="0" bIns="0" anchor="t">
            <a:spAutoFit/>
          </a:bodyPr>
          <a:lstStyle/>
          <a:p>
            <a:pPr algn="l">
              <a:spcBef>
                <a:spcPts val="0"/>
              </a:spcBef>
              <a:spcAft>
                <a:spcPts val="200"/>
              </a:spcAft>
            </a:pPr>
            <a:r>
              <a:rPr sz="1300" b="0" i="0">
                <a:solidFill>
                  <a:srgbClr val="1A1A1A"/>
                </a:solidFill>
                <a:latin typeface="Arial"/>
              </a:rPr>
              <a:t>Lave-linge, lave-vaisselle, sèche-linge, four :</a:t>
            </a:r>
          </a:p>
          <a:p>
            <a:pPr algn="l">
              <a:spcBef>
                <a:spcPts val="0"/>
              </a:spcBef>
              <a:spcAft>
                <a:spcPts val="600"/>
              </a:spcAft>
            </a:pPr>
            <a:r>
              <a:rPr sz="1600" b="1" i="0">
                <a:solidFill>
                  <a:srgbClr val="0E2841"/>
                </a:solidFill>
                <a:latin typeface="Arial"/>
              </a:rPr>
              <a:t>20 A · 2,5 mm²</a:t>
            </a:r>
          </a:p>
          <a:p>
            <a:pPr algn="l">
              <a:spcBef>
                <a:spcPts val="0"/>
              </a:spcBef>
              <a:spcAft>
                <a:spcPts val="200"/>
              </a:spcAft>
            </a:pPr>
            <a:r>
              <a:rPr sz="1300" b="0" i="0">
                <a:solidFill>
                  <a:srgbClr val="1A1A1A"/>
                </a:solidFill>
                <a:latin typeface="Arial"/>
              </a:rPr>
              <a:t>Plaque de cuisson (mono) :</a:t>
            </a:r>
          </a:p>
          <a:p>
            <a:pPr algn="l">
              <a:spcBef>
                <a:spcPts val="0"/>
              </a:spcBef>
              <a:spcAft>
                <a:spcPts val="400"/>
              </a:spcAft>
            </a:pPr>
            <a:r>
              <a:rPr sz="1600" b="1" i="0">
                <a:solidFill>
                  <a:srgbClr val="0E2841"/>
                </a:solidFill>
                <a:latin typeface="Arial"/>
              </a:rPr>
              <a:t>32 A · 6 mm²</a:t>
            </a:r>
          </a:p>
        </p:txBody>
      </p:sp>
      <p:sp>
        <p:nvSpPr>
          <p:cNvPr id="10" name="Rounded Rectangle 9"/>
          <p:cNvSpPr/>
          <p:nvPr/>
        </p:nvSpPr>
        <p:spPr>
          <a:xfrm>
            <a:off x="1280160" y="4754880"/>
            <a:ext cx="9509760" cy="987552"/>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1" name="Oval 10"/>
          <p:cNvSpPr/>
          <p:nvPr/>
        </p:nvSpPr>
        <p:spPr>
          <a:xfrm>
            <a:off x="1426463" y="486460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2" name="TextBox 11"/>
          <p:cNvSpPr txBox="1"/>
          <p:nvPr/>
        </p:nvSpPr>
        <p:spPr>
          <a:xfrm>
            <a:off x="1828800" y="486460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QUE FAIRE DANS CETTE SITUATION ?</a:t>
            </a:r>
          </a:p>
        </p:txBody>
      </p:sp>
      <p:sp>
        <p:nvSpPr>
          <p:cNvPr id="13" name="TextBox 12"/>
          <p:cNvSpPr txBox="1"/>
          <p:nvPr/>
        </p:nvSpPr>
        <p:spPr>
          <a:xfrm>
            <a:off x="1463039" y="5285232"/>
            <a:ext cx="9144000" cy="365760"/>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Protection </a:t>
            </a:r>
            <a:r>
              <a:rPr sz="1400" b="1" i="0">
                <a:solidFill>
                  <a:srgbClr val="1A1A1A"/>
                </a:solidFill>
                <a:latin typeface="Arial"/>
              </a:rPr>
              <a:t>non adaptée</a:t>
            </a:r>
            <a:r>
              <a:rPr sz="1400" b="0" i="0">
                <a:solidFill>
                  <a:srgbClr val="1A1A1A"/>
                </a:solidFill>
                <a:latin typeface="Arial"/>
              </a:rPr>
              <a:t> ? Je ne remplace rien : le client fait adapter par un électricien. J'informe et je notifie dans le dossier Nomad.</a:t>
            </a:r>
          </a:p>
        </p:txBody>
      </p:sp>
      <p:sp>
        <p:nvSpPr>
          <p:cNvPr id="14" name="TextBox 13"/>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5" name="Rounded Rectangle 14"/>
          <p:cNvSpPr/>
          <p:nvPr/>
        </p:nvSpPr>
        <p:spPr>
          <a:xfrm>
            <a:off x="2148839" y="5852160"/>
            <a:ext cx="1686153"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Guide NF C 15-100</a:t>
            </a:r>
          </a:p>
        </p:txBody>
      </p:sp>
      <p:sp>
        <p:nvSpPr>
          <p:cNvPr id="16" name="TextBox 1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7" name="TextBox 1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15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Retrouver le disjoncteur de mon appareil</a:t>
            </a:r>
          </a:p>
        </p:txBody>
      </p:sp>
      <p:pic>
        <p:nvPicPr>
          <p:cNvPr id="3" name="Picture 2" descr="s21_33.jpg"/>
          <p:cNvPicPr>
            <a:picLocks noChangeAspect="1"/>
          </p:cNvPicPr>
          <p:nvPr/>
        </p:nvPicPr>
        <p:blipFill>
          <a:blip r:embed="rId3"/>
          <a:stretch>
            <a:fillRect/>
          </a:stretch>
        </p:blipFill>
        <p:spPr>
          <a:xfrm>
            <a:off x="1280160" y="1588749"/>
            <a:ext cx="3931920" cy="2217461"/>
          </a:xfrm>
          <a:prstGeom prst="rect">
            <a:avLst/>
          </a:prstGeom>
          <a:ln w="9525">
            <a:solidFill>
              <a:srgbClr val="BDBDBD"/>
            </a:solidFill>
          </a:ln>
        </p:spPr>
      </p:pic>
      <p:sp>
        <p:nvSpPr>
          <p:cNvPr id="4" name="TextBox 3"/>
          <p:cNvSpPr txBox="1"/>
          <p:nvPr/>
        </p:nvSpPr>
        <p:spPr>
          <a:xfrm>
            <a:off x="1280160" y="4023360"/>
            <a:ext cx="393192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Tableau repéré : « Protection 30 mA type A », lave-linge, plaque…</a:t>
            </a:r>
          </a:p>
        </p:txBody>
      </p:sp>
      <p:sp>
        <p:nvSpPr>
          <p:cNvPr id="5" name="Rounded Rectangle 4"/>
          <p:cNvSpPr/>
          <p:nvPr/>
        </p:nvSpPr>
        <p:spPr>
          <a:xfrm>
            <a:off x="5486400" y="1371600"/>
            <a:ext cx="5943600" cy="1234440"/>
          </a:xfrm>
          <a:prstGeom prst="roundRect">
            <a:avLst>
              <a:gd name="adj" fmla="val 8000"/>
            </a:avLst>
          </a:prstGeom>
          <a:solidFill>
            <a:srgbClr val="F3F3F3"/>
          </a:solidFill>
          <a:ln w="12700">
            <a:solidFill>
              <a:srgbClr val="BDBDBD"/>
            </a:solidFill>
          </a:ln>
        </p:spPr>
        <p:txBody>
          <a:bodyPr rtlCol="0" anchor="ctr"/>
          <a:lstStyle/>
          <a:p>
            <a:pPr algn="ctr"/>
          </a:p>
        </p:txBody>
      </p:sp>
      <p:sp>
        <p:nvSpPr>
          <p:cNvPr id="6" name="Oval 5"/>
          <p:cNvSpPr/>
          <p:nvPr/>
        </p:nvSpPr>
        <p:spPr>
          <a:xfrm>
            <a:off x="5623560" y="150876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1</a:t>
            </a:r>
          </a:p>
        </p:txBody>
      </p:sp>
      <p:sp>
        <p:nvSpPr>
          <p:cNvPr id="7" name="TextBox 6"/>
          <p:cNvSpPr txBox="1"/>
          <p:nvPr/>
        </p:nvSpPr>
        <p:spPr>
          <a:xfrm>
            <a:off x="6217920" y="1444752"/>
            <a:ext cx="5074920" cy="1097280"/>
          </a:xfrm>
          <a:prstGeom prst="rect">
            <a:avLst/>
          </a:prstGeom>
          <a:noFill/>
        </p:spPr>
        <p:txBody>
          <a:bodyPr wrap="square" lIns="0" rIns="0" tIns="0" bIns="0" anchor="ctr">
            <a:spAutoFit/>
          </a:bodyPr>
          <a:lstStyle/>
          <a:p>
            <a:pPr algn="l">
              <a:spcBef>
                <a:spcPts val="0"/>
              </a:spcBef>
              <a:spcAft>
                <a:spcPts val="200"/>
              </a:spcAft>
            </a:pPr>
            <a:r>
              <a:rPr sz="1600" b="1" i="0">
                <a:solidFill>
                  <a:srgbClr val="1A1A1A"/>
                </a:solidFill>
                <a:latin typeface="Arial"/>
              </a:rPr>
              <a:t>Lire l'étiquette</a:t>
            </a:r>
          </a:p>
          <a:p>
            <a:pPr algn="l">
              <a:spcBef>
                <a:spcPts val="0"/>
              </a:spcBef>
              <a:spcAft>
                <a:spcPts val="400"/>
              </a:spcAft>
            </a:pPr>
            <a:r>
              <a:rPr sz="1400" b="0" i="0">
                <a:solidFill>
                  <a:srgbClr val="1A1A1A"/>
                </a:solidFill>
                <a:latin typeface="Arial"/>
              </a:rPr>
              <a:t>LL, lave-linge, buanderie, prise spécialisée, four, plaque : le disjoncteur associé est souvent un 20 A</a:t>
            </a:r>
          </a:p>
        </p:txBody>
      </p:sp>
      <p:sp>
        <p:nvSpPr>
          <p:cNvPr id="8" name="Rounded Rectangle 7"/>
          <p:cNvSpPr/>
          <p:nvPr/>
        </p:nvSpPr>
        <p:spPr>
          <a:xfrm>
            <a:off x="5486400" y="2743200"/>
            <a:ext cx="5943600" cy="1234440"/>
          </a:xfrm>
          <a:prstGeom prst="roundRect">
            <a:avLst>
              <a:gd name="adj" fmla="val 8000"/>
            </a:avLst>
          </a:prstGeom>
          <a:solidFill>
            <a:srgbClr val="F3F3F3"/>
          </a:solidFill>
          <a:ln w="12700">
            <a:solidFill>
              <a:srgbClr val="BDBDBD"/>
            </a:solidFill>
          </a:ln>
        </p:spPr>
        <p:txBody>
          <a:bodyPr rtlCol="0" anchor="ctr"/>
          <a:lstStyle/>
          <a:p>
            <a:pPr algn="ctr"/>
          </a:p>
        </p:txBody>
      </p:sp>
      <p:sp>
        <p:nvSpPr>
          <p:cNvPr id="9" name="Oval 8"/>
          <p:cNvSpPr/>
          <p:nvPr/>
        </p:nvSpPr>
        <p:spPr>
          <a:xfrm>
            <a:off x="5623560" y="288036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2</a:t>
            </a:r>
          </a:p>
        </p:txBody>
      </p:sp>
      <p:sp>
        <p:nvSpPr>
          <p:cNvPr id="10" name="TextBox 9"/>
          <p:cNvSpPr txBox="1"/>
          <p:nvPr/>
        </p:nvSpPr>
        <p:spPr>
          <a:xfrm>
            <a:off x="6217920" y="2816352"/>
            <a:ext cx="5074920" cy="1097280"/>
          </a:xfrm>
          <a:prstGeom prst="rect">
            <a:avLst/>
          </a:prstGeom>
          <a:noFill/>
        </p:spPr>
        <p:txBody>
          <a:bodyPr wrap="square" lIns="0" rIns="0" tIns="0" bIns="0" anchor="ctr">
            <a:spAutoFit/>
          </a:bodyPr>
          <a:lstStyle/>
          <a:p>
            <a:pPr algn="l">
              <a:spcBef>
                <a:spcPts val="0"/>
              </a:spcBef>
              <a:spcAft>
                <a:spcPts val="200"/>
              </a:spcAft>
            </a:pPr>
            <a:r>
              <a:rPr sz="1600" b="1" i="0">
                <a:solidFill>
                  <a:srgbClr val="1A1A1A"/>
                </a:solidFill>
                <a:latin typeface="Arial"/>
              </a:rPr>
              <a:t>Couper un par un</a:t>
            </a:r>
          </a:p>
          <a:p>
            <a:pPr algn="l">
              <a:spcBef>
                <a:spcPts val="0"/>
              </a:spcBef>
              <a:spcAft>
                <a:spcPts val="400"/>
              </a:spcAft>
            </a:pPr>
            <a:r>
              <a:rPr sz="1400" b="0" i="0">
                <a:solidFill>
                  <a:srgbClr val="1A1A1A"/>
                </a:solidFill>
                <a:latin typeface="Arial"/>
              </a:rPr>
              <a:t>Appareil en marche, une autre personne contrôle. J'abaisse un disjoncteur à la fois, puis je </a:t>
            </a:r>
            <a:r>
              <a:rPr sz="1400" b="1" i="0">
                <a:solidFill>
                  <a:srgbClr val="1A1A1A"/>
                </a:solidFill>
                <a:latin typeface="Arial"/>
              </a:rPr>
              <a:t>réenclenche</a:t>
            </a:r>
          </a:p>
        </p:txBody>
      </p:sp>
      <p:sp>
        <p:nvSpPr>
          <p:cNvPr id="11" name="Rounded Rectangle 10"/>
          <p:cNvSpPr/>
          <p:nvPr/>
        </p:nvSpPr>
        <p:spPr>
          <a:xfrm>
            <a:off x="5486400" y="4114800"/>
            <a:ext cx="5943600" cy="1234440"/>
          </a:xfrm>
          <a:prstGeom prst="roundRect">
            <a:avLst>
              <a:gd name="adj" fmla="val 8000"/>
            </a:avLst>
          </a:prstGeom>
          <a:solidFill>
            <a:srgbClr val="F3F3F3"/>
          </a:solidFill>
          <a:ln w="12700">
            <a:solidFill>
              <a:srgbClr val="BDBDBD"/>
            </a:solidFill>
          </a:ln>
        </p:spPr>
        <p:txBody>
          <a:bodyPr rtlCol="0" anchor="ctr"/>
          <a:lstStyle/>
          <a:p>
            <a:pPr algn="ctr"/>
          </a:p>
        </p:txBody>
      </p:sp>
      <p:sp>
        <p:nvSpPr>
          <p:cNvPr id="12" name="Oval 11"/>
          <p:cNvSpPr/>
          <p:nvPr/>
        </p:nvSpPr>
        <p:spPr>
          <a:xfrm>
            <a:off x="5623560" y="4251960"/>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3</a:t>
            </a:r>
          </a:p>
        </p:txBody>
      </p:sp>
      <p:sp>
        <p:nvSpPr>
          <p:cNvPr id="13" name="TextBox 12"/>
          <p:cNvSpPr txBox="1"/>
          <p:nvPr/>
        </p:nvSpPr>
        <p:spPr>
          <a:xfrm>
            <a:off x="6217920" y="4187952"/>
            <a:ext cx="5074920" cy="1097280"/>
          </a:xfrm>
          <a:prstGeom prst="rect">
            <a:avLst/>
          </a:prstGeom>
          <a:noFill/>
        </p:spPr>
        <p:txBody>
          <a:bodyPr wrap="square" lIns="0" rIns="0" tIns="0" bIns="0" anchor="ctr">
            <a:spAutoFit/>
          </a:bodyPr>
          <a:lstStyle/>
          <a:p>
            <a:pPr algn="l">
              <a:spcBef>
                <a:spcPts val="0"/>
              </a:spcBef>
              <a:spcAft>
                <a:spcPts val="200"/>
              </a:spcAft>
            </a:pPr>
            <a:r>
              <a:rPr sz="1600" b="1" i="0">
                <a:solidFill>
                  <a:srgbClr val="1A1A1A"/>
                </a:solidFill>
                <a:latin typeface="Arial"/>
              </a:rPr>
              <a:t>Avec le VAT (si habilité et formé)</a:t>
            </a:r>
          </a:p>
          <a:p>
            <a:pPr algn="l">
              <a:spcBef>
                <a:spcPts val="0"/>
              </a:spcBef>
              <a:spcAft>
                <a:spcPts val="400"/>
              </a:spcAft>
            </a:pPr>
            <a:r>
              <a:rPr sz="1400" b="0" i="0">
                <a:solidFill>
                  <a:srgbClr val="1A1A1A"/>
                </a:solidFill>
                <a:latin typeface="Arial"/>
              </a:rPr>
              <a:t>VAT sur la prise (phase / neutre), je coupe un par un : absence de tension = bon disjoncteur</a:t>
            </a:r>
          </a:p>
        </p:txBody>
      </p:sp>
      <p:sp>
        <p:nvSpPr>
          <p:cNvPr id="14" name="Rounded Rectangle 13"/>
          <p:cNvSpPr/>
          <p:nvPr/>
        </p:nvSpPr>
        <p:spPr>
          <a:xfrm>
            <a:off x="1280160" y="4709160"/>
            <a:ext cx="3931920" cy="868680"/>
          </a:xfrm>
          <a:prstGeom prst="roundRect">
            <a:avLst>
              <a:gd name="adj" fmla="val 12000"/>
            </a:avLst>
          </a:prstGeom>
          <a:solidFill>
            <a:srgbClr val="D99100"/>
          </a:solidFill>
          <a:ln>
            <a:noFill/>
          </a:ln>
        </p:spPr>
        <p:txBody>
          <a:bodyPr rtlCol="0" anchor="ctr" lIns="182880" rIns="182880" tIns="109728" bIns="109728" wrap="square"/>
          <a:lstStyle/>
          <a:p>
            <a:pPr algn="l">
              <a:spcBef>
                <a:spcPts val="0"/>
              </a:spcBef>
              <a:spcAft>
                <a:spcPts val="200"/>
              </a:spcAft>
            </a:pPr>
            <a:r>
              <a:rPr sz="1500" b="1" i="0">
                <a:solidFill>
                  <a:srgbClr val="FFFFFF"/>
                </a:solidFill>
                <a:latin typeface="Arial"/>
              </a:rPr>
              <a:t>Je ne sais pas ? Je ne branche pas.</a:t>
            </a:r>
          </a:p>
        </p:txBody>
      </p:sp>
      <p:sp>
        <p:nvSpPr>
          <p:cNvPr id="15" name="TextBox 14"/>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6" name="Rounded Rectangle 15"/>
          <p:cNvSpPr/>
          <p:nvPr/>
        </p:nvSpPr>
        <p:spPr>
          <a:xfrm>
            <a:off x="2148839" y="585216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VAT</a:t>
            </a:r>
          </a:p>
        </p:txBody>
      </p:sp>
      <p:sp>
        <p:nvSpPr>
          <p:cNvPr id="17" name="Rounded Rectangle 16"/>
          <p:cNvSpPr/>
          <p:nvPr/>
        </p:nvSpPr>
        <p:spPr>
          <a:xfrm>
            <a:off x="2766974" y="5852160"/>
            <a:ext cx="50840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EPI</a:t>
            </a:r>
          </a:p>
        </p:txBody>
      </p:sp>
      <p:sp>
        <p:nvSpPr>
          <p:cNvPr id="18" name="TextBox 17"/>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19" name="TextBox 18"/>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Prise dédiée ou prise confort ?</a:t>
            </a:r>
          </a:p>
        </p:txBody>
      </p:sp>
      <p:pic>
        <p:nvPicPr>
          <p:cNvPr id="3" name="Picture 2" descr="s13_19.jpg"/>
          <p:cNvPicPr>
            <a:picLocks noChangeAspect="1"/>
          </p:cNvPicPr>
          <p:nvPr/>
        </p:nvPicPr>
        <p:blipFill>
          <a:blip r:embed="rId3"/>
          <a:stretch>
            <a:fillRect/>
          </a:stretch>
        </p:blipFill>
        <p:spPr>
          <a:xfrm>
            <a:off x="1280160" y="1371600"/>
            <a:ext cx="2377440" cy="2377440"/>
          </a:xfrm>
          <a:prstGeom prst="rect">
            <a:avLst/>
          </a:prstGeom>
          <a:ln w="9525">
            <a:solidFill>
              <a:srgbClr val="BDBDBD"/>
            </a:solidFill>
          </a:ln>
        </p:spPr>
      </p:pic>
      <p:pic>
        <p:nvPicPr>
          <p:cNvPr id="4" name="Picture 3" descr="s12_17.jpg"/>
          <p:cNvPicPr>
            <a:picLocks noChangeAspect="1"/>
          </p:cNvPicPr>
          <p:nvPr/>
        </p:nvPicPr>
        <p:blipFill>
          <a:blip r:embed="rId4"/>
          <a:stretch>
            <a:fillRect/>
          </a:stretch>
        </p:blipFill>
        <p:spPr>
          <a:xfrm>
            <a:off x="1583017" y="3840480"/>
            <a:ext cx="1771725" cy="1737360"/>
          </a:xfrm>
          <a:prstGeom prst="rect">
            <a:avLst/>
          </a:prstGeom>
          <a:ln w="9525">
            <a:solidFill>
              <a:srgbClr val="BDBDBD"/>
            </a:solidFill>
          </a:ln>
        </p:spPr>
      </p:pic>
      <p:sp>
        <p:nvSpPr>
          <p:cNvPr id="5" name="Rounded Rectangle 4"/>
          <p:cNvSpPr/>
          <p:nvPr/>
        </p:nvSpPr>
        <p:spPr>
          <a:xfrm>
            <a:off x="3840480" y="1371600"/>
            <a:ext cx="411480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6" name="Oval 5"/>
          <p:cNvSpPr/>
          <p:nvPr/>
        </p:nvSpPr>
        <p:spPr>
          <a:xfrm>
            <a:off x="3950208" y="1627632"/>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1</a:t>
            </a:r>
          </a:p>
        </p:txBody>
      </p:sp>
      <p:sp>
        <p:nvSpPr>
          <p:cNvPr id="7" name="TextBox 6"/>
          <p:cNvSpPr txBox="1"/>
          <p:nvPr/>
        </p:nvSpPr>
        <p:spPr>
          <a:xfrm>
            <a:off x="4526280" y="1408176"/>
            <a:ext cx="3337560" cy="886968"/>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Observer</a:t>
            </a:r>
          </a:p>
          <a:p>
            <a:pPr algn="l">
              <a:spcBef>
                <a:spcPts val="0"/>
              </a:spcBef>
              <a:spcAft>
                <a:spcPts val="400"/>
              </a:spcAft>
            </a:pPr>
            <a:r>
              <a:rPr sz="1300" b="0" i="0">
                <a:solidFill>
                  <a:srgbClr val="1A1A1A"/>
                </a:solidFill>
                <a:latin typeface="Arial"/>
              </a:rPr>
              <a:t>Derrière ou à côté de l'appareil : un </a:t>
            </a:r>
            <a:r>
              <a:rPr sz="1300" b="1" i="0">
                <a:solidFill>
                  <a:srgbClr val="1A1A1A"/>
                </a:solidFill>
                <a:latin typeface="Arial"/>
              </a:rPr>
              <a:t>indice</a:t>
            </a:r>
            <a:r>
              <a:rPr sz="1300" b="0" i="0">
                <a:solidFill>
                  <a:srgbClr val="1A1A1A"/>
                </a:solidFill>
                <a:latin typeface="Arial"/>
              </a:rPr>
              <a:t>, pas une preuve</a:t>
            </a:r>
          </a:p>
        </p:txBody>
      </p:sp>
      <p:sp>
        <p:nvSpPr>
          <p:cNvPr id="8" name="Rounded Rectangle 7"/>
          <p:cNvSpPr/>
          <p:nvPr/>
        </p:nvSpPr>
        <p:spPr>
          <a:xfrm>
            <a:off x="3840480" y="2450591"/>
            <a:ext cx="411480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9" name="Oval 8"/>
          <p:cNvSpPr/>
          <p:nvPr/>
        </p:nvSpPr>
        <p:spPr>
          <a:xfrm>
            <a:off x="3950208" y="2706624"/>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2</a:t>
            </a:r>
          </a:p>
        </p:txBody>
      </p:sp>
      <p:sp>
        <p:nvSpPr>
          <p:cNvPr id="10" name="TextBox 9"/>
          <p:cNvSpPr txBox="1"/>
          <p:nvPr/>
        </p:nvSpPr>
        <p:spPr>
          <a:xfrm>
            <a:off x="4526280" y="2487168"/>
            <a:ext cx="3337560" cy="886968"/>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Regarder le tableau</a:t>
            </a:r>
          </a:p>
          <a:p>
            <a:pPr algn="l">
              <a:spcBef>
                <a:spcPts val="0"/>
              </a:spcBef>
              <a:spcAft>
                <a:spcPts val="400"/>
              </a:spcAft>
            </a:pPr>
            <a:r>
              <a:rPr sz="1300" b="0" i="0">
                <a:solidFill>
                  <a:srgbClr val="1A1A1A"/>
                </a:solidFill>
                <a:latin typeface="Arial"/>
              </a:rPr>
              <a:t>Disjoncteur repéré : </a:t>
            </a:r>
            <a:r>
              <a:rPr sz="1300" b="1" i="0">
                <a:solidFill>
                  <a:srgbClr val="1A1A1A"/>
                </a:solidFill>
                <a:latin typeface="Arial"/>
              </a:rPr>
              <a:t>LL, LV, SL</a:t>
            </a:r>
            <a:r>
              <a:rPr sz="1300" b="0" i="0">
                <a:solidFill>
                  <a:srgbClr val="1A1A1A"/>
                </a:solidFill>
                <a:latin typeface="Arial"/>
              </a:rPr>
              <a:t>, four, plaque cuisson</a:t>
            </a:r>
          </a:p>
        </p:txBody>
      </p:sp>
      <p:sp>
        <p:nvSpPr>
          <p:cNvPr id="11" name="Rounded Rectangle 10"/>
          <p:cNvSpPr/>
          <p:nvPr/>
        </p:nvSpPr>
        <p:spPr>
          <a:xfrm>
            <a:off x="3840480" y="3529584"/>
            <a:ext cx="4114800" cy="960120"/>
          </a:xfrm>
          <a:prstGeom prst="roundRect">
            <a:avLst>
              <a:gd name="adj" fmla="val 10000"/>
            </a:avLst>
          </a:prstGeom>
          <a:solidFill>
            <a:srgbClr val="F3F3F3"/>
          </a:solidFill>
          <a:ln w="12700">
            <a:solidFill>
              <a:srgbClr val="BDBDBD"/>
            </a:solidFill>
          </a:ln>
        </p:spPr>
        <p:txBody>
          <a:bodyPr rtlCol="0" anchor="ctr"/>
          <a:lstStyle/>
          <a:p>
            <a:pPr algn="ctr"/>
          </a:p>
        </p:txBody>
      </p:sp>
      <p:sp>
        <p:nvSpPr>
          <p:cNvPr id="12" name="Oval 11"/>
          <p:cNvSpPr/>
          <p:nvPr/>
        </p:nvSpPr>
        <p:spPr>
          <a:xfrm>
            <a:off x="3950208" y="3785615"/>
            <a:ext cx="420624" cy="420624"/>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3</a:t>
            </a:r>
          </a:p>
        </p:txBody>
      </p:sp>
      <p:sp>
        <p:nvSpPr>
          <p:cNvPr id="13" name="TextBox 12"/>
          <p:cNvSpPr txBox="1"/>
          <p:nvPr/>
        </p:nvSpPr>
        <p:spPr>
          <a:xfrm>
            <a:off x="4526280" y="3566160"/>
            <a:ext cx="3337560" cy="886968"/>
          </a:xfrm>
          <a:prstGeom prst="rect">
            <a:avLst/>
          </a:prstGeom>
          <a:noFill/>
        </p:spPr>
        <p:txBody>
          <a:bodyPr wrap="square" lIns="0" rIns="0" tIns="0" bIns="0" anchor="ctr">
            <a:spAutoFit/>
          </a:bodyPr>
          <a:lstStyle/>
          <a:p>
            <a:pPr algn="l">
              <a:spcBef>
                <a:spcPts val="0"/>
              </a:spcBef>
              <a:spcAft>
                <a:spcPts val="100"/>
              </a:spcAft>
            </a:pPr>
            <a:r>
              <a:rPr sz="1500" b="1" i="0">
                <a:solidFill>
                  <a:srgbClr val="1A1A1A"/>
                </a:solidFill>
                <a:latin typeface="Arial"/>
              </a:rPr>
              <a:t>Vérifier les usages</a:t>
            </a:r>
          </a:p>
          <a:p>
            <a:pPr algn="l">
              <a:spcBef>
                <a:spcPts val="0"/>
              </a:spcBef>
              <a:spcAft>
                <a:spcPts val="400"/>
              </a:spcAft>
            </a:pPr>
            <a:r>
              <a:rPr sz="1300" b="0" i="0">
                <a:solidFill>
                  <a:srgbClr val="1A1A1A"/>
                </a:solidFill>
                <a:latin typeface="Arial"/>
              </a:rPr>
              <a:t>Plusieurs prises sur la ligne ? Multiprise ? Autres appareils ?</a:t>
            </a:r>
          </a:p>
        </p:txBody>
      </p:sp>
      <p:sp>
        <p:nvSpPr>
          <p:cNvPr id="14" name="Rounded Rectangle 13"/>
          <p:cNvSpPr/>
          <p:nvPr/>
        </p:nvSpPr>
        <p:spPr>
          <a:xfrm>
            <a:off x="8138160" y="1371600"/>
            <a:ext cx="3291840" cy="315468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15" name="Oval 14"/>
          <p:cNvSpPr/>
          <p:nvPr/>
        </p:nvSpPr>
        <p:spPr>
          <a:xfrm>
            <a:off x="8284464" y="148132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6" name="TextBox 15"/>
          <p:cNvSpPr txBox="1"/>
          <p:nvPr/>
        </p:nvSpPr>
        <p:spPr>
          <a:xfrm>
            <a:off x="8686800" y="1481328"/>
            <a:ext cx="26060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17" name="TextBox 16"/>
          <p:cNvSpPr txBox="1"/>
          <p:nvPr/>
        </p:nvSpPr>
        <p:spPr>
          <a:xfrm>
            <a:off x="8321040" y="1901952"/>
            <a:ext cx="2926080" cy="253288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Usages d'une prise </a:t>
            </a:r>
            <a:r>
              <a:rPr sz="1400" b="1" i="0">
                <a:solidFill>
                  <a:srgbClr val="1A1A1A"/>
                </a:solidFill>
                <a:latin typeface="Arial"/>
              </a:rPr>
              <a:t>confort</a:t>
            </a:r>
            <a:r>
              <a:rPr sz="1400" b="0" i="0">
                <a:solidFill>
                  <a:srgbClr val="1A1A1A"/>
                </a:solidFill>
                <a:latin typeface="Arial"/>
              </a:rPr>
              <a:t> :</a:t>
            </a:r>
          </a:p>
          <a:p>
            <a:pPr algn="l">
              <a:spcBef>
                <a:spcPts val="0"/>
              </a:spcBef>
              <a:spcAft>
                <a:spcPts val="600"/>
              </a:spcAft>
            </a:pPr>
            <a:r>
              <a:rPr sz="1400" b="0" i="0">
                <a:solidFill>
                  <a:srgbClr val="1A1A1A"/>
                </a:solidFill>
                <a:latin typeface="Arial"/>
              </a:rPr>
              <a:t>aspirateur, cafetière, </a:t>
            </a:r>
            <a:r>
              <a:rPr sz="1400" b="1" i="0">
                <a:solidFill>
                  <a:srgbClr val="1A1A1A"/>
                </a:solidFill>
                <a:latin typeface="Arial"/>
              </a:rPr>
              <a:t>télévision</a:t>
            </a:r>
            <a:r>
              <a:rPr sz="1400" b="0" i="0">
                <a:solidFill>
                  <a:srgbClr val="1A1A1A"/>
                </a:solidFill>
                <a:latin typeface="Arial"/>
              </a:rPr>
              <a:t>, chargeur, lampe, petit électroménager</a:t>
            </a:r>
          </a:p>
          <a:p>
            <a:pPr algn="l">
              <a:spcBef>
                <a:spcPts val="0"/>
              </a:spcBef>
              <a:spcAft>
                <a:spcPts val="400"/>
              </a:spcAft>
            </a:pPr>
            <a:r>
              <a:rPr sz="1400" b="1" i="0">
                <a:solidFill>
                  <a:srgbClr val="1A1A1A"/>
                </a:solidFill>
                <a:latin typeface="Arial"/>
              </a:rPr>
              <a:t>Plusieurs usages = suspicion de prise confort</a:t>
            </a:r>
          </a:p>
        </p:txBody>
      </p:sp>
      <p:sp>
        <p:nvSpPr>
          <p:cNvPr id="18" name="Rounded Rectangle 17"/>
          <p:cNvSpPr/>
          <p:nvPr/>
        </p:nvSpPr>
        <p:spPr>
          <a:xfrm>
            <a:off x="3840480" y="4709160"/>
            <a:ext cx="7589520" cy="86868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9" name="Oval 18"/>
          <p:cNvSpPr/>
          <p:nvPr/>
        </p:nvSpPr>
        <p:spPr>
          <a:xfrm>
            <a:off x="3986784" y="481888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0" name="TextBox 19"/>
          <p:cNvSpPr txBox="1"/>
          <p:nvPr/>
        </p:nvSpPr>
        <p:spPr>
          <a:xfrm>
            <a:off x="4389120" y="4818888"/>
            <a:ext cx="69037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QUE FAIRE DANS CETTE SITUATION ?</a:t>
            </a:r>
          </a:p>
        </p:txBody>
      </p:sp>
      <p:sp>
        <p:nvSpPr>
          <p:cNvPr id="21" name="TextBox 20"/>
          <p:cNvSpPr txBox="1"/>
          <p:nvPr/>
        </p:nvSpPr>
        <p:spPr>
          <a:xfrm>
            <a:off x="4023360" y="5239512"/>
            <a:ext cx="7223760" cy="246887"/>
          </a:xfrm>
          <a:prstGeom prst="rect">
            <a:avLst/>
          </a:prstGeom>
          <a:noFill/>
        </p:spPr>
        <p:txBody>
          <a:bodyPr wrap="square" lIns="0" rIns="0" tIns="0" bIns="0" anchor="t">
            <a:spAutoFit/>
          </a:bodyPr>
          <a:lstStyle/>
          <a:p>
            <a:pPr algn="l">
              <a:spcBef>
                <a:spcPts val="0"/>
              </a:spcBef>
              <a:spcAft>
                <a:spcPts val="400"/>
              </a:spcAft>
            </a:pPr>
            <a:r>
              <a:rPr sz="1500" b="0" i="0">
                <a:solidFill>
                  <a:srgbClr val="1A1A1A"/>
                </a:solidFill>
                <a:latin typeface="Arial"/>
              </a:rPr>
              <a:t>Doute sur la prise ? Je </a:t>
            </a:r>
            <a:r>
              <a:rPr sz="1500" b="1" i="0">
                <a:solidFill>
                  <a:srgbClr val="1A1A1A"/>
                </a:solidFill>
                <a:latin typeface="Arial"/>
              </a:rPr>
              <a:t>refuse le raccordement</a:t>
            </a:r>
            <a:r>
              <a:rPr sz="1500" b="0" i="0">
                <a:solidFill>
                  <a:srgbClr val="1A1A1A"/>
                </a:solidFill>
                <a:latin typeface="Arial"/>
              </a:rPr>
              <a:t> et je notifie dans le dossier Nomad.</a:t>
            </a:r>
          </a:p>
        </p:txBody>
      </p:sp>
      <p:sp>
        <p:nvSpPr>
          <p:cNvPr id="22" name="TextBox 21"/>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3" name="Rounded Rectangle 22"/>
          <p:cNvSpPr/>
          <p:nvPr/>
        </p:nvSpPr>
        <p:spPr>
          <a:xfrm>
            <a:off x="2148839" y="585216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Appareil photo</a:t>
            </a:r>
          </a:p>
        </p:txBody>
      </p:sp>
      <p:sp>
        <p:nvSpPr>
          <p:cNvPr id="24" name="TextBox 23"/>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5" name="TextBox 24"/>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17 / 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Section des fils : trois étapes, jamais « à l'œil »</a:t>
            </a:r>
          </a:p>
        </p:txBody>
      </p:sp>
      <p:sp>
        <p:nvSpPr>
          <p:cNvPr id="3" name="Rounded Rectangle 2"/>
          <p:cNvSpPr/>
          <p:nvPr/>
        </p:nvSpPr>
        <p:spPr>
          <a:xfrm>
            <a:off x="1280160" y="1371600"/>
            <a:ext cx="1755648" cy="160020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4" name="Oval 3"/>
          <p:cNvSpPr/>
          <p:nvPr/>
        </p:nvSpPr>
        <p:spPr>
          <a:xfrm>
            <a:off x="1389888" y="148132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1</a:t>
            </a:r>
          </a:p>
        </p:txBody>
      </p:sp>
      <p:sp>
        <p:nvSpPr>
          <p:cNvPr id="5" name="TextBox 4"/>
          <p:cNvSpPr txBox="1"/>
          <p:nvPr/>
        </p:nvSpPr>
        <p:spPr>
          <a:xfrm>
            <a:off x="1408176" y="1956816"/>
            <a:ext cx="1499616" cy="96012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Lire le marquage</a:t>
            </a:r>
          </a:p>
          <a:p>
            <a:pPr algn="l">
              <a:spcBef>
                <a:spcPts val="0"/>
              </a:spcBef>
              <a:spcAft>
                <a:spcPts val="400"/>
              </a:spcAft>
            </a:pPr>
            <a:r>
              <a:rPr sz="1300" b="0" i="0">
                <a:solidFill>
                  <a:srgbClr val="1A1A1A"/>
                </a:solidFill>
                <a:latin typeface="Arial"/>
              </a:rPr>
              <a:t>sur la gaine du câble</a:t>
            </a:r>
          </a:p>
        </p:txBody>
      </p:sp>
      <p:sp>
        <p:nvSpPr>
          <p:cNvPr id="6" name="Right Arrow 5"/>
          <p:cNvSpPr/>
          <p:nvPr/>
        </p:nvSpPr>
        <p:spPr>
          <a:xfrm>
            <a:off x="3072384" y="2052828"/>
            <a:ext cx="219456" cy="237744"/>
          </a:xfrm>
          <a:prstGeom prst="rightArrow">
            <a:avLst/>
          </a:prstGeom>
          <a:solidFill>
            <a:srgbClr val="5F5F5F"/>
          </a:solidFill>
          <a:ln>
            <a:noFill/>
          </a:ln>
        </p:spPr>
        <p:txBody>
          <a:bodyPr rtlCol="0" anchor="ctr"/>
          <a:lstStyle/>
          <a:p>
            <a:pPr algn="ctr"/>
          </a:p>
        </p:txBody>
      </p:sp>
      <p:sp>
        <p:nvSpPr>
          <p:cNvPr id="7" name="Rounded Rectangle 6"/>
          <p:cNvSpPr/>
          <p:nvPr/>
        </p:nvSpPr>
        <p:spPr>
          <a:xfrm>
            <a:off x="3328416" y="1371600"/>
            <a:ext cx="1755648" cy="160020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8" name="Oval 7"/>
          <p:cNvSpPr/>
          <p:nvPr/>
        </p:nvSpPr>
        <p:spPr>
          <a:xfrm>
            <a:off x="3438144" y="148132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2</a:t>
            </a:r>
          </a:p>
        </p:txBody>
      </p:sp>
      <p:sp>
        <p:nvSpPr>
          <p:cNvPr id="9" name="TextBox 8"/>
          <p:cNvSpPr txBox="1"/>
          <p:nvPr/>
        </p:nvSpPr>
        <p:spPr>
          <a:xfrm>
            <a:off x="3456432" y="1956816"/>
            <a:ext cx="1499616" cy="96012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Comparer</a:t>
            </a:r>
          </a:p>
          <a:p>
            <a:pPr algn="l">
              <a:spcBef>
                <a:spcPts val="0"/>
              </a:spcBef>
              <a:spcAft>
                <a:spcPts val="400"/>
              </a:spcAft>
            </a:pPr>
            <a:r>
              <a:rPr sz="1300" b="0" i="0">
                <a:solidFill>
                  <a:srgbClr val="1A1A1A"/>
                </a:solidFill>
                <a:latin typeface="Arial"/>
              </a:rPr>
              <a:t>avec les repères de l'outil</a:t>
            </a:r>
          </a:p>
        </p:txBody>
      </p:sp>
      <p:sp>
        <p:nvSpPr>
          <p:cNvPr id="10" name="Right Arrow 9"/>
          <p:cNvSpPr/>
          <p:nvPr/>
        </p:nvSpPr>
        <p:spPr>
          <a:xfrm>
            <a:off x="5120640" y="2052828"/>
            <a:ext cx="219456" cy="237744"/>
          </a:xfrm>
          <a:prstGeom prst="rightArrow">
            <a:avLst/>
          </a:prstGeom>
          <a:solidFill>
            <a:srgbClr val="5F5F5F"/>
          </a:solidFill>
          <a:ln>
            <a:noFill/>
          </a:ln>
        </p:spPr>
        <p:txBody>
          <a:bodyPr rtlCol="0" anchor="ctr"/>
          <a:lstStyle/>
          <a:p>
            <a:pPr algn="ctr"/>
          </a:p>
        </p:txBody>
      </p:sp>
      <p:sp>
        <p:nvSpPr>
          <p:cNvPr id="11" name="Rounded Rectangle 10"/>
          <p:cNvSpPr/>
          <p:nvPr/>
        </p:nvSpPr>
        <p:spPr>
          <a:xfrm>
            <a:off x="5376672" y="1371600"/>
            <a:ext cx="1755648" cy="160020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12" name="Oval 11"/>
          <p:cNvSpPr/>
          <p:nvPr/>
        </p:nvSpPr>
        <p:spPr>
          <a:xfrm>
            <a:off x="5486400" y="148132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3</a:t>
            </a:r>
          </a:p>
        </p:txBody>
      </p:sp>
      <p:sp>
        <p:nvSpPr>
          <p:cNvPr id="13" name="TextBox 12"/>
          <p:cNvSpPr txBox="1"/>
          <p:nvPr/>
        </p:nvSpPr>
        <p:spPr>
          <a:xfrm>
            <a:off x="5504688" y="1956816"/>
            <a:ext cx="1499616" cy="96012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Vérifier le disjoncteur</a:t>
            </a:r>
          </a:p>
          <a:p>
            <a:pPr algn="l">
              <a:spcBef>
                <a:spcPts val="0"/>
              </a:spcBef>
              <a:spcAft>
                <a:spcPts val="400"/>
              </a:spcAft>
            </a:pPr>
            <a:r>
              <a:rPr sz="1300" b="0" i="0">
                <a:solidFill>
                  <a:srgbClr val="1A1A1A"/>
                </a:solidFill>
                <a:latin typeface="Arial"/>
              </a:rPr>
              <a:t>au tableau</a:t>
            </a:r>
          </a:p>
        </p:txBody>
      </p:sp>
      <p:pic>
        <p:nvPicPr>
          <p:cNvPr id="14" name="Picture 13" descr="s35_56.jpg"/>
          <p:cNvPicPr>
            <a:picLocks noChangeAspect="1"/>
          </p:cNvPicPr>
          <p:nvPr/>
        </p:nvPicPr>
        <p:blipFill>
          <a:blip r:embed="rId3"/>
          <a:stretch>
            <a:fillRect/>
          </a:stretch>
        </p:blipFill>
        <p:spPr>
          <a:xfrm>
            <a:off x="7333046" y="1371600"/>
            <a:ext cx="4079107" cy="2194560"/>
          </a:xfrm>
          <a:prstGeom prst="rect">
            <a:avLst/>
          </a:prstGeom>
          <a:ln w="9525">
            <a:solidFill>
              <a:srgbClr val="BDBDBD"/>
            </a:solidFill>
          </a:ln>
        </p:spPr>
      </p:pic>
      <p:pic>
        <p:nvPicPr>
          <p:cNvPr id="15" name="Picture 14" descr="s31_42.jpg"/>
          <p:cNvPicPr>
            <a:picLocks noChangeAspect="1"/>
          </p:cNvPicPr>
          <p:nvPr/>
        </p:nvPicPr>
        <p:blipFill>
          <a:blip r:embed="rId4"/>
          <a:stretch>
            <a:fillRect/>
          </a:stretch>
        </p:blipFill>
        <p:spPr>
          <a:xfrm>
            <a:off x="1280160" y="3205480"/>
            <a:ext cx="1828800" cy="1727200"/>
          </a:xfrm>
          <a:prstGeom prst="rect">
            <a:avLst/>
          </a:prstGeom>
          <a:ln w="9525">
            <a:solidFill>
              <a:srgbClr val="BDBDBD"/>
            </a:solidFill>
          </a:ln>
        </p:spPr>
      </p:pic>
      <p:pic>
        <p:nvPicPr>
          <p:cNvPr id="16" name="Picture 15" descr="s31_43.jpg"/>
          <p:cNvPicPr>
            <a:picLocks noChangeAspect="1"/>
          </p:cNvPicPr>
          <p:nvPr/>
        </p:nvPicPr>
        <p:blipFill>
          <a:blip r:embed="rId5"/>
          <a:stretch>
            <a:fillRect/>
          </a:stretch>
        </p:blipFill>
        <p:spPr>
          <a:xfrm>
            <a:off x="3291840" y="3280096"/>
            <a:ext cx="1828800" cy="1577967"/>
          </a:xfrm>
          <a:prstGeom prst="rect">
            <a:avLst/>
          </a:prstGeom>
          <a:ln w="9525">
            <a:solidFill>
              <a:srgbClr val="BDBDBD"/>
            </a:solidFill>
          </a:ln>
        </p:spPr>
      </p:pic>
      <p:sp>
        <p:nvSpPr>
          <p:cNvPr id="17" name="TextBox 16"/>
          <p:cNvSpPr txBox="1"/>
          <p:nvPr/>
        </p:nvSpPr>
        <p:spPr>
          <a:xfrm>
            <a:off x="1280160" y="4937760"/>
            <a:ext cx="18288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6 mm² · cuisson 32 A</a:t>
            </a:r>
          </a:p>
        </p:txBody>
      </p:sp>
      <p:sp>
        <p:nvSpPr>
          <p:cNvPr id="18" name="TextBox 17"/>
          <p:cNvSpPr txBox="1"/>
          <p:nvPr/>
        </p:nvSpPr>
        <p:spPr>
          <a:xfrm>
            <a:off x="3291840" y="4937760"/>
            <a:ext cx="18288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2,5 mm² triphasé</a:t>
            </a:r>
          </a:p>
        </p:txBody>
      </p:sp>
      <p:sp>
        <p:nvSpPr>
          <p:cNvPr id="19" name="Rounded Rectangle 18"/>
          <p:cNvSpPr/>
          <p:nvPr/>
        </p:nvSpPr>
        <p:spPr>
          <a:xfrm>
            <a:off x="5486400" y="3703320"/>
            <a:ext cx="5943600" cy="173736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20" name="Oval 19"/>
          <p:cNvSpPr/>
          <p:nvPr/>
        </p:nvSpPr>
        <p:spPr>
          <a:xfrm>
            <a:off x="5632704" y="381304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1" name="TextBox 20"/>
          <p:cNvSpPr txBox="1"/>
          <p:nvPr/>
        </p:nvSpPr>
        <p:spPr>
          <a:xfrm>
            <a:off x="6035040" y="3813048"/>
            <a:ext cx="52578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INTERDIT</a:t>
            </a:r>
          </a:p>
        </p:txBody>
      </p:sp>
      <p:sp>
        <p:nvSpPr>
          <p:cNvPr id="22" name="TextBox 21"/>
          <p:cNvSpPr txBox="1"/>
          <p:nvPr/>
        </p:nvSpPr>
        <p:spPr>
          <a:xfrm>
            <a:off x="5669280" y="4233672"/>
            <a:ext cx="5577840" cy="1115567"/>
          </a:xfrm>
          <a:prstGeom prst="rect">
            <a:avLst/>
          </a:prstGeom>
          <a:noFill/>
        </p:spPr>
        <p:txBody>
          <a:bodyPr wrap="square" lIns="0" rIns="0" tIns="0" bIns="0" anchor="t">
            <a:spAutoFit/>
          </a:bodyPr>
          <a:lstStyle/>
          <a:p>
            <a:pPr algn="l" marL="228600" indent="-228600">
              <a:spcBef>
                <a:spcPts val="0"/>
              </a:spcBef>
              <a:spcAft>
                <a:spcPts val="300"/>
              </a:spcAft>
              <a:buClr>
                <a:srgbClr val="C8102E"/>
              </a:buClr>
              <a:buFont typeface="Arial"/>
              <a:buChar char="•"/>
            </a:pPr>
            <a:r>
              <a:rPr sz="1400" b="0" i="0">
                <a:solidFill>
                  <a:srgbClr val="1A1A1A"/>
                </a:solidFill>
                <a:latin typeface="Arial"/>
              </a:rPr>
              <a:t>Je ne démonte pas pour mesurer</a:t>
            </a:r>
          </a:p>
          <a:p>
            <a:pPr algn="l" marL="228600" indent="-228600">
              <a:spcBef>
                <a:spcPts val="0"/>
              </a:spcBef>
              <a:spcAft>
                <a:spcPts val="300"/>
              </a:spcAft>
              <a:buClr>
                <a:srgbClr val="C8102E"/>
              </a:buClr>
              <a:buFont typeface="Arial"/>
              <a:buChar char="•"/>
            </a:pPr>
            <a:r>
              <a:rPr sz="1400" b="0" i="0">
                <a:solidFill>
                  <a:srgbClr val="1A1A1A"/>
                </a:solidFill>
                <a:latin typeface="Arial"/>
              </a:rPr>
              <a:t>Je </a:t>
            </a:r>
            <a:r>
              <a:rPr sz="1400" b="1" i="0">
                <a:solidFill>
                  <a:srgbClr val="1A1A1A"/>
                </a:solidFill>
                <a:latin typeface="Arial"/>
              </a:rPr>
              <a:t>ne coupe pas</a:t>
            </a:r>
            <a:r>
              <a:rPr sz="1400" b="0" i="0">
                <a:solidFill>
                  <a:srgbClr val="1A1A1A"/>
                </a:solidFill>
                <a:latin typeface="Arial"/>
              </a:rPr>
              <a:t> le câble pour vérifier</a:t>
            </a:r>
          </a:p>
          <a:p>
            <a:pPr algn="l" marL="228600" indent="-228600">
              <a:spcBef>
                <a:spcPts val="0"/>
              </a:spcBef>
              <a:spcAft>
                <a:spcPts val="300"/>
              </a:spcAft>
              <a:buClr>
                <a:srgbClr val="C8102E"/>
              </a:buClr>
              <a:buFont typeface="Arial"/>
              <a:buChar char="•"/>
            </a:pPr>
            <a:r>
              <a:rPr sz="1400" b="0" i="0">
                <a:solidFill>
                  <a:srgbClr val="1A1A1A"/>
                </a:solidFill>
                <a:latin typeface="Arial"/>
              </a:rPr>
              <a:t>Doute sur la section : </a:t>
            </a:r>
            <a:r>
              <a:rPr sz="1400" b="1" i="0">
                <a:solidFill>
                  <a:srgbClr val="1A1A1A"/>
                </a:solidFill>
                <a:latin typeface="Arial"/>
              </a:rPr>
              <a:t>j'arrête</a:t>
            </a:r>
            <a:r>
              <a:rPr sz="1400" b="0" i="0">
                <a:solidFill>
                  <a:srgbClr val="1A1A1A"/>
                </a:solidFill>
                <a:latin typeface="Arial"/>
              </a:rPr>
              <a:t> et j'applique la procédure</a:t>
            </a:r>
          </a:p>
        </p:txBody>
      </p:sp>
      <p:sp>
        <p:nvSpPr>
          <p:cNvPr id="23" name="TextBox 22"/>
          <p:cNvSpPr txBox="1"/>
          <p:nvPr/>
        </p:nvSpPr>
        <p:spPr>
          <a:xfrm>
            <a:off x="1280160" y="576072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4" name="Rounded Rectangle 23"/>
          <p:cNvSpPr/>
          <p:nvPr/>
        </p:nvSpPr>
        <p:spPr>
          <a:xfrm>
            <a:off x="2148839" y="5760720"/>
            <a:ext cx="2611526"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Outil de section (à fournir)</a:t>
            </a:r>
          </a:p>
        </p:txBody>
      </p:sp>
      <p:sp>
        <p:nvSpPr>
          <p:cNvPr id="25" name="Rounded Rectangle 24"/>
          <p:cNvSpPr/>
          <p:nvPr/>
        </p:nvSpPr>
        <p:spPr>
          <a:xfrm>
            <a:off x="4870094" y="5760720"/>
            <a:ext cx="1770278"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Disjoncteur repéré</a:t>
            </a:r>
          </a:p>
        </p:txBody>
      </p:sp>
      <p:sp>
        <p:nvSpPr>
          <p:cNvPr id="26" name="TextBox 2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2 · Contrôles avant l'installation  ·  Académie Fnac Darty</a:t>
            </a:r>
          </a:p>
        </p:txBody>
      </p:sp>
      <p:sp>
        <p:nvSpPr>
          <p:cNvPr id="27" name="TextBox 2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18 / 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Interdits formels pour un gros électroménager de classe I</a:t>
            </a:r>
          </a:p>
        </p:txBody>
      </p:sp>
      <p:sp>
        <p:nvSpPr>
          <p:cNvPr id="3" name="Rounded Rectangle 2"/>
          <p:cNvSpPr/>
          <p:nvPr/>
        </p:nvSpPr>
        <p:spPr>
          <a:xfrm>
            <a:off x="1280160" y="137160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4" name="Picture 3" descr="s45_66.jpg"/>
          <p:cNvPicPr>
            <a:picLocks noChangeAspect="1"/>
          </p:cNvPicPr>
          <p:nvPr/>
        </p:nvPicPr>
        <p:blipFill>
          <a:blip r:embed="rId3"/>
          <a:stretch>
            <a:fillRect/>
          </a:stretch>
        </p:blipFill>
        <p:spPr>
          <a:xfrm>
            <a:off x="1943100" y="1444752"/>
            <a:ext cx="1097280" cy="1097280"/>
          </a:xfrm>
          <a:prstGeom prst="rect">
            <a:avLst/>
          </a:prstGeom>
        </p:spPr>
      </p:pic>
      <p:sp>
        <p:nvSpPr>
          <p:cNvPr id="5" name="Oval 4"/>
          <p:cNvSpPr/>
          <p:nvPr/>
        </p:nvSpPr>
        <p:spPr>
          <a:xfrm>
            <a:off x="1353312" y="144475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6" name="TextBox 5"/>
          <p:cNvSpPr txBox="1"/>
          <p:nvPr/>
        </p:nvSpPr>
        <p:spPr>
          <a:xfrm>
            <a:off x="1371600" y="256032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Multiprise, triplette ou rallonge</a:t>
            </a:r>
          </a:p>
        </p:txBody>
      </p:sp>
      <p:sp>
        <p:nvSpPr>
          <p:cNvPr id="7" name="Rounded Rectangle 6"/>
          <p:cNvSpPr/>
          <p:nvPr/>
        </p:nvSpPr>
        <p:spPr>
          <a:xfrm>
            <a:off x="3840479" y="137160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8" name="Picture 7" descr="s30_39.jpg"/>
          <p:cNvPicPr>
            <a:picLocks noChangeAspect="1"/>
          </p:cNvPicPr>
          <p:nvPr/>
        </p:nvPicPr>
        <p:blipFill>
          <a:blip r:embed="rId4"/>
          <a:stretch>
            <a:fillRect/>
          </a:stretch>
        </p:blipFill>
        <p:spPr>
          <a:xfrm>
            <a:off x="4352543" y="1444752"/>
            <a:ext cx="1399032" cy="1097280"/>
          </a:xfrm>
          <a:prstGeom prst="rect">
            <a:avLst/>
          </a:prstGeom>
        </p:spPr>
      </p:pic>
      <p:sp>
        <p:nvSpPr>
          <p:cNvPr id="9" name="Oval 8"/>
          <p:cNvSpPr/>
          <p:nvPr/>
        </p:nvSpPr>
        <p:spPr>
          <a:xfrm>
            <a:off x="3913631" y="144475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10" name="TextBox 9"/>
          <p:cNvSpPr txBox="1"/>
          <p:nvPr/>
        </p:nvSpPr>
        <p:spPr>
          <a:xfrm>
            <a:off x="3931919" y="256032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Couper une prise moulée</a:t>
            </a:r>
          </a:p>
        </p:txBody>
      </p:sp>
      <p:sp>
        <p:nvSpPr>
          <p:cNvPr id="11" name="Rounded Rectangle 10"/>
          <p:cNvSpPr/>
          <p:nvPr/>
        </p:nvSpPr>
        <p:spPr>
          <a:xfrm>
            <a:off x="6400800" y="137160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12" name="Picture 11" descr="s48_82.jpg"/>
          <p:cNvPicPr>
            <a:picLocks noChangeAspect="1"/>
          </p:cNvPicPr>
          <p:nvPr/>
        </p:nvPicPr>
        <p:blipFill>
          <a:blip r:embed="rId5"/>
          <a:stretch>
            <a:fillRect/>
          </a:stretch>
        </p:blipFill>
        <p:spPr>
          <a:xfrm>
            <a:off x="7132799" y="1444752"/>
            <a:ext cx="959160" cy="1097280"/>
          </a:xfrm>
          <a:prstGeom prst="rect">
            <a:avLst/>
          </a:prstGeom>
        </p:spPr>
      </p:pic>
      <p:sp>
        <p:nvSpPr>
          <p:cNvPr id="13" name="Oval 12"/>
          <p:cNvSpPr/>
          <p:nvPr/>
        </p:nvSpPr>
        <p:spPr>
          <a:xfrm>
            <a:off x="6473952" y="144475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14" name="TextBox 13"/>
          <p:cNvSpPr txBox="1"/>
          <p:nvPr/>
        </p:nvSpPr>
        <p:spPr>
          <a:xfrm>
            <a:off x="6492240" y="256032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Prise 16 A sur un cordon non équipé d'usine</a:t>
            </a:r>
          </a:p>
        </p:txBody>
      </p:sp>
      <p:sp>
        <p:nvSpPr>
          <p:cNvPr id="15" name="Rounded Rectangle 14"/>
          <p:cNvSpPr/>
          <p:nvPr/>
        </p:nvSpPr>
        <p:spPr>
          <a:xfrm>
            <a:off x="8961119" y="137160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16" name="Picture 15" descr="s34_54.jpg"/>
          <p:cNvPicPr>
            <a:picLocks noChangeAspect="1"/>
          </p:cNvPicPr>
          <p:nvPr/>
        </p:nvPicPr>
        <p:blipFill>
          <a:blip r:embed="rId6"/>
          <a:stretch>
            <a:fillRect/>
          </a:stretch>
        </p:blipFill>
        <p:spPr>
          <a:xfrm>
            <a:off x="9708035" y="1444752"/>
            <a:ext cx="929328" cy="1097280"/>
          </a:xfrm>
          <a:prstGeom prst="rect">
            <a:avLst/>
          </a:prstGeom>
        </p:spPr>
      </p:pic>
      <p:sp>
        <p:nvSpPr>
          <p:cNvPr id="17" name="Oval 16"/>
          <p:cNvSpPr/>
          <p:nvPr/>
        </p:nvSpPr>
        <p:spPr>
          <a:xfrm>
            <a:off x="9034272" y="144475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18" name="TextBox 17"/>
          <p:cNvSpPr txBox="1"/>
          <p:nvPr/>
        </p:nvSpPr>
        <p:spPr>
          <a:xfrm>
            <a:off x="9052559" y="256032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Socle 16 A sur boîtier à dominos</a:t>
            </a:r>
          </a:p>
        </p:txBody>
      </p:sp>
      <p:sp>
        <p:nvSpPr>
          <p:cNvPr id="19" name="Rounded Rectangle 18"/>
          <p:cNvSpPr/>
          <p:nvPr/>
        </p:nvSpPr>
        <p:spPr>
          <a:xfrm>
            <a:off x="1280160" y="347472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20" name="Picture 19" descr="s03_06.jpg"/>
          <p:cNvPicPr>
            <a:picLocks noChangeAspect="1"/>
          </p:cNvPicPr>
          <p:nvPr/>
        </p:nvPicPr>
        <p:blipFill>
          <a:blip r:embed="rId7"/>
          <a:stretch>
            <a:fillRect/>
          </a:stretch>
        </p:blipFill>
        <p:spPr>
          <a:xfrm>
            <a:off x="1915792" y="3547872"/>
            <a:ext cx="1151895" cy="1097280"/>
          </a:xfrm>
          <a:prstGeom prst="rect">
            <a:avLst/>
          </a:prstGeom>
        </p:spPr>
      </p:pic>
      <p:sp>
        <p:nvSpPr>
          <p:cNvPr id="21" name="Oval 20"/>
          <p:cNvSpPr/>
          <p:nvPr/>
        </p:nvSpPr>
        <p:spPr>
          <a:xfrm>
            <a:off x="1353312" y="354787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22" name="TextBox 21"/>
          <p:cNvSpPr txBox="1"/>
          <p:nvPr/>
        </p:nvSpPr>
        <p:spPr>
          <a:xfrm>
            <a:off x="1371600" y="466344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Brancher sans terre</a:t>
            </a:r>
          </a:p>
        </p:txBody>
      </p:sp>
      <p:sp>
        <p:nvSpPr>
          <p:cNvPr id="23" name="Rounded Rectangle 22"/>
          <p:cNvSpPr/>
          <p:nvPr/>
        </p:nvSpPr>
        <p:spPr>
          <a:xfrm>
            <a:off x="3840479" y="347472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24" name="Picture 23" descr="s46_75.jpg"/>
          <p:cNvPicPr>
            <a:picLocks noChangeAspect="1"/>
          </p:cNvPicPr>
          <p:nvPr/>
        </p:nvPicPr>
        <p:blipFill>
          <a:blip r:embed="rId8"/>
          <a:stretch>
            <a:fillRect/>
          </a:stretch>
        </p:blipFill>
        <p:spPr>
          <a:xfrm>
            <a:off x="4503419" y="3547872"/>
            <a:ext cx="1097280" cy="1097280"/>
          </a:xfrm>
          <a:prstGeom prst="rect">
            <a:avLst/>
          </a:prstGeom>
        </p:spPr>
      </p:pic>
      <p:sp>
        <p:nvSpPr>
          <p:cNvPr id="25" name="Oval 24"/>
          <p:cNvSpPr/>
          <p:nvPr/>
        </p:nvSpPr>
        <p:spPr>
          <a:xfrm>
            <a:off x="3913631" y="354787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26" name="TextBox 25"/>
          <p:cNvSpPr txBox="1"/>
          <p:nvPr/>
        </p:nvSpPr>
        <p:spPr>
          <a:xfrm>
            <a:off x="3931919" y="466344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À moins de 60 cm d'une douche ou baignoire</a:t>
            </a:r>
          </a:p>
        </p:txBody>
      </p:sp>
      <p:sp>
        <p:nvSpPr>
          <p:cNvPr id="27" name="Rounded Rectangle 26"/>
          <p:cNvSpPr/>
          <p:nvPr/>
        </p:nvSpPr>
        <p:spPr>
          <a:xfrm>
            <a:off x="6400800" y="347472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28" name="Picture 27" descr="s46_79.jpg"/>
          <p:cNvPicPr>
            <a:picLocks noChangeAspect="1"/>
          </p:cNvPicPr>
          <p:nvPr/>
        </p:nvPicPr>
        <p:blipFill>
          <a:blip r:embed="rId9"/>
          <a:stretch>
            <a:fillRect/>
          </a:stretch>
        </p:blipFill>
        <p:spPr>
          <a:xfrm>
            <a:off x="7247520" y="3547872"/>
            <a:ext cx="729718" cy="1097280"/>
          </a:xfrm>
          <a:prstGeom prst="rect">
            <a:avLst/>
          </a:prstGeom>
        </p:spPr>
      </p:pic>
      <p:sp>
        <p:nvSpPr>
          <p:cNvPr id="29" name="Oval 28"/>
          <p:cNvSpPr/>
          <p:nvPr/>
        </p:nvSpPr>
        <p:spPr>
          <a:xfrm>
            <a:off x="6473952" y="354787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30" name="TextBox 29"/>
          <p:cNvSpPr txBox="1"/>
          <p:nvPr/>
        </p:nvSpPr>
        <p:spPr>
          <a:xfrm>
            <a:off x="6492240" y="466344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Retirer le top d'un pose libre hors consigne</a:t>
            </a:r>
          </a:p>
        </p:txBody>
      </p:sp>
      <p:sp>
        <p:nvSpPr>
          <p:cNvPr id="31" name="Rounded Rectangle 30"/>
          <p:cNvSpPr/>
          <p:nvPr/>
        </p:nvSpPr>
        <p:spPr>
          <a:xfrm>
            <a:off x="8961119" y="3474720"/>
            <a:ext cx="2423160" cy="1965960"/>
          </a:xfrm>
          <a:prstGeom prst="roundRect">
            <a:avLst>
              <a:gd name="adj" fmla="val 5000"/>
            </a:avLst>
          </a:prstGeom>
          <a:solidFill>
            <a:srgbClr val="FFFFFF"/>
          </a:solidFill>
          <a:ln w="19050">
            <a:solidFill>
              <a:srgbClr val="C8102E"/>
            </a:solidFill>
          </a:ln>
        </p:spPr>
        <p:txBody>
          <a:bodyPr rtlCol="0" anchor="ctr"/>
          <a:lstStyle/>
          <a:p>
            <a:pPr algn="ctr"/>
          </a:p>
        </p:txBody>
      </p:sp>
      <p:pic>
        <p:nvPicPr>
          <p:cNvPr id="32" name="Picture 31" descr="s46_77.jpg"/>
          <p:cNvPicPr>
            <a:picLocks noChangeAspect="1"/>
          </p:cNvPicPr>
          <p:nvPr/>
        </p:nvPicPr>
        <p:blipFill>
          <a:blip r:embed="rId10"/>
          <a:stretch>
            <a:fillRect/>
          </a:stretch>
        </p:blipFill>
        <p:spPr>
          <a:xfrm>
            <a:off x="9258299" y="3547872"/>
            <a:ext cx="1828800" cy="1097280"/>
          </a:xfrm>
          <a:prstGeom prst="rect">
            <a:avLst/>
          </a:prstGeom>
        </p:spPr>
      </p:pic>
      <p:sp>
        <p:nvSpPr>
          <p:cNvPr id="33" name="Oval 32"/>
          <p:cNvSpPr/>
          <p:nvPr/>
        </p:nvSpPr>
        <p:spPr>
          <a:xfrm>
            <a:off x="9034272" y="3547872"/>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34" name="TextBox 33"/>
          <p:cNvSpPr txBox="1"/>
          <p:nvPr/>
        </p:nvSpPr>
        <p:spPr>
          <a:xfrm>
            <a:off x="9052559" y="4663440"/>
            <a:ext cx="2240280" cy="731520"/>
          </a:xfrm>
          <a:prstGeom prst="rect">
            <a:avLst/>
          </a:prstGeom>
          <a:noFill/>
        </p:spPr>
        <p:txBody>
          <a:bodyPr wrap="square" lIns="0" rIns="0" tIns="0" bIns="0" anchor="ctr">
            <a:spAutoFit/>
          </a:bodyPr>
          <a:lstStyle/>
          <a:p>
            <a:pPr algn="ctr">
              <a:spcBef>
                <a:spcPts val="0"/>
              </a:spcBef>
              <a:spcAft>
                <a:spcPts val="400"/>
              </a:spcAft>
            </a:pPr>
            <a:r>
              <a:rPr sz="1300" b="1" i="0">
                <a:solidFill>
                  <a:srgbClr val="1A1A1A"/>
                </a:solidFill>
                <a:latin typeface="Arial"/>
              </a:rPr>
              <a:t>2 produits sur un même boîtier</a:t>
            </a:r>
          </a:p>
        </p:txBody>
      </p:sp>
      <p:sp>
        <p:nvSpPr>
          <p:cNvPr id="35" name="Rounded Rectangle 34"/>
          <p:cNvSpPr/>
          <p:nvPr/>
        </p:nvSpPr>
        <p:spPr>
          <a:xfrm>
            <a:off x="1280160" y="5669280"/>
            <a:ext cx="9509760" cy="548640"/>
          </a:xfrm>
          <a:prstGeom prst="roundRect">
            <a:avLst>
              <a:gd name="adj" fmla="val 12000"/>
            </a:avLst>
          </a:prstGeom>
          <a:solidFill>
            <a:srgbClr val="C8102E"/>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Formellement interdit : GEM de classe I (avec terre), NF C 15-100</a:t>
            </a:r>
          </a:p>
        </p:txBody>
      </p:sp>
      <p:sp>
        <p:nvSpPr>
          <p:cNvPr id="36" name="TextBox 3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37" name="TextBox 3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19 / 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Une prise moulée se branche, elle ne se coupe pas</a:t>
            </a:r>
          </a:p>
        </p:txBody>
      </p:sp>
      <p:pic>
        <p:nvPicPr>
          <p:cNvPr id="3" name="Picture 2" descr="s30_39.jpg"/>
          <p:cNvPicPr>
            <a:picLocks noChangeAspect="1"/>
          </p:cNvPicPr>
          <p:nvPr/>
        </p:nvPicPr>
        <p:blipFill>
          <a:blip r:embed="rId3"/>
          <a:stretch>
            <a:fillRect/>
          </a:stretch>
        </p:blipFill>
        <p:spPr>
          <a:xfrm>
            <a:off x="1280160" y="1412837"/>
            <a:ext cx="2926080" cy="2294964"/>
          </a:xfrm>
          <a:prstGeom prst="rect">
            <a:avLst/>
          </a:prstGeom>
          <a:ln w="9525">
            <a:solidFill>
              <a:srgbClr val="BDBDBD"/>
            </a:solidFill>
          </a:ln>
        </p:spPr>
      </p:pic>
      <p:pic>
        <p:nvPicPr>
          <p:cNvPr id="4" name="Picture 3" descr="s30_40.jpg"/>
          <p:cNvPicPr>
            <a:picLocks noChangeAspect="1"/>
          </p:cNvPicPr>
          <p:nvPr/>
        </p:nvPicPr>
        <p:blipFill>
          <a:blip r:embed="rId4"/>
          <a:stretch>
            <a:fillRect/>
          </a:stretch>
        </p:blipFill>
        <p:spPr>
          <a:xfrm>
            <a:off x="4389120" y="1554480"/>
            <a:ext cx="2011680" cy="2011680"/>
          </a:xfrm>
          <a:prstGeom prst="rect">
            <a:avLst/>
          </a:prstGeom>
          <a:ln w="9525">
            <a:solidFill>
              <a:srgbClr val="BDBDBD"/>
            </a:solidFill>
          </a:ln>
        </p:spPr>
      </p:pic>
      <p:sp>
        <p:nvSpPr>
          <p:cNvPr id="5" name="Oval 4"/>
          <p:cNvSpPr/>
          <p:nvPr/>
        </p:nvSpPr>
        <p:spPr>
          <a:xfrm>
            <a:off x="4434840" y="1417320"/>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6" name="TextBox 5"/>
          <p:cNvSpPr txBox="1"/>
          <p:nvPr/>
        </p:nvSpPr>
        <p:spPr>
          <a:xfrm>
            <a:off x="1280160" y="3794760"/>
            <a:ext cx="292608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Prise moulée : un ensemble indissociable</a:t>
            </a:r>
          </a:p>
        </p:txBody>
      </p:sp>
      <p:sp>
        <p:nvSpPr>
          <p:cNvPr id="7" name="Rounded Rectangle 6"/>
          <p:cNvSpPr/>
          <p:nvPr/>
        </p:nvSpPr>
        <p:spPr>
          <a:xfrm>
            <a:off x="6583680" y="1371600"/>
            <a:ext cx="4846320" cy="24231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8" name="Oval 7"/>
          <p:cNvSpPr/>
          <p:nvPr/>
        </p:nvSpPr>
        <p:spPr>
          <a:xfrm>
            <a:off x="6729984"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7132320" y="1481328"/>
            <a:ext cx="41605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CE QUE GARANTIT LA PRISE MOULÉE</a:t>
            </a:r>
          </a:p>
        </p:txBody>
      </p:sp>
      <p:sp>
        <p:nvSpPr>
          <p:cNvPr id="10" name="TextBox 9"/>
          <p:cNvSpPr txBox="1"/>
          <p:nvPr/>
        </p:nvSpPr>
        <p:spPr>
          <a:xfrm>
            <a:off x="6766560" y="1901952"/>
            <a:ext cx="4480559" cy="1801367"/>
          </a:xfrm>
          <a:prstGeom prst="rect">
            <a:avLst/>
          </a:prstGeom>
          <a:noFill/>
        </p:spPr>
        <p:txBody>
          <a:bodyPr wrap="square" lIns="0" rIns="0" tIns="0" bIns="0" anchor="t">
            <a:spAutoFit/>
          </a:bodyPr>
          <a:lstStyle/>
          <a:p>
            <a:pPr algn="l" marL="228600" indent="-228600">
              <a:spcBef>
                <a:spcPts val="0"/>
              </a:spcBef>
              <a:spcAft>
                <a:spcPts val="300"/>
              </a:spcAft>
              <a:buClr>
                <a:srgbClr val="1B7F3B"/>
              </a:buClr>
              <a:buFont typeface="Arial"/>
              <a:buChar char="•"/>
            </a:pPr>
            <a:r>
              <a:rPr sz="1500" b="0" i="0">
                <a:solidFill>
                  <a:srgbClr val="1A1A1A"/>
                </a:solidFill>
                <a:latin typeface="Arial"/>
              </a:rPr>
              <a:t>Isolation électrique</a:t>
            </a:r>
          </a:p>
          <a:p>
            <a:pPr algn="l" marL="228600" indent="-228600">
              <a:spcBef>
                <a:spcPts val="0"/>
              </a:spcBef>
              <a:spcAft>
                <a:spcPts val="300"/>
              </a:spcAft>
              <a:buClr>
                <a:srgbClr val="1B7F3B"/>
              </a:buClr>
              <a:buFont typeface="Arial"/>
              <a:buChar char="•"/>
            </a:pPr>
            <a:r>
              <a:rPr sz="1500" b="0" i="0">
                <a:solidFill>
                  <a:srgbClr val="1A1A1A"/>
                </a:solidFill>
                <a:latin typeface="Arial"/>
              </a:rPr>
              <a:t>Protection contre les contacts directs</a:t>
            </a:r>
          </a:p>
          <a:p>
            <a:pPr algn="l" marL="228600" indent="-228600">
              <a:spcBef>
                <a:spcPts val="0"/>
              </a:spcBef>
              <a:spcAft>
                <a:spcPts val="300"/>
              </a:spcAft>
              <a:buClr>
                <a:srgbClr val="1B7F3B"/>
              </a:buClr>
              <a:buFont typeface="Arial"/>
              <a:buChar char="•"/>
            </a:pPr>
            <a:r>
              <a:rPr sz="1500" b="0" i="0">
                <a:solidFill>
                  <a:srgbClr val="1A1A1A"/>
                </a:solidFill>
                <a:latin typeface="Arial"/>
              </a:rPr>
              <a:t>Conformité du produit</a:t>
            </a:r>
          </a:p>
          <a:p>
            <a:pPr algn="l" marL="228600" indent="-228600">
              <a:spcBef>
                <a:spcPts val="0"/>
              </a:spcBef>
              <a:spcAft>
                <a:spcPts val="300"/>
              </a:spcAft>
              <a:buClr>
                <a:srgbClr val="1B7F3B"/>
              </a:buClr>
              <a:buFont typeface="Arial"/>
              <a:buChar char="•"/>
            </a:pPr>
            <a:r>
              <a:rPr sz="1500" b="0" i="0">
                <a:solidFill>
                  <a:srgbClr val="1A1A1A"/>
                </a:solidFill>
                <a:latin typeface="Arial"/>
              </a:rPr>
              <a:t>Sécurité de l'utilisateur</a:t>
            </a:r>
          </a:p>
        </p:txBody>
      </p:sp>
      <p:sp>
        <p:nvSpPr>
          <p:cNvPr id="11" name="Rounded Rectangle 10"/>
          <p:cNvSpPr/>
          <p:nvPr/>
        </p:nvSpPr>
        <p:spPr>
          <a:xfrm>
            <a:off x="1280160" y="4160520"/>
            <a:ext cx="5943600" cy="137160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2" name="Oval 11"/>
          <p:cNvSpPr/>
          <p:nvPr/>
        </p:nvSpPr>
        <p:spPr>
          <a:xfrm>
            <a:off x="1426463" y="427024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1828800" y="4270248"/>
            <a:ext cx="52578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SI JE LA COUPE</a:t>
            </a:r>
          </a:p>
        </p:txBody>
      </p:sp>
      <p:sp>
        <p:nvSpPr>
          <p:cNvPr id="14" name="TextBox 13"/>
          <p:cNvSpPr txBox="1"/>
          <p:nvPr/>
        </p:nvSpPr>
        <p:spPr>
          <a:xfrm>
            <a:off x="1463039" y="4690872"/>
            <a:ext cx="5577840" cy="749808"/>
          </a:xfrm>
          <a:prstGeom prst="rect">
            <a:avLst/>
          </a:prstGeom>
          <a:noFill/>
        </p:spPr>
        <p:txBody>
          <a:bodyPr wrap="square" lIns="0" rIns="0" tIns="0" bIns="0" anchor="t">
            <a:spAutoFit/>
          </a:bodyPr>
          <a:lstStyle/>
          <a:p>
            <a:pPr algn="l" marL="228600" indent="-228600">
              <a:spcBef>
                <a:spcPts val="0"/>
              </a:spcBef>
              <a:spcAft>
                <a:spcPts val="300"/>
              </a:spcAft>
              <a:buClr>
                <a:srgbClr val="C8102E"/>
              </a:buClr>
              <a:buFont typeface="Arial"/>
              <a:buChar char="•"/>
            </a:pPr>
            <a:r>
              <a:rPr sz="1500" b="0" i="0">
                <a:solidFill>
                  <a:srgbClr val="1A1A1A"/>
                </a:solidFill>
                <a:latin typeface="Arial"/>
              </a:rPr>
              <a:t>Produit </a:t>
            </a:r>
            <a:r>
              <a:rPr sz="1500" b="1" i="0">
                <a:solidFill>
                  <a:srgbClr val="1A1A1A"/>
                </a:solidFill>
                <a:latin typeface="Arial"/>
              </a:rPr>
              <a:t>non conforme</a:t>
            </a:r>
            <a:r>
              <a:rPr sz="1500" b="0" i="0">
                <a:solidFill>
                  <a:srgbClr val="1A1A1A"/>
                </a:solidFill>
                <a:latin typeface="Arial"/>
              </a:rPr>
              <a:t> à sa conception</a:t>
            </a:r>
          </a:p>
          <a:p>
            <a:pPr algn="l" marL="228600" indent="-228600">
              <a:spcBef>
                <a:spcPts val="0"/>
              </a:spcBef>
              <a:spcAft>
                <a:spcPts val="300"/>
              </a:spcAft>
              <a:buClr>
                <a:srgbClr val="C8102E"/>
              </a:buClr>
              <a:buFont typeface="Arial"/>
              <a:buChar char="•"/>
            </a:pPr>
            <a:r>
              <a:rPr sz="1500" b="0" i="0">
                <a:solidFill>
                  <a:srgbClr val="1A1A1A"/>
                </a:solidFill>
                <a:latin typeface="Arial"/>
              </a:rPr>
              <a:t>Risques : </a:t>
            </a:r>
            <a:r>
              <a:rPr sz="1500" b="1" i="0">
                <a:solidFill>
                  <a:srgbClr val="1A1A1A"/>
                </a:solidFill>
                <a:latin typeface="Arial"/>
              </a:rPr>
              <a:t>échauffement</a:t>
            </a:r>
            <a:r>
              <a:rPr sz="1500" b="0" i="0">
                <a:solidFill>
                  <a:srgbClr val="1A1A1A"/>
                </a:solidFill>
                <a:latin typeface="Arial"/>
              </a:rPr>
              <a:t>, mauvais raccordement, électrisation</a:t>
            </a:r>
          </a:p>
        </p:txBody>
      </p:sp>
      <p:sp>
        <p:nvSpPr>
          <p:cNvPr id="15" name="Rounded Rectangle 14"/>
          <p:cNvSpPr/>
          <p:nvPr/>
        </p:nvSpPr>
        <p:spPr>
          <a:xfrm>
            <a:off x="7406640" y="4160520"/>
            <a:ext cx="4023360" cy="1371600"/>
          </a:xfrm>
          <a:prstGeom prst="roundRect">
            <a:avLst>
              <a:gd name="adj" fmla="val 12000"/>
            </a:avLst>
          </a:prstGeom>
          <a:solidFill>
            <a:srgbClr val="C8102E"/>
          </a:solidFill>
          <a:ln>
            <a:noFill/>
          </a:ln>
        </p:spPr>
        <p:txBody>
          <a:bodyPr rtlCol="0" anchor="ctr" lIns="182880" rIns="182880" tIns="109728" bIns="109728" wrap="square"/>
          <a:lstStyle/>
          <a:p>
            <a:pPr algn="l">
              <a:spcBef>
                <a:spcPts val="0"/>
              </a:spcBef>
              <a:spcAft>
                <a:spcPts val="200"/>
              </a:spcAft>
            </a:pPr>
            <a:r>
              <a:rPr sz="1500" b="1" i="0">
                <a:solidFill>
                  <a:srgbClr val="FFFFFF"/>
                </a:solidFill>
                <a:latin typeface="Arial"/>
              </a:rPr>
              <a:t>Elle se branche. Elle ne se coupe pas, ne se démonte pas, ne se modifie pas.</a:t>
            </a:r>
          </a:p>
        </p:txBody>
      </p:sp>
      <p:sp>
        <p:nvSpPr>
          <p:cNvPr id="16" name="TextBox 1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7" name="TextBox 1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20 / 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Plaque en 6 mm² mono : jamais adaptée sur du triphasé 2,5 mm²</a:t>
            </a:r>
          </a:p>
        </p:txBody>
      </p:sp>
      <p:pic>
        <p:nvPicPr>
          <p:cNvPr id="3" name="Picture 2" descr="s31_42.jpg"/>
          <p:cNvPicPr>
            <a:picLocks noChangeAspect="1"/>
          </p:cNvPicPr>
          <p:nvPr/>
        </p:nvPicPr>
        <p:blipFill>
          <a:blip r:embed="rId3"/>
          <a:stretch>
            <a:fillRect/>
          </a:stretch>
        </p:blipFill>
        <p:spPr>
          <a:xfrm>
            <a:off x="1395804" y="1371600"/>
            <a:ext cx="2420470" cy="2286000"/>
          </a:xfrm>
          <a:prstGeom prst="rect">
            <a:avLst/>
          </a:prstGeom>
          <a:ln w="9525">
            <a:solidFill>
              <a:srgbClr val="BDBDBD"/>
            </a:solidFill>
          </a:ln>
        </p:spPr>
      </p:pic>
      <p:sp>
        <p:nvSpPr>
          <p:cNvPr id="4" name="TextBox 3"/>
          <p:cNvSpPr txBox="1"/>
          <p:nvPr/>
        </p:nvSpPr>
        <p:spPr>
          <a:xfrm>
            <a:off x="3931920" y="2148840"/>
            <a:ext cx="731520" cy="731520"/>
          </a:xfrm>
          <a:prstGeom prst="rect">
            <a:avLst/>
          </a:prstGeom>
          <a:noFill/>
        </p:spPr>
        <p:txBody>
          <a:bodyPr wrap="square" lIns="0" rIns="0" tIns="0" bIns="0" anchor="ctr">
            <a:spAutoFit/>
          </a:bodyPr>
          <a:lstStyle/>
          <a:p>
            <a:pPr algn="ctr">
              <a:spcBef>
                <a:spcPts val="0"/>
              </a:spcBef>
              <a:spcAft>
                <a:spcPts val="400"/>
              </a:spcAft>
            </a:pPr>
            <a:r>
              <a:rPr sz="4000" b="1" i="0">
                <a:solidFill>
                  <a:srgbClr val="C8102E"/>
                </a:solidFill>
                <a:latin typeface="Arial"/>
              </a:rPr>
              <a:t>≠</a:t>
            </a:r>
          </a:p>
        </p:txBody>
      </p:sp>
      <p:pic>
        <p:nvPicPr>
          <p:cNvPr id="5" name="Picture 4" descr="s31_43.jpg"/>
          <p:cNvPicPr>
            <a:picLocks noChangeAspect="1"/>
          </p:cNvPicPr>
          <p:nvPr/>
        </p:nvPicPr>
        <p:blipFill>
          <a:blip r:embed="rId4"/>
          <a:stretch>
            <a:fillRect/>
          </a:stretch>
        </p:blipFill>
        <p:spPr>
          <a:xfrm>
            <a:off x="4664629" y="1371600"/>
            <a:ext cx="2649381" cy="2286000"/>
          </a:xfrm>
          <a:prstGeom prst="rect">
            <a:avLst/>
          </a:prstGeom>
          <a:ln w="9525">
            <a:solidFill>
              <a:srgbClr val="BDBDBD"/>
            </a:solidFill>
          </a:ln>
        </p:spPr>
      </p:pic>
      <p:sp>
        <p:nvSpPr>
          <p:cNvPr id="6" name="TextBox 5"/>
          <p:cNvSpPr txBox="1"/>
          <p:nvPr/>
        </p:nvSpPr>
        <p:spPr>
          <a:xfrm>
            <a:off x="1280160" y="3703320"/>
            <a:ext cx="27432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Câble monophasé 3 × 6 mm²</a:t>
            </a:r>
          </a:p>
        </p:txBody>
      </p:sp>
      <p:sp>
        <p:nvSpPr>
          <p:cNvPr id="7" name="TextBox 6"/>
          <p:cNvSpPr txBox="1"/>
          <p:nvPr/>
        </p:nvSpPr>
        <p:spPr>
          <a:xfrm>
            <a:off x="4663440" y="3703320"/>
            <a:ext cx="27432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Câble triphasé 5 × 2,5 mm²</a:t>
            </a:r>
          </a:p>
        </p:txBody>
      </p:sp>
      <p:sp>
        <p:nvSpPr>
          <p:cNvPr id="8" name="Rounded Rectangle 7"/>
          <p:cNvSpPr/>
          <p:nvPr/>
        </p:nvSpPr>
        <p:spPr>
          <a:xfrm>
            <a:off x="7589520" y="1371600"/>
            <a:ext cx="3840480" cy="233172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9" name="Oval 8"/>
          <p:cNvSpPr/>
          <p:nvPr/>
        </p:nvSpPr>
        <p:spPr>
          <a:xfrm>
            <a:off x="7735824"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8138160" y="1481328"/>
            <a:ext cx="3154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JE FAIS</a:t>
            </a:r>
          </a:p>
        </p:txBody>
      </p:sp>
      <p:sp>
        <p:nvSpPr>
          <p:cNvPr id="11" name="TextBox 10"/>
          <p:cNvSpPr txBox="1"/>
          <p:nvPr/>
        </p:nvSpPr>
        <p:spPr>
          <a:xfrm>
            <a:off x="7772400" y="1901952"/>
            <a:ext cx="3474720" cy="1709927"/>
          </a:xfrm>
          <a:prstGeom prst="rect">
            <a:avLst/>
          </a:prstGeom>
          <a:noFill/>
        </p:spPr>
        <p:txBody>
          <a:bodyPr wrap="square" lIns="0" rIns="0" tIns="0" bIns="0" anchor="t">
            <a:spAutoFit/>
          </a:bodyPr>
          <a:lstStyle/>
          <a:p>
            <a:pPr algn="l" marL="228600" indent="-228600">
              <a:spcBef>
                <a:spcPts val="0"/>
              </a:spcBef>
              <a:spcAft>
                <a:spcPts val="300"/>
              </a:spcAft>
              <a:buClr>
                <a:srgbClr val="1B7F3B"/>
              </a:buClr>
              <a:buFont typeface="Arial"/>
              <a:buChar char="•"/>
            </a:pPr>
            <a:r>
              <a:rPr sz="1400" b="0" i="0">
                <a:solidFill>
                  <a:srgbClr val="1A1A1A"/>
                </a:solidFill>
                <a:latin typeface="Arial"/>
              </a:rPr>
              <a:t>Je </a:t>
            </a:r>
            <a:r>
              <a:rPr sz="1400" b="1" i="0">
                <a:solidFill>
                  <a:srgbClr val="1A1A1A"/>
                </a:solidFill>
                <a:latin typeface="Arial"/>
              </a:rPr>
              <a:t>constate</a:t>
            </a:r>
            <a:r>
              <a:rPr sz="1400" b="0" i="0">
                <a:solidFill>
                  <a:srgbClr val="1A1A1A"/>
                </a:solidFill>
                <a:latin typeface="Arial"/>
              </a:rPr>
              <a:t> l'incompatibilité</a:t>
            </a:r>
          </a:p>
          <a:p>
            <a:pPr algn="l" marL="228600" indent="-228600">
              <a:spcBef>
                <a:spcPts val="0"/>
              </a:spcBef>
              <a:spcAft>
                <a:spcPts val="300"/>
              </a:spcAft>
              <a:buClr>
                <a:srgbClr val="1B7F3B"/>
              </a:buClr>
              <a:buFont typeface="Arial"/>
              <a:buChar char="•"/>
            </a:pPr>
            <a:r>
              <a:rPr sz="1400" b="0" i="0">
                <a:solidFill>
                  <a:srgbClr val="1A1A1A"/>
                </a:solidFill>
                <a:latin typeface="Arial"/>
              </a:rPr>
              <a:t>J'</a:t>
            </a:r>
            <a:r>
              <a:rPr sz="1400" b="1" i="0">
                <a:solidFill>
                  <a:srgbClr val="1A1A1A"/>
                </a:solidFill>
                <a:latin typeface="Arial"/>
              </a:rPr>
              <a:t>informe</a:t>
            </a:r>
            <a:r>
              <a:rPr sz="1400" b="0" i="0">
                <a:solidFill>
                  <a:srgbClr val="1A1A1A"/>
                </a:solidFill>
                <a:latin typeface="Arial"/>
              </a:rPr>
              <a:t> le client</a:t>
            </a:r>
          </a:p>
          <a:p>
            <a:pPr algn="l" marL="228600" indent="-228600">
              <a:spcBef>
                <a:spcPts val="0"/>
              </a:spcBef>
              <a:spcAft>
                <a:spcPts val="300"/>
              </a:spcAft>
              <a:buClr>
                <a:srgbClr val="1B7F3B"/>
              </a:buClr>
              <a:buFont typeface="Arial"/>
              <a:buChar char="•"/>
            </a:pPr>
            <a:r>
              <a:rPr sz="1400" b="0" i="0">
                <a:solidFill>
                  <a:srgbClr val="1A1A1A"/>
                </a:solidFill>
                <a:latin typeface="Arial"/>
              </a:rPr>
              <a:t>Je </a:t>
            </a:r>
            <a:r>
              <a:rPr sz="1400" b="1" i="0">
                <a:solidFill>
                  <a:srgbClr val="1A1A1A"/>
                </a:solidFill>
                <a:latin typeface="Arial"/>
              </a:rPr>
              <a:t>notifie</a:t>
            </a:r>
            <a:r>
              <a:rPr sz="1400" b="0" i="0">
                <a:solidFill>
                  <a:srgbClr val="1A1A1A"/>
                </a:solidFill>
                <a:latin typeface="Arial"/>
              </a:rPr>
              <a:t> l'anomalie dans le dossier Nomad</a:t>
            </a:r>
          </a:p>
          <a:p>
            <a:pPr algn="l" marL="228600" indent="-228600">
              <a:spcBef>
                <a:spcPts val="0"/>
              </a:spcBef>
              <a:spcAft>
                <a:spcPts val="300"/>
              </a:spcAft>
              <a:buClr>
                <a:srgbClr val="1B7F3B"/>
              </a:buClr>
              <a:buFont typeface="Arial"/>
              <a:buChar char="•"/>
            </a:pPr>
            <a:r>
              <a:rPr sz="1400" b="0" i="0">
                <a:solidFill>
                  <a:srgbClr val="1A1A1A"/>
                </a:solidFill>
                <a:latin typeface="Arial"/>
              </a:rPr>
              <a:t>J'applique la </a:t>
            </a:r>
            <a:r>
              <a:rPr sz="1400" b="1" i="0">
                <a:solidFill>
                  <a:srgbClr val="1A1A1A"/>
                </a:solidFill>
                <a:latin typeface="Arial"/>
              </a:rPr>
              <a:t>procédure</a:t>
            </a:r>
          </a:p>
        </p:txBody>
      </p:sp>
      <p:sp>
        <p:nvSpPr>
          <p:cNvPr id="12" name="Rounded Rectangle 11"/>
          <p:cNvSpPr/>
          <p:nvPr/>
        </p:nvSpPr>
        <p:spPr>
          <a:xfrm>
            <a:off x="7589520" y="3840480"/>
            <a:ext cx="3840480" cy="173736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3" name="Oval 12"/>
          <p:cNvSpPr/>
          <p:nvPr/>
        </p:nvSpPr>
        <p:spPr>
          <a:xfrm>
            <a:off x="7735824" y="395020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4" name="TextBox 13"/>
          <p:cNvSpPr txBox="1"/>
          <p:nvPr/>
        </p:nvSpPr>
        <p:spPr>
          <a:xfrm>
            <a:off x="8138160" y="3950208"/>
            <a:ext cx="3154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JE NE FAIS PAS</a:t>
            </a:r>
          </a:p>
        </p:txBody>
      </p:sp>
      <p:sp>
        <p:nvSpPr>
          <p:cNvPr id="15" name="TextBox 14"/>
          <p:cNvSpPr txBox="1"/>
          <p:nvPr/>
        </p:nvSpPr>
        <p:spPr>
          <a:xfrm>
            <a:off x="7772400" y="4370832"/>
            <a:ext cx="3474720" cy="1115567"/>
          </a:xfrm>
          <a:prstGeom prst="rect">
            <a:avLst/>
          </a:prstGeom>
          <a:noFill/>
        </p:spPr>
        <p:txBody>
          <a:bodyPr wrap="square" lIns="0" rIns="0" tIns="0" bIns="0" anchor="t">
            <a:spAutoFit/>
          </a:bodyPr>
          <a:lstStyle/>
          <a:p>
            <a:pPr algn="l" marL="228600" indent="-228600">
              <a:spcBef>
                <a:spcPts val="0"/>
              </a:spcBef>
              <a:spcAft>
                <a:spcPts val="300"/>
              </a:spcAft>
              <a:buClr>
                <a:srgbClr val="C8102E"/>
              </a:buClr>
              <a:buFont typeface="Arial"/>
              <a:buChar char="•"/>
            </a:pPr>
            <a:r>
              <a:rPr sz="1400" b="0" i="0">
                <a:solidFill>
                  <a:srgbClr val="1A1A1A"/>
                </a:solidFill>
                <a:latin typeface="Arial"/>
              </a:rPr>
              <a:t>Modifier le câblage ou la section</a:t>
            </a:r>
          </a:p>
          <a:p>
            <a:pPr algn="l" marL="228600" indent="-228600">
              <a:spcBef>
                <a:spcPts val="0"/>
              </a:spcBef>
              <a:spcAft>
                <a:spcPts val="300"/>
              </a:spcAft>
              <a:buClr>
                <a:srgbClr val="C8102E"/>
              </a:buClr>
              <a:buFont typeface="Arial"/>
              <a:buChar char="•"/>
            </a:pPr>
            <a:r>
              <a:rPr sz="1400" b="0" i="0">
                <a:solidFill>
                  <a:srgbClr val="1A1A1A"/>
                </a:solidFill>
                <a:latin typeface="Arial"/>
              </a:rPr>
              <a:t>Changer le couplage de l'appareil</a:t>
            </a:r>
          </a:p>
          <a:p>
            <a:pPr algn="l" marL="228600" indent="-228600">
              <a:spcBef>
                <a:spcPts val="0"/>
              </a:spcBef>
              <a:spcAft>
                <a:spcPts val="300"/>
              </a:spcAft>
              <a:buClr>
                <a:srgbClr val="C8102E"/>
              </a:buClr>
              <a:buFont typeface="Arial"/>
              <a:buChar char="•"/>
            </a:pPr>
            <a:r>
              <a:rPr sz="1400" b="0" i="0">
                <a:solidFill>
                  <a:srgbClr val="1A1A1A"/>
                </a:solidFill>
                <a:latin typeface="Arial"/>
              </a:rPr>
              <a:t>Improviser une adaptation</a:t>
            </a:r>
          </a:p>
        </p:txBody>
      </p:sp>
      <p:sp>
        <p:nvSpPr>
          <p:cNvPr id="16" name="Rounded Rectangle 15"/>
          <p:cNvSpPr/>
          <p:nvPr/>
        </p:nvSpPr>
        <p:spPr>
          <a:xfrm>
            <a:off x="1280160" y="4206240"/>
            <a:ext cx="6035040" cy="137160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17" name="Oval 16"/>
          <p:cNvSpPr/>
          <p:nvPr/>
        </p:nvSpPr>
        <p:spPr>
          <a:xfrm>
            <a:off x="1426463" y="431596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8" name="TextBox 17"/>
          <p:cNvSpPr txBox="1"/>
          <p:nvPr/>
        </p:nvSpPr>
        <p:spPr>
          <a:xfrm>
            <a:off x="1828800" y="4315968"/>
            <a:ext cx="534924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19" name="TextBox 18"/>
          <p:cNvSpPr txBox="1"/>
          <p:nvPr/>
        </p:nvSpPr>
        <p:spPr>
          <a:xfrm>
            <a:off x="1463039" y="4736592"/>
            <a:ext cx="5669279" cy="749808"/>
          </a:xfrm>
          <a:prstGeom prst="rect">
            <a:avLst/>
          </a:prstGeom>
          <a:noFill/>
        </p:spPr>
        <p:txBody>
          <a:bodyPr wrap="square" lIns="0" rIns="0" tIns="0" bIns="0" anchor="t">
            <a:spAutoFit/>
          </a:bodyPr>
          <a:lstStyle/>
          <a:p>
            <a:pPr algn="l">
              <a:spcBef>
                <a:spcPts val="0"/>
              </a:spcBef>
              <a:spcAft>
                <a:spcPts val="400"/>
              </a:spcAft>
            </a:pPr>
            <a:r>
              <a:rPr sz="1500" b="0" i="0">
                <a:solidFill>
                  <a:srgbClr val="1A1A1A"/>
                </a:solidFill>
                <a:latin typeface="Arial"/>
              </a:rPr>
              <a:t>Je ne modifie ni la répartition des phases, ni la section, et je </a:t>
            </a:r>
            <a:r>
              <a:rPr sz="1500" b="1" i="0">
                <a:solidFill>
                  <a:srgbClr val="1A1A1A"/>
                </a:solidFill>
                <a:latin typeface="Arial"/>
              </a:rPr>
              <a:t>ne coupe pas de brins</a:t>
            </a:r>
            <a:r>
              <a:rPr sz="1500" b="0" i="0">
                <a:solidFill>
                  <a:srgbClr val="1A1A1A"/>
                </a:solidFill>
                <a:latin typeface="Arial"/>
              </a:rPr>
              <a:t>.</a:t>
            </a:r>
          </a:p>
        </p:txBody>
      </p:sp>
      <p:sp>
        <p:nvSpPr>
          <p:cNvPr id="20" name="TextBox 1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1" name="TextBox 2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Pot d'encastrement absent ou abîmé, placo dégradé</a:t>
            </a:r>
          </a:p>
        </p:txBody>
      </p:sp>
      <p:pic>
        <p:nvPicPr>
          <p:cNvPr id="3" name="Picture 2" descr="s32_47.jpg"/>
          <p:cNvPicPr>
            <a:picLocks noChangeAspect="1"/>
          </p:cNvPicPr>
          <p:nvPr/>
        </p:nvPicPr>
        <p:blipFill>
          <a:blip r:embed="rId3"/>
          <a:stretch>
            <a:fillRect/>
          </a:stretch>
        </p:blipFill>
        <p:spPr>
          <a:xfrm>
            <a:off x="1280160" y="1446010"/>
            <a:ext cx="2560320" cy="2228618"/>
          </a:xfrm>
          <a:prstGeom prst="rect">
            <a:avLst/>
          </a:prstGeom>
          <a:ln w="9525">
            <a:solidFill>
              <a:srgbClr val="BDBDBD"/>
            </a:solidFill>
          </a:ln>
        </p:spPr>
      </p:pic>
      <p:pic>
        <p:nvPicPr>
          <p:cNvPr id="4" name="Picture 3" descr="s34_55.jpg"/>
          <p:cNvPicPr>
            <a:picLocks noChangeAspect="1"/>
          </p:cNvPicPr>
          <p:nvPr/>
        </p:nvPicPr>
        <p:blipFill>
          <a:blip r:embed="rId4"/>
          <a:stretch>
            <a:fillRect/>
          </a:stretch>
        </p:blipFill>
        <p:spPr>
          <a:xfrm>
            <a:off x="3977639" y="1420711"/>
            <a:ext cx="2560320" cy="2279216"/>
          </a:xfrm>
          <a:prstGeom prst="rect">
            <a:avLst/>
          </a:prstGeom>
          <a:ln w="9525">
            <a:solidFill>
              <a:srgbClr val="BDBDBD"/>
            </a:solidFill>
          </a:ln>
        </p:spPr>
      </p:pic>
      <p:sp>
        <p:nvSpPr>
          <p:cNvPr id="5" name="TextBox 4"/>
          <p:cNvSpPr txBox="1"/>
          <p:nvPr/>
        </p:nvSpPr>
        <p:spPr>
          <a:xfrm>
            <a:off x="1280160" y="3840480"/>
            <a:ext cx="5257800" cy="548640"/>
          </a:xfrm>
          <a:prstGeom prst="rect">
            <a:avLst/>
          </a:prstGeom>
          <a:noFill/>
        </p:spPr>
        <p:txBody>
          <a:bodyPr wrap="square" lIns="0" rIns="0" tIns="0" bIns="0" anchor="ctr">
            <a:spAutoFit/>
          </a:bodyPr>
          <a:lstStyle/>
          <a:p>
            <a:pPr algn="ctr">
              <a:spcBef>
                <a:spcPts val="0"/>
              </a:spcBef>
              <a:spcAft>
                <a:spcPts val="400"/>
              </a:spcAft>
            </a:pPr>
            <a:r>
              <a:rPr sz="1800" b="1" i="0">
                <a:solidFill>
                  <a:srgbClr val="C8102E"/>
                </a:solidFill>
                <a:latin typeface="Arial"/>
              </a:rPr>
              <a:t>Puis-je installer ou réinstaller la prise ?  </a:t>
            </a:r>
            <a:r>
              <a:rPr sz="1800" b="1" i="0">
                <a:solidFill>
                  <a:srgbClr val="C8102E"/>
                </a:solidFill>
                <a:latin typeface="Arial"/>
              </a:rPr>
              <a:t>NON</a:t>
            </a:r>
          </a:p>
        </p:txBody>
      </p:sp>
      <p:sp>
        <p:nvSpPr>
          <p:cNvPr id="6" name="Rounded Rectangle 5"/>
          <p:cNvSpPr/>
          <p:nvPr/>
        </p:nvSpPr>
        <p:spPr>
          <a:xfrm>
            <a:off x="6766560" y="1371600"/>
            <a:ext cx="4663440" cy="192024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7" name="Oval 6"/>
          <p:cNvSpPr/>
          <p:nvPr/>
        </p:nvSpPr>
        <p:spPr>
          <a:xfrm>
            <a:off x="6912864" y="148132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8" name="TextBox 7"/>
          <p:cNvSpPr txBox="1"/>
          <p:nvPr/>
        </p:nvSpPr>
        <p:spPr>
          <a:xfrm>
            <a:off x="7315200" y="1481328"/>
            <a:ext cx="3977639"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POURQUOI</a:t>
            </a:r>
          </a:p>
        </p:txBody>
      </p:sp>
      <p:sp>
        <p:nvSpPr>
          <p:cNvPr id="9" name="TextBox 8"/>
          <p:cNvSpPr txBox="1"/>
          <p:nvPr/>
        </p:nvSpPr>
        <p:spPr>
          <a:xfrm>
            <a:off x="6949440" y="1901952"/>
            <a:ext cx="4297679" cy="1298448"/>
          </a:xfrm>
          <a:prstGeom prst="rect">
            <a:avLst/>
          </a:prstGeom>
          <a:noFill/>
        </p:spPr>
        <p:txBody>
          <a:bodyPr wrap="square" lIns="0" rIns="0" tIns="0" bIns="0" anchor="t">
            <a:spAutoFit/>
          </a:bodyPr>
          <a:lstStyle/>
          <a:p>
            <a:pPr algn="l" marL="228600" indent="-228600">
              <a:spcBef>
                <a:spcPts val="0"/>
              </a:spcBef>
              <a:spcAft>
                <a:spcPts val="300"/>
              </a:spcAft>
              <a:buClr>
                <a:srgbClr val="D99100"/>
              </a:buClr>
              <a:buFont typeface="Arial"/>
              <a:buChar char="•"/>
            </a:pPr>
            <a:r>
              <a:rPr sz="1400" b="0" i="0">
                <a:solidFill>
                  <a:srgbClr val="1A1A1A"/>
                </a:solidFill>
                <a:latin typeface="Arial"/>
              </a:rPr>
              <a:t>Fixation mécanique </a:t>
            </a:r>
            <a:r>
              <a:rPr sz="1400" b="1" i="0">
                <a:solidFill>
                  <a:srgbClr val="1A1A1A"/>
                </a:solidFill>
                <a:latin typeface="Arial"/>
              </a:rPr>
              <a:t>non garantie</a:t>
            </a:r>
          </a:p>
          <a:p>
            <a:pPr algn="l" marL="228600" indent="-228600">
              <a:spcBef>
                <a:spcPts val="0"/>
              </a:spcBef>
              <a:spcAft>
                <a:spcPts val="300"/>
              </a:spcAft>
              <a:buClr>
                <a:srgbClr val="D99100"/>
              </a:buClr>
              <a:buFont typeface="Arial"/>
              <a:buChar char="•"/>
            </a:pPr>
            <a:r>
              <a:rPr sz="1400" b="0" i="0">
                <a:solidFill>
                  <a:srgbClr val="1A1A1A"/>
                </a:solidFill>
                <a:latin typeface="Arial"/>
              </a:rPr>
              <a:t>Conducteurs </a:t>
            </a:r>
            <a:r>
              <a:rPr sz="1400" b="1" i="0">
                <a:solidFill>
                  <a:srgbClr val="1A1A1A"/>
                </a:solidFill>
                <a:latin typeface="Arial"/>
              </a:rPr>
              <a:t>accessibles</a:t>
            </a:r>
          </a:p>
          <a:p>
            <a:pPr algn="l" marL="228600" indent="-228600">
              <a:spcBef>
                <a:spcPts val="0"/>
              </a:spcBef>
              <a:spcAft>
                <a:spcPts val="300"/>
              </a:spcAft>
              <a:buClr>
                <a:srgbClr val="D99100"/>
              </a:buClr>
              <a:buFont typeface="Arial"/>
              <a:buChar char="•"/>
            </a:pPr>
            <a:r>
              <a:rPr sz="1400" b="0" i="0">
                <a:solidFill>
                  <a:srgbClr val="1A1A1A"/>
                </a:solidFill>
                <a:latin typeface="Arial"/>
              </a:rPr>
              <a:t>Protection contre les contacts directs </a:t>
            </a:r>
            <a:r>
              <a:rPr sz="1400" b="1" i="0">
                <a:solidFill>
                  <a:srgbClr val="1A1A1A"/>
                </a:solidFill>
                <a:latin typeface="Arial"/>
              </a:rPr>
              <a:t>perdue</a:t>
            </a:r>
          </a:p>
        </p:txBody>
      </p:sp>
      <p:sp>
        <p:nvSpPr>
          <p:cNvPr id="10" name="Rounded Rectangle 9"/>
          <p:cNvSpPr/>
          <p:nvPr/>
        </p:nvSpPr>
        <p:spPr>
          <a:xfrm>
            <a:off x="6766560" y="3429000"/>
            <a:ext cx="4663440" cy="210312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1" name="Oval 10"/>
          <p:cNvSpPr/>
          <p:nvPr/>
        </p:nvSpPr>
        <p:spPr>
          <a:xfrm>
            <a:off x="6912864" y="353872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2" name="TextBox 11"/>
          <p:cNvSpPr txBox="1"/>
          <p:nvPr/>
        </p:nvSpPr>
        <p:spPr>
          <a:xfrm>
            <a:off x="7315200" y="3538728"/>
            <a:ext cx="3977639"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QUE FAIRE DANS CETTE SITUATION ?</a:t>
            </a:r>
          </a:p>
        </p:txBody>
      </p:sp>
      <p:sp>
        <p:nvSpPr>
          <p:cNvPr id="13" name="TextBox 12"/>
          <p:cNvSpPr txBox="1"/>
          <p:nvPr/>
        </p:nvSpPr>
        <p:spPr>
          <a:xfrm>
            <a:off x="6949440" y="3959352"/>
            <a:ext cx="4297679" cy="1481327"/>
          </a:xfrm>
          <a:prstGeom prst="rect">
            <a:avLst/>
          </a:prstGeom>
          <a:noFill/>
        </p:spPr>
        <p:txBody>
          <a:bodyPr wrap="square" lIns="0" rIns="0" tIns="0" bIns="0" anchor="t">
            <a:spAutoFit/>
          </a:bodyPr>
          <a:lstStyle/>
          <a:p>
            <a:pPr algn="l" marL="228600" indent="-228600">
              <a:spcBef>
                <a:spcPts val="0"/>
              </a:spcBef>
              <a:spcAft>
                <a:spcPts val="300"/>
              </a:spcAft>
              <a:buClr>
                <a:srgbClr val="0E2841"/>
              </a:buClr>
              <a:buFont typeface="Arial"/>
              <a:buChar char="•"/>
            </a:pPr>
            <a:r>
              <a:rPr sz="1400" b="0" i="0">
                <a:solidFill>
                  <a:srgbClr val="1A1A1A"/>
                </a:solidFill>
                <a:latin typeface="Arial"/>
              </a:rPr>
              <a:t>Je </a:t>
            </a:r>
            <a:r>
              <a:rPr sz="1400" b="1" i="0">
                <a:solidFill>
                  <a:srgbClr val="1A1A1A"/>
                </a:solidFill>
                <a:latin typeface="Arial"/>
              </a:rPr>
              <a:t>m'arrête</a:t>
            </a:r>
            <a:r>
              <a:rPr sz="1400" b="0" i="0">
                <a:solidFill>
                  <a:srgbClr val="1A1A1A"/>
                </a:solidFill>
                <a:latin typeface="Arial"/>
              </a:rPr>
              <a:t> : pas de remise en état</a:t>
            </a:r>
          </a:p>
          <a:p>
            <a:pPr algn="l" marL="228600" indent="-228600">
              <a:spcBef>
                <a:spcPts val="0"/>
              </a:spcBef>
              <a:spcAft>
                <a:spcPts val="300"/>
              </a:spcAft>
              <a:buClr>
                <a:srgbClr val="0E2841"/>
              </a:buClr>
              <a:buFont typeface="Arial"/>
              <a:buChar char="•"/>
            </a:pPr>
            <a:r>
              <a:rPr sz="1400" b="0" i="0">
                <a:solidFill>
                  <a:srgbClr val="1A1A1A"/>
                </a:solidFill>
                <a:latin typeface="Arial"/>
              </a:rPr>
              <a:t>Je </a:t>
            </a:r>
            <a:r>
              <a:rPr sz="1400" b="1" i="0">
                <a:solidFill>
                  <a:srgbClr val="1A1A1A"/>
                </a:solidFill>
                <a:latin typeface="Arial"/>
              </a:rPr>
              <a:t>photographie</a:t>
            </a:r>
          </a:p>
          <a:p>
            <a:pPr algn="l" marL="228600" indent="-228600">
              <a:spcBef>
                <a:spcPts val="0"/>
              </a:spcBef>
              <a:spcAft>
                <a:spcPts val="300"/>
              </a:spcAft>
              <a:buClr>
                <a:srgbClr val="0E2841"/>
              </a:buClr>
              <a:buFont typeface="Arial"/>
              <a:buChar char="•"/>
            </a:pPr>
            <a:r>
              <a:rPr sz="1400" b="1" i="0">
                <a:solidFill>
                  <a:srgbClr val="1A1A1A"/>
                </a:solidFill>
                <a:latin typeface="Arial"/>
              </a:rPr>
              <a:t>Compte rendu</a:t>
            </a:r>
            <a:r>
              <a:rPr sz="1400" b="0" i="0">
                <a:solidFill>
                  <a:srgbClr val="1A1A1A"/>
                </a:solidFill>
                <a:latin typeface="Arial"/>
              </a:rPr>
              <a:t> d'intervention</a:t>
            </a:r>
          </a:p>
          <a:p>
            <a:pPr algn="l" marL="228600" indent="-228600">
              <a:spcBef>
                <a:spcPts val="0"/>
              </a:spcBef>
              <a:spcAft>
                <a:spcPts val="300"/>
              </a:spcAft>
              <a:buClr>
                <a:srgbClr val="0E2841"/>
              </a:buClr>
              <a:buFont typeface="Arial"/>
              <a:buChar char="•"/>
            </a:pPr>
            <a:r>
              <a:rPr sz="1400" b="0" i="0">
                <a:solidFill>
                  <a:srgbClr val="1A1A1A"/>
                </a:solidFill>
                <a:latin typeface="Arial"/>
              </a:rPr>
              <a:t>Appareil laissé </a:t>
            </a:r>
            <a:r>
              <a:rPr sz="1400" b="1" i="0">
                <a:solidFill>
                  <a:srgbClr val="1A1A1A"/>
                </a:solidFill>
                <a:latin typeface="Arial"/>
              </a:rPr>
              <a:t>débranché</a:t>
            </a:r>
            <a:r>
              <a:rPr sz="1400" b="0" i="0">
                <a:solidFill>
                  <a:srgbClr val="1A1A1A"/>
                </a:solidFill>
                <a:latin typeface="Arial"/>
              </a:rPr>
              <a:t> si nécessaire</a:t>
            </a:r>
          </a:p>
        </p:txBody>
      </p:sp>
      <p:sp>
        <p:nvSpPr>
          <p:cNvPr id="14" name="Rounded Rectangle 13"/>
          <p:cNvSpPr/>
          <p:nvPr/>
        </p:nvSpPr>
        <p:spPr>
          <a:xfrm>
            <a:off x="1280160" y="4526280"/>
            <a:ext cx="5257800" cy="73152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5" name="TextBox 14"/>
          <p:cNvSpPr txBox="1"/>
          <p:nvPr/>
        </p:nvSpPr>
        <p:spPr>
          <a:xfrm>
            <a:off x="1463039" y="4654296"/>
            <a:ext cx="4892040" cy="512064"/>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Je ne répare ni le pot, ni le placo, ni l'installation.</a:t>
            </a:r>
          </a:p>
        </p:txBody>
      </p:sp>
      <p:sp>
        <p:nvSpPr>
          <p:cNvPr id="16" name="TextBox 15"/>
          <p:cNvSpPr txBox="1"/>
          <p:nvPr/>
        </p:nvSpPr>
        <p:spPr>
          <a:xfrm>
            <a:off x="1280160" y="576072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7" name="Rounded Rectangle 16"/>
          <p:cNvSpPr/>
          <p:nvPr/>
        </p:nvSpPr>
        <p:spPr>
          <a:xfrm>
            <a:off x="2148839" y="576072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Appareil photo</a:t>
            </a:r>
          </a:p>
        </p:txBody>
      </p:sp>
      <p:sp>
        <p:nvSpPr>
          <p:cNvPr id="18" name="Rounded Rectangle 17"/>
          <p:cNvSpPr/>
          <p:nvPr/>
        </p:nvSpPr>
        <p:spPr>
          <a:xfrm>
            <a:off x="3692347" y="5760720"/>
            <a:ext cx="134965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Dossier Nomad</a:t>
            </a:r>
          </a:p>
        </p:txBody>
      </p:sp>
      <p:sp>
        <p:nvSpPr>
          <p:cNvPr id="19" name="TextBox 1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0" name="TextBox 1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22 / 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Prise femelle 16 A sur une ligne 6 mm² / 32 A</a:t>
            </a:r>
          </a:p>
        </p:txBody>
      </p:sp>
      <p:pic>
        <p:nvPicPr>
          <p:cNvPr id="3" name="Picture 2" descr="illustration_prise_OK.png"/>
          <p:cNvPicPr>
            <a:picLocks noChangeAspect="1"/>
          </p:cNvPicPr>
          <p:nvPr/>
        </p:nvPicPr>
        <p:blipFill>
          <a:blip r:embed="rId3"/>
          <a:stretch>
            <a:fillRect/>
          </a:stretch>
        </p:blipFill>
        <p:spPr>
          <a:xfrm>
            <a:off x="1280160" y="1371686"/>
            <a:ext cx="5303520" cy="3337386"/>
          </a:xfrm>
          <a:prstGeom prst="rect">
            <a:avLst/>
          </a:prstGeom>
          <a:ln w="9525">
            <a:solidFill>
              <a:srgbClr val="BDBDBD"/>
            </a:solidFill>
          </a:ln>
        </p:spPr>
      </p:pic>
      <p:sp>
        <p:nvSpPr>
          <p:cNvPr id="4" name="Rounded Rectangle 3"/>
          <p:cNvSpPr/>
          <p:nvPr/>
        </p:nvSpPr>
        <p:spPr>
          <a:xfrm>
            <a:off x="6766560" y="1371600"/>
            <a:ext cx="4663440" cy="1554480"/>
          </a:xfrm>
          <a:prstGeom prst="roundRect">
            <a:avLst>
              <a:gd name="adj" fmla="val 6000"/>
            </a:avLst>
          </a:prstGeom>
          <a:solidFill>
            <a:srgbClr val="F3F3F3"/>
          </a:solidFill>
          <a:ln w="19050">
            <a:solidFill>
              <a:srgbClr val="8C8C8C"/>
            </a:solidFill>
          </a:ln>
        </p:spPr>
        <p:txBody>
          <a:bodyPr rtlCol="0" anchor="ctr"/>
          <a:lstStyle/>
          <a:p>
            <a:pPr algn="ctr"/>
          </a:p>
        </p:txBody>
      </p:sp>
      <p:sp>
        <p:nvSpPr>
          <p:cNvPr id="5" name="Oval 4"/>
          <p:cNvSpPr/>
          <p:nvPr/>
        </p:nvSpPr>
        <p:spPr>
          <a:xfrm>
            <a:off x="6912864" y="1481328"/>
            <a:ext cx="310896" cy="310896"/>
          </a:xfrm>
          <a:prstGeom prst="ellipse">
            <a:avLst/>
          </a:prstGeom>
          <a:solidFill>
            <a:srgbClr val="8C8C8C"/>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i</a:t>
            </a:r>
          </a:p>
        </p:txBody>
      </p:sp>
      <p:sp>
        <p:nvSpPr>
          <p:cNvPr id="6" name="TextBox 5"/>
          <p:cNvSpPr txBox="1"/>
          <p:nvPr/>
        </p:nvSpPr>
        <p:spPr>
          <a:xfrm>
            <a:off x="7315200" y="1481328"/>
            <a:ext cx="3977639" cy="310896"/>
          </a:xfrm>
          <a:prstGeom prst="rect">
            <a:avLst/>
          </a:prstGeom>
          <a:noFill/>
        </p:spPr>
        <p:txBody>
          <a:bodyPr wrap="square" lIns="0" rIns="0" tIns="0" bIns="0" anchor="ctr">
            <a:spAutoFit/>
          </a:bodyPr>
          <a:lstStyle/>
          <a:p>
            <a:pPr algn="l">
              <a:spcBef>
                <a:spcPts val="0"/>
              </a:spcBef>
              <a:spcAft>
                <a:spcPts val="400"/>
              </a:spcAft>
            </a:pPr>
            <a:r>
              <a:rPr sz="1300" b="1" i="0">
                <a:solidFill>
                  <a:srgbClr val="8C8C8C"/>
                </a:solidFill>
                <a:latin typeface="Arial"/>
              </a:rPr>
              <a:t>LA SITUATION</a:t>
            </a:r>
          </a:p>
        </p:txBody>
      </p:sp>
      <p:sp>
        <p:nvSpPr>
          <p:cNvPr id="7" name="TextBox 6"/>
          <p:cNvSpPr txBox="1"/>
          <p:nvPr/>
        </p:nvSpPr>
        <p:spPr>
          <a:xfrm>
            <a:off x="6949440" y="1901952"/>
            <a:ext cx="4297679" cy="932687"/>
          </a:xfrm>
          <a:prstGeom prst="rect">
            <a:avLst/>
          </a:prstGeom>
          <a:noFill/>
        </p:spPr>
        <p:txBody>
          <a:bodyPr wrap="square" lIns="0" rIns="0" tIns="0" bIns="0" anchor="t">
            <a:spAutoFit/>
          </a:bodyPr>
          <a:lstStyle/>
          <a:p>
            <a:pPr algn="l" marL="228600" indent="-228600">
              <a:spcBef>
                <a:spcPts val="0"/>
              </a:spcBef>
              <a:spcAft>
                <a:spcPts val="300"/>
              </a:spcAft>
              <a:buClr>
                <a:srgbClr val="8C8C8C"/>
              </a:buClr>
              <a:buFont typeface="Arial"/>
              <a:buChar char="•"/>
            </a:pPr>
            <a:r>
              <a:rPr sz="1500" b="0" i="0">
                <a:solidFill>
                  <a:srgbClr val="1A1A1A"/>
                </a:solidFill>
                <a:latin typeface="Arial"/>
              </a:rPr>
              <a:t>Câble </a:t>
            </a:r>
            <a:r>
              <a:rPr sz="1500" b="1" i="0">
                <a:solidFill>
                  <a:srgbClr val="1A1A1A"/>
                </a:solidFill>
                <a:latin typeface="Arial"/>
              </a:rPr>
              <a:t>6 mm²</a:t>
            </a:r>
            <a:r>
              <a:rPr sz="1500" b="0" i="0">
                <a:solidFill>
                  <a:srgbClr val="1A1A1A"/>
                </a:solidFill>
                <a:latin typeface="Arial"/>
              </a:rPr>
              <a:t> · disjoncteur </a:t>
            </a:r>
            <a:r>
              <a:rPr sz="1500" b="1" i="0">
                <a:solidFill>
                  <a:srgbClr val="1A1A1A"/>
                </a:solidFill>
                <a:latin typeface="Arial"/>
              </a:rPr>
              <a:t>32 A</a:t>
            </a:r>
          </a:p>
          <a:p>
            <a:pPr algn="l" marL="228600" indent="-228600">
              <a:spcBef>
                <a:spcPts val="0"/>
              </a:spcBef>
              <a:spcAft>
                <a:spcPts val="300"/>
              </a:spcAft>
              <a:buClr>
                <a:srgbClr val="8C8C8C"/>
              </a:buClr>
              <a:buFont typeface="Arial"/>
              <a:buChar char="•"/>
            </a:pPr>
            <a:r>
              <a:rPr sz="1500" b="0" i="0">
                <a:solidFill>
                  <a:srgbClr val="1A1A1A"/>
                </a:solidFill>
                <a:latin typeface="Arial"/>
              </a:rPr>
              <a:t>Appareil avec </a:t>
            </a:r>
            <a:r>
              <a:rPr sz="1500" b="1" i="0">
                <a:solidFill>
                  <a:srgbClr val="1A1A1A"/>
                </a:solidFill>
                <a:latin typeface="Arial"/>
              </a:rPr>
              <a:t>fiche 16 A</a:t>
            </a:r>
          </a:p>
        </p:txBody>
      </p:sp>
      <p:sp>
        <p:nvSpPr>
          <p:cNvPr id="8" name="Rounded Rectangle 7"/>
          <p:cNvSpPr/>
          <p:nvPr/>
        </p:nvSpPr>
        <p:spPr>
          <a:xfrm>
            <a:off x="6766560" y="3063240"/>
            <a:ext cx="4663440" cy="164592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9" name="Oval 8"/>
          <p:cNvSpPr/>
          <p:nvPr/>
        </p:nvSpPr>
        <p:spPr>
          <a:xfrm>
            <a:off x="6912864" y="317296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7315200" y="3172968"/>
            <a:ext cx="3977639"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JE NE FAIS PAS</a:t>
            </a:r>
          </a:p>
        </p:txBody>
      </p:sp>
      <p:sp>
        <p:nvSpPr>
          <p:cNvPr id="11" name="TextBox 10"/>
          <p:cNvSpPr txBox="1"/>
          <p:nvPr/>
        </p:nvSpPr>
        <p:spPr>
          <a:xfrm>
            <a:off x="6949440" y="3593592"/>
            <a:ext cx="4297679" cy="1024127"/>
          </a:xfrm>
          <a:prstGeom prst="rect">
            <a:avLst/>
          </a:prstGeom>
          <a:noFill/>
        </p:spPr>
        <p:txBody>
          <a:bodyPr wrap="square" lIns="0" rIns="0" tIns="0" bIns="0" anchor="t">
            <a:spAutoFit/>
          </a:bodyPr>
          <a:lstStyle/>
          <a:p>
            <a:pPr algn="l" marL="228600" indent="-228600">
              <a:spcBef>
                <a:spcPts val="0"/>
              </a:spcBef>
              <a:spcAft>
                <a:spcPts val="300"/>
              </a:spcAft>
              <a:buClr>
                <a:srgbClr val="C8102E"/>
              </a:buClr>
              <a:buFont typeface="Arial"/>
              <a:buChar char="•"/>
            </a:pPr>
            <a:r>
              <a:rPr sz="1400" b="0" i="0">
                <a:solidFill>
                  <a:srgbClr val="1A1A1A"/>
                </a:solidFill>
                <a:latin typeface="Arial"/>
              </a:rPr>
              <a:t>Remplacer ou modifier le disjoncteur</a:t>
            </a:r>
          </a:p>
          <a:p>
            <a:pPr algn="l" marL="228600" indent="-228600">
              <a:spcBef>
                <a:spcPts val="0"/>
              </a:spcBef>
              <a:spcAft>
                <a:spcPts val="300"/>
              </a:spcAft>
              <a:buClr>
                <a:srgbClr val="C8102E"/>
              </a:buClr>
              <a:buFont typeface="Arial"/>
              <a:buChar char="•"/>
            </a:pPr>
            <a:r>
              <a:rPr sz="1400" b="0" i="0">
                <a:solidFill>
                  <a:srgbClr val="1A1A1A"/>
                </a:solidFill>
                <a:latin typeface="Arial"/>
              </a:rPr>
              <a:t>Transformer un circuit cuisson en circuit prise</a:t>
            </a:r>
          </a:p>
        </p:txBody>
      </p:sp>
      <p:sp>
        <p:nvSpPr>
          <p:cNvPr id="12" name="Rounded Rectangle 11"/>
          <p:cNvSpPr/>
          <p:nvPr/>
        </p:nvSpPr>
        <p:spPr>
          <a:xfrm>
            <a:off x="1280160" y="4681728"/>
            <a:ext cx="9509760" cy="105156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3" name="Oval 12"/>
          <p:cNvSpPr/>
          <p:nvPr/>
        </p:nvSpPr>
        <p:spPr>
          <a:xfrm>
            <a:off x="1426463" y="4791456"/>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4" name="TextBox 13"/>
          <p:cNvSpPr txBox="1"/>
          <p:nvPr/>
        </p:nvSpPr>
        <p:spPr>
          <a:xfrm>
            <a:off x="1828800" y="4791456"/>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QUE FAIRE ?</a:t>
            </a:r>
          </a:p>
        </p:txBody>
      </p:sp>
      <p:sp>
        <p:nvSpPr>
          <p:cNvPr id="15" name="TextBox 14"/>
          <p:cNvSpPr txBox="1"/>
          <p:nvPr/>
        </p:nvSpPr>
        <p:spPr>
          <a:xfrm>
            <a:off x="1463039" y="5212080"/>
            <a:ext cx="9144000" cy="429767"/>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Le client fait </a:t>
            </a:r>
            <a:r>
              <a:rPr sz="1400" b="1" i="0">
                <a:solidFill>
                  <a:srgbClr val="1A1A1A"/>
                </a:solidFill>
                <a:latin typeface="Arial"/>
              </a:rPr>
              <a:t>remplacer et adapter</a:t>
            </a:r>
            <a:r>
              <a:rPr sz="1400" b="0" i="0">
                <a:solidFill>
                  <a:srgbClr val="1A1A1A"/>
                </a:solidFill>
                <a:latin typeface="Arial"/>
              </a:rPr>
              <a:t> le magnétothermique par un électricien. J'</a:t>
            </a:r>
            <a:r>
              <a:rPr sz="1400" b="1" i="0">
                <a:solidFill>
                  <a:srgbClr val="1A1A1A"/>
                </a:solidFill>
                <a:latin typeface="Arial"/>
              </a:rPr>
              <a:t>informe</a:t>
            </a:r>
            <a:r>
              <a:rPr sz="1400" b="0" i="0">
                <a:solidFill>
                  <a:srgbClr val="1A1A1A"/>
                </a:solidFill>
                <a:latin typeface="Arial"/>
              </a:rPr>
              <a:t> et je </a:t>
            </a:r>
            <a:r>
              <a:rPr sz="1400" b="1" i="0">
                <a:solidFill>
                  <a:srgbClr val="1A1A1A"/>
                </a:solidFill>
                <a:latin typeface="Arial"/>
              </a:rPr>
              <a:t>notifie</a:t>
            </a:r>
            <a:r>
              <a:rPr sz="1400" b="0" i="0">
                <a:solidFill>
                  <a:srgbClr val="1A1A1A"/>
                </a:solidFill>
                <a:latin typeface="Arial"/>
              </a:rPr>
              <a:t> dans le dossier Nomad.</a:t>
            </a:r>
          </a:p>
        </p:txBody>
      </p:sp>
      <p:sp>
        <p:nvSpPr>
          <p:cNvPr id="16" name="TextBox 15"/>
          <p:cNvSpPr txBox="1"/>
          <p:nvPr/>
        </p:nvSpPr>
        <p:spPr>
          <a:xfrm>
            <a:off x="1280160" y="594360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7" name="Rounded Rectangle 16"/>
          <p:cNvSpPr/>
          <p:nvPr/>
        </p:nvSpPr>
        <p:spPr>
          <a:xfrm>
            <a:off x="2148839" y="594360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Tableau repéré</a:t>
            </a:r>
          </a:p>
        </p:txBody>
      </p:sp>
      <p:sp>
        <p:nvSpPr>
          <p:cNvPr id="18" name="Rounded Rectangle 17"/>
          <p:cNvSpPr/>
          <p:nvPr/>
        </p:nvSpPr>
        <p:spPr>
          <a:xfrm>
            <a:off x="3692347" y="5943600"/>
            <a:ext cx="134965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Dossier Nomad</a:t>
            </a:r>
          </a:p>
        </p:txBody>
      </p:sp>
      <p:sp>
        <p:nvSpPr>
          <p:cNvPr id="19" name="TextBox 1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0" name="TextBox 1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23 / 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Dominos et connecteurs Wago</a:t>
            </a:r>
          </a:p>
        </p:txBody>
      </p:sp>
      <p:pic>
        <p:nvPicPr>
          <p:cNvPr id="3" name="Picture 2" descr="s40_60.jpg"/>
          <p:cNvPicPr>
            <a:picLocks noChangeAspect="1"/>
          </p:cNvPicPr>
          <p:nvPr/>
        </p:nvPicPr>
        <p:blipFill>
          <a:blip r:embed="rId3"/>
          <a:stretch>
            <a:fillRect/>
          </a:stretch>
        </p:blipFill>
        <p:spPr>
          <a:xfrm>
            <a:off x="1280160" y="1491245"/>
            <a:ext cx="2194560" cy="1498068"/>
          </a:xfrm>
          <a:prstGeom prst="rect">
            <a:avLst/>
          </a:prstGeom>
          <a:ln w="9525">
            <a:solidFill>
              <a:srgbClr val="BDBDBD"/>
            </a:solidFill>
          </a:ln>
        </p:spPr>
      </p:pic>
      <p:sp>
        <p:nvSpPr>
          <p:cNvPr id="4" name="TextBox 3"/>
          <p:cNvSpPr txBox="1"/>
          <p:nvPr/>
        </p:nvSpPr>
        <p:spPr>
          <a:xfrm>
            <a:off x="1280160" y="3108960"/>
            <a:ext cx="219456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Domino</a:t>
            </a:r>
          </a:p>
        </p:txBody>
      </p:sp>
      <p:pic>
        <p:nvPicPr>
          <p:cNvPr id="5" name="Picture 4" descr="s41_61.jpg"/>
          <p:cNvPicPr>
            <a:picLocks noChangeAspect="1"/>
          </p:cNvPicPr>
          <p:nvPr/>
        </p:nvPicPr>
        <p:blipFill>
          <a:blip r:embed="rId4"/>
          <a:stretch>
            <a:fillRect/>
          </a:stretch>
        </p:blipFill>
        <p:spPr>
          <a:xfrm>
            <a:off x="3611879" y="1415212"/>
            <a:ext cx="2743200" cy="1650135"/>
          </a:xfrm>
          <a:prstGeom prst="rect">
            <a:avLst/>
          </a:prstGeom>
          <a:ln w="9525">
            <a:solidFill>
              <a:srgbClr val="BDBDBD"/>
            </a:solidFill>
          </a:ln>
        </p:spPr>
      </p:pic>
      <p:sp>
        <p:nvSpPr>
          <p:cNvPr id="6" name="TextBox 5"/>
          <p:cNvSpPr txBox="1"/>
          <p:nvPr/>
        </p:nvSpPr>
        <p:spPr>
          <a:xfrm>
            <a:off x="3611879" y="3108960"/>
            <a:ext cx="27432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Wago série 2273</a:t>
            </a:r>
          </a:p>
        </p:txBody>
      </p:sp>
      <p:pic>
        <p:nvPicPr>
          <p:cNvPr id="7" name="Picture 6" descr="s41_62.jpg"/>
          <p:cNvPicPr>
            <a:picLocks noChangeAspect="1"/>
          </p:cNvPicPr>
          <p:nvPr/>
        </p:nvPicPr>
        <p:blipFill>
          <a:blip r:embed="rId5"/>
          <a:stretch>
            <a:fillRect/>
          </a:stretch>
        </p:blipFill>
        <p:spPr>
          <a:xfrm>
            <a:off x="6492240" y="1485657"/>
            <a:ext cx="2377440" cy="1509245"/>
          </a:xfrm>
          <a:prstGeom prst="rect">
            <a:avLst/>
          </a:prstGeom>
          <a:ln w="9525">
            <a:solidFill>
              <a:srgbClr val="BDBDBD"/>
            </a:solidFill>
          </a:ln>
        </p:spPr>
      </p:pic>
      <p:sp>
        <p:nvSpPr>
          <p:cNvPr id="8" name="TextBox 7"/>
          <p:cNvSpPr txBox="1"/>
          <p:nvPr/>
        </p:nvSpPr>
        <p:spPr>
          <a:xfrm>
            <a:off x="6492240" y="3108960"/>
            <a:ext cx="23774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Wago série 221</a:t>
            </a:r>
          </a:p>
        </p:txBody>
      </p:sp>
      <p:sp>
        <p:nvSpPr>
          <p:cNvPr id="9" name="Rounded Rectangle 8"/>
          <p:cNvSpPr/>
          <p:nvPr/>
        </p:nvSpPr>
        <p:spPr>
          <a:xfrm>
            <a:off x="9144000" y="1371600"/>
            <a:ext cx="2286000" cy="201168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0" name="Oval 9"/>
          <p:cNvSpPr/>
          <p:nvPr/>
        </p:nvSpPr>
        <p:spPr>
          <a:xfrm>
            <a:off x="9290304"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1" name="TextBox 10"/>
          <p:cNvSpPr txBox="1"/>
          <p:nvPr/>
        </p:nvSpPr>
        <p:spPr>
          <a:xfrm>
            <a:off x="9692640" y="1481328"/>
            <a:ext cx="16002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a:t>
            </a:r>
          </a:p>
        </p:txBody>
      </p:sp>
      <p:sp>
        <p:nvSpPr>
          <p:cNvPr id="12" name="TextBox 11"/>
          <p:cNvSpPr txBox="1"/>
          <p:nvPr/>
        </p:nvSpPr>
        <p:spPr>
          <a:xfrm>
            <a:off x="9326880" y="1901952"/>
            <a:ext cx="1920240" cy="1389888"/>
          </a:xfrm>
          <a:prstGeom prst="rect">
            <a:avLst/>
          </a:prstGeom>
          <a:noFill/>
        </p:spPr>
        <p:txBody>
          <a:bodyPr wrap="square" lIns="0" rIns="0" tIns="0" bIns="0" anchor="t">
            <a:spAutoFit/>
          </a:bodyPr>
          <a:lstStyle/>
          <a:p>
            <a:pPr algn="l">
              <a:spcBef>
                <a:spcPts val="0"/>
              </a:spcBef>
              <a:spcAft>
                <a:spcPts val="400"/>
              </a:spcAft>
            </a:pPr>
            <a:r>
              <a:rPr sz="1400" b="1" i="0">
                <a:solidFill>
                  <a:srgbClr val="1A1A1A"/>
                </a:solidFill>
                <a:latin typeface="Arial"/>
              </a:rPr>
              <a:t>Wago d'origine</a:t>
            </a:r>
            <a:r>
              <a:rPr sz="1400" b="0" i="0">
                <a:solidFill>
                  <a:srgbClr val="1A1A1A"/>
                </a:solidFill>
                <a:latin typeface="Arial"/>
              </a:rPr>
              <a:t> fortement préconisés</a:t>
            </a:r>
          </a:p>
        </p:txBody>
      </p:sp>
      <p:sp>
        <p:nvSpPr>
          <p:cNvPr id="13" name="Rounded Rectangle 12"/>
          <p:cNvSpPr/>
          <p:nvPr/>
        </p:nvSpPr>
        <p:spPr>
          <a:xfrm>
            <a:off x="1280160" y="3520440"/>
            <a:ext cx="4937760" cy="205740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4" name="Oval 13"/>
          <p:cNvSpPr/>
          <p:nvPr/>
        </p:nvSpPr>
        <p:spPr>
          <a:xfrm>
            <a:off x="1426463" y="36301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5" name="TextBox 14"/>
          <p:cNvSpPr txBox="1"/>
          <p:nvPr/>
        </p:nvSpPr>
        <p:spPr>
          <a:xfrm>
            <a:off x="1828800" y="3630168"/>
            <a:ext cx="4251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a:t>
            </a:r>
          </a:p>
        </p:txBody>
      </p:sp>
      <p:sp>
        <p:nvSpPr>
          <p:cNvPr id="16" name="TextBox 15"/>
          <p:cNvSpPr txBox="1"/>
          <p:nvPr/>
        </p:nvSpPr>
        <p:spPr>
          <a:xfrm>
            <a:off x="1463039" y="4050791"/>
            <a:ext cx="4572000" cy="1435608"/>
          </a:xfrm>
          <a:prstGeom prst="rect">
            <a:avLst/>
          </a:prstGeom>
          <a:noFill/>
        </p:spPr>
        <p:txBody>
          <a:bodyPr wrap="square" lIns="0" rIns="0" tIns="0" bIns="0" anchor="t">
            <a:spAutoFit/>
          </a:bodyPr>
          <a:lstStyle/>
          <a:p>
            <a:pPr algn="l" marL="228600" indent="-228600">
              <a:spcBef>
                <a:spcPts val="0"/>
              </a:spcBef>
              <a:spcAft>
                <a:spcPts val="400"/>
              </a:spcAft>
              <a:buClr>
                <a:srgbClr val="1B7F3B"/>
              </a:buClr>
              <a:buFont typeface="Arial"/>
              <a:buChar char="•"/>
            </a:pPr>
            <a:r>
              <a:rPr sz="1400" b="0" i="0">
                <a:solidFill>
                  <a:srgbClr val="1A1A1A"/>
                </a:solidFill>
                <a:latin typeface="Arial"/>
              </a:rPr>
              <a:t>Domino </a:t>
            </a:r>
            <a:r>
              <a:rPr sz="1400" b="1" i="0">
                <a:solidFill>
                  <a:srgbClr val="1A1A1A"/>
                </a:solidFill>
                <a:latin typeface="Arial"/>
              </a:rPr>
              <a:t>toléré</a:t>
            </a:r>
            <a:r>
              <a:rPr sz="1400" b="0" i="0">
                <a:solidFill>
                  <a:srgbClr val="1A1A1A"/>
                </a:solidFill>
                <a:latin typeface="Arial"/>
              </a:rPr>
              <a:t> si : adapté à la section, bien serré, accessible</a:t>
            </a:r>
          </a:p>
          <a:p>
            <a:pPr algn="l" marL="228600" indent="-228600">
              <a:spcBef>
                <a:spcPts val="0"/>
              </a:spcBef>
              <a:spcAft>
                <a:spcPts val="400"/>
              </a:spcAft>
              <a:buClr>
                <a:srgbClr val="1B7F3B"/>
              </a:buClr>
              <a:buFont typeface="Arial"/>
              <a:buChar char="•"/>
            </a:pPr>
            <a:r>
              <a:rPr sz="1400" b="0" i="0">
                <a:solidFill>
                  <a:srgbClr val="1A1A1A"/>
                </a:solidFill>
                <a:latin typeface="Arial"/>
              </a:rPr>
              <a:t>Toujours lire la </a:t>
            </a:r>
            <a:r>
              <a:rPr sz="1400" b="1" i="0">
                <a:solidFill>
                  <a:srgbClr val="1A1A1A"/>
                </a:solidFill>
                <a:latin typeface="Arial"/>
              </a:rPr>
              <a:t>section admise</a:t>
            </a:r>
            <a:r>
              <a:rPr sz="1400" b="0" i="0">
                <a:solidFill>
                  <a:srgbClr val="1A1A1A"/>
                </a:solidFill>
                <a:latin typeface="Arial"/>
              </a:rPr>
              <a:t> sur l'emballage</a:t>
            </a:r>
          </a:p>
        </p:txBody>
      </p:sp>
      <p:sp>
        <p:nvSpPr>
          <p:cNvPr id="17" name="Rounded Rectangle 16"/>
          <p:cNvSpPr/>
          <p:nvPr/>
        </p:nvSpPr>
        <p:spPr>
          <a:xfrm>
            <a:off x="6400800" y="3520440"/>
            <a:ext cx="5029200" cy="205740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8" name="Oval 17"/>
          <p:cNvSpPr/>
          <p:nvPr/>
        </p:nvSpPr>
        <p:spPr>
          <a:xfrm>
            <a:off x="6547104" y="363016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9" name="TextBox 18"/>
          <p:cNvSpPr txBox="1"/>
          <p:nvPr/>
        </p:nvSpPr>
        <p:spPr>
          <a:xfrm>
            <a:off x="6949440" y="3630168"/>
            <a:ext cx="43434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INTERDIT</a:t>
            </a:r>
          </a:p>
        </p:txBody>
      </p:sp>
      <p:sp>
        <p:nvSpPr>
          <p:cNvPr id="20" name="TextBox 19"/>
          <p:cNvSpPr txBox="1"/>
          <p:nvPr/>
        </p:nvSpPr>
        <p:spPr>
          <a:xfrm>
            <a:off x="6583680" y="4050791"/>
            <a:ext cx="4663440" cy="1435608"/>
          </a:xfrm>
          <a:prstGeom prst="rect">
            <a:avLst/>
          </a:prstGeom>
          <a:noFill/>
        </p:spPr>
        <p:txBody>
          <a:bodyPr wrap="square" lIns="0" rIns="0" tIns="0" bIns="0" anchor="t">
            <a:spAutoFit/>
          </a:bodyPr>
          <a:lstStyle/>
          <a:p>
            <a:pPr algn="l" marL="228600" indent="-228600">
              <a:spcBef>
                <a:spcPts val="0"/>
              </a:spcBef>
              <a:spcAft>
                <a:spcPts val="400"/>
              </a:spcAft>
              <a:buClr>
                <a:srgbClr val="C8102E"/>
              </a:buClr>
              <a:buFont typeface="Arial"/>
              <a:buChar char="•"/>
            </a:pPr>
            <a:r>
              <a:rPr sz="1400" b="0" i="0">
                <a:solidFill>
                  <a:srgbClr val="1A1A1A"/>
                </a:solidFill>
                <a:latin typeface="Arial"/>
              </a:rPr>
              <a:t>Fils </a:t>
            </a:r>
            <a:r>
              <a:rPr sz="1400" b="1" i="0">
                <a:solidFill>
                  <a:srgbClr val="1A1A1A"/>
                </a:solidFill>
                <a:latin typeface="Arial"/>
              </a:rPr>
              <a:t>torsadés + ruban adhésif</a:t>
            </a:r>
            <a:r>
              <a:rPr sz="1400" b="0" i="0">
                <a:solidFill>
                  <a:srgbClr val="1A1A1A"/>
                </a:solidFill>
                <a:latin typeface="Arial"/>
              </a:rPr>
              <a:t> (épissure)</a:t>
            </a:r>
          </a:p>
          <a:p>
            <a:pPr algn="l" marL="228600" indent="-228600">
              <a:spcBef>
                <a:spcPts val="0"/>
              </a:spcBef>
              <a:spcAft>
                <a:spcPts val="400"/>
              </a:spcAft>
              <a:buClr>
                <a:srgbClr val="C8102E"/>
              </a:buClr>
              <a:buFont typeface="Arial"/>
              <a:buChar char="•"/>
            </a:pPr>
            <a:r>
              <a:rPr sz="1400" b="1" i="0">
                <a:solidFill>
                  <a:srgbClr val="1A1A1A"/>
                </a:solidFill>
                <a:latin typeface="Arial"/>
              </a:rPr>
              <a:t>Retirer le domino</a:t>
            </a:r>
            <a:r>
              <a:rPr sz="1400" b="0" i="0">
                <a:solidFill>
                  <a:srgbClr val="1A1A1A"/>
                </a:solidFill>
                <a:latin typeface="Arial"/>
              </a:rPr>
              <a:t> du client pour le remplacer</a:t>
            </a:r>
          </a:p>
          <a:p>
            <a:pPr algn="l" marL="228600" indent="-228600">
              <a:spcBef>
                <a:spcPts val="0"/>
              </a:spcBef>
              <a:spcAft>
                <a:spcPts val="400"/>
              </a:spcAft>
              <a:buClr>
                <a:srgbClr val="C8102E"/>
              </a:buClr>
              <a:buFont typeface="Arial"/>
              <a:buChar char="•"/>
            </a:pPr>
            <a:r>
              <a:rPr sz="1400" b="0" i="0">
                <a:solidFill>
                  <a:srgbClr val="1A1A1A"/>
                </a:solidFill>
                <a:latin typeface="Arial"/>
              </a:rPr>
              <a:t>Un Wago « passe-partout » : </a:t>
            </a:r>
            <a:r>
              <a:rPr sz="1400" b="1" i="0">
                <a:solidFill>
                  <a:srgbClr val="1A1A1A"/>
                </a:solidFill>
                <a:latin typeface="Arial"/>
              </a:rPr>
              <a:t>non</a:t>
            </a:r>
            <a:r>
              <a:rPr sz="1400" b="0" i="0">
                <a:solidFill>
                  <a:srgbClr val="1A1A1A"/>
                </a:solidFill>
                <a:latin typeface="Arial"/>
              </a:rPr>
              <a:t> (vérifier la section)</a:t>
            </a:r>
          </a:p>
        </p:txBody>
      </p:sp>
      <p:sp>
        <p:nvSpPr>
          <p:cNvPr id="21" name="TextBox 20"/>
          <p:cNvSpPr txBox="1"/>
          <p:nvPr/>
        </p:nvSpPr>
        <p:spPr>
          <a:xfrm>
            <a:off x="1280160" y="580644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2" name="Rounded Rectangle 21"/>
          <p:cNvSpPr/>
          <p:nvPr/>
        </p:nvSpPr>
        <p:spPr>
          <a:xfrm>
            <a:off x="2148839" y="580644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Wago d'origine</a:t>
            </a:r>
          </a:p>
        </p:txBody>
      </p:sp>
      <p:sp>
        <p:nvSpPr>
          <p:cNvPr id="23" name="Rounded Rectangle 22"/>
          <p:cNvSpPr/>
          <p:nvPr/>
        </p:nvSpPr>
        <p:spPr>
          <a:xfrm>
            <a:off x="3692347" y="5806440"/>
            <a:ext cx="1770278"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Fiche constructeur</a:t>
            </a:r>
          </a:p>
        </p:txBody>
      </p:sp>
      <p:sp>
        <p:nvSpPr>
          <p:cNvPr id="24" name="TextBox 23"/>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5" name="TextBox 24"/>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24 / 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Fils équipés de bagues (ferrules) et tables de cuisson</a:t>
            </a:r>
          </a:p>
        </p:txBody>
      </p:sp>
      <p:pic>
        <p:nvPicPr>
          <p:cNvPr id="3" name="Picture 2" descr="D_neder_avec_pince_sp_cifique.jpg"/>
          <p:cNvPicPr>
            <a:picLocks noChangeAspect="1"/>
          </p:cNvPicPr>
          <p:nvPr/>
        </p:nvPicPr>
        <p:blipFill>
          <a:blip r:embed="rId3"/>
          <a:stretch>
            <a:fillRect/>
          </a:stretch>
        </p:blipFill>
        <p:spPr>
          <a:xfrm>
            <a:off x="1280159" y="1371600"/>
            <a:ext cx="3291840" cy="2468880"/>
          </a:xfrm>
          <a:prstGeom prst="rect">
            <a:avLst/>
          </a:prstGeom>
          <a:ln w="9525">
            <a:solidFill>
              <a:srgbClr val="BDBDBD"/>
            </a:solidFill>
          </a:ln>
        </p:spPr>
      </p:pic>
      <p:sp>
        <p:nvSpPr>
          <p:cNvPr id="4" name="TextBox 3"/>
          <p:cNvSpPr txBox="1"/>
          <p:nvPr/>
        </p:nvSpPr>
        <p:spPr>
          <a:xfrm>
            <a:off x="1280160" y="3840480"/>
            <a:ext cx="32918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Dénuder avec la pince spécifique</a:t>
            </a:r>
          </a:p>
        </p:txBody>
      </p:sp>
      <p:pic>
        <p:nvPicPr>
          <p:cNvPr id="5" name="Picture 4" descr="branchement_avec_embout_OK.jpg"/>
          <p:cNvPicPr>
            <a:picLocks noChangeAspect="1"/>
          </p:cNvPicPr>
          <p:nvPr/>
        </p:nvPicPr>
        <p:blipFill>
          <a:blip r:embed="rId4"/>
          <a:stretch>
            <a:fillRect/>
          </a:stretch>
        </p:blipFill>
        <p:spPr>
          <a:xfrm>
            <a:off x="4709160" y="1371600"/>
            <a:ext cx="3291840" cy="2468880"/>
          </a:xfrm>
          <a:prstGeom prst="rect">
            <a:avLst/>
          </a:prstGeom>
          <a:ln w="9525">
            <a:solidFill>
              <a:srgbClr val="BDBDBD"/>
            </a:solidFill>
          </a:ln>
        </p:spPr>
      </p:pic>
      <p:sp>
        <p:nvSpPr>
          <p:cNvPr id="6" name="TextBox 5"/>
          <p:cNvSpPr txBox="1"/>
          <p:nvPr/>
        </p:nvSpPr>
        <p:spPr>
          <a:xfrm>
            <a:off x="4709160" y="3840480"/>
            <a:ext cx="329184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Raccordement avec embouts : correct</a:t>
            </a:r>
          </a:p>
        </p:txBody>
      </p:sp>
      <p:sp>
        <p:nvSpPr>
          <p:cNvPr id="7" name="Rounded Rectangle 6"/>
          <p:cNvSpPr/>
          <p:nvPr/>
        </p:nvSpPr>
        <p:spPr>
          <a:xfrm>
            <a:off x="8412480" y="1371600"/>
            <a:ext cx="3017520" cy="246888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8" name="Oval 7"/>
          <p:cNvSpPr/>
          <p:nvPr/>
        </p:nvSpPr>
        <p:spPr>
          <a:xfrm>
            <a:off x="8558784" y="148132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8961119" y="1481328"/>
            <a:ext cx="23317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INTERDIT</a:t>
            </a:r>
          </a:p>
        </p:txBody>
      </p:sp>
      <p:sp>
        <p:nvSpPr>
          <p:cNvPr id="10" name="TextBox 9"/>
          <p:cNvSpPr txBox="1"/>
          <p:nvPr/>
        </p:nvSpPr>
        <p:spPr>
          <a:xfrm>
            <a:off x="8595359" y="1901952"/>
            <a:ext cx="2651760" cy="1847088"/>
          </a:xfrm>
          <a:prstGeom prst="rect">
            <a:avLst/>
          </a:prstGeom>
          <a:noFill/>
        </p:spPr>
        <p:txBody>
          <a:bodyPr wrap="square" lIns="0" rIns="0" tIns="0" bIns="0" anchor="t">
            <a:spAutoFit/>
          </a:bodyPr>
          <a:lstStyle/>
          <a:p>
            <a:pPr algn="l" marL="228600" indent="-228600">
              <a:spcBef>
                <a:spcPts val="0"/>
              </a:spcBef>
              <a:spcAft>
                <a:spcPts val="400"/>
              </a:spcAft>
              <a:buClr>
                <a:srgbClr val="C8102E"/>
              </a:buClr>
              <a:buFont typeface="Arial"/>
              <a:buChar char="•"/>
            </a:pPr>
            <a:r>
              <a:rPr sz="1400" b="0" i="0">
                <a:solidFill>
                  <a:srgbClr val="1A1A1A"/>
                </a:solidFill>
                <a:latin typeface="Arial"/>
              </a:rPr>
              <a:t>Couper ou retirer la bague</a:t>
            </a:r>
          </a:p>
          <a:p>
            <a:pPr algn="l" marL="228600" indent="-228600">
              <a:spcBef>
                <a:spcPts val="0"/>
              </a:spcBef>
              <a:spcAft>
                <a:spcPts val="400"/>
              </a:spcAft>
              <a:buClr>
                <a:srgbClr val="C8102E"/>
              </a:buClr>
              <a:buFont typeface="Arial"/>
              <a:buChar char="•"/>
            </a:pPr>
            <a:r>
              <a:rPr sz="1400" b="0" i="0">
                <a:solidFill>
                  <a:srgbClr val="1A1A1A"/>
                </a:solidFill>
                <a:latin typeface="Arial"/>
              </a:rPr>
              <a:t>Diminuer la section</a:t>
            </a:r>
          </a:p>
          <a:p>
            <a:pPr algn="l" marL="228600" indent="-228600">
              <a:spcBef>
                <a:spcPts val="0"/>
              </a:spcBef>
              <a:spcAft>
                <a:spcPts val="400"/>
              </a:spcAft>
              <a:buClr>
                <a:srgbClr val="C8102E"/>
              </a:buClr>
              <a:buFont typeface="Arial"/>
              <a:buChar char="•"/>
            </a:pPr>
            <a:r>
              <a:rPr sz="1400" b="0" i="0">
                <a:solidFill>
                  <a:srgbClr val="1A1A1A"/>
                </a:solidFill>
                <a:latin typeface="Arial"/>
              </a:rPr>
              <a:t>Forcer le raccordement</a:t>
            </a:r>
          </a:p>
        </p:txBody>
      </p:sp>
      <p:sp>
        <p:nvSpPr>
          <p:cNvPr id="11" name="Rounded Rectangle 10"/>
          <p:cNvSpPr/>
          <p:nvPr/>
        </p:nvSpPr>
        <p:spPr>
          <a:xfrm>
            <a:off x="1280160" y="4251960"/>
            <a:ext cx="4937760" cy="141732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2" name="Oval 11"/>
          <p:cNvSpPr/>
          <p:nvPr/>
        </p:nvSpPr>
        <p:spPr>
          <a:xfrm>
            <a:off x="1426463" y="436168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1828800" y="4361688"/>
            <a:ext cx="4251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a:t>
            </a:r>
          </a:p>
        </p:txBody>
      </p:sp>
      <p:sp>
        <p:nvSpPr>
          <p:cNvPr id="14" name="TextBox 13"/>
          <p:cNvSpPr txBox="1"/>
          <p:nvPr/>
        </p:nvSpPr>
        <p:spPr>
          <a:xfrm>
            <a:off x="1463039" y="4782312"/>
            <a:ext cx="4572000" cy="79552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Matériel </a:t>
            </a:r>
            <a:r>
              <a:rPr sz="1400" b="1" i="0">
                <a:solidFill>
                  <a:srgbClr val="1A1A1A"/>
                </a:solidFill>
                <a:latin typeface="Arial"/>
              </a:rPr>
              <a:t>compatible</a:t>
            </a:r>
            <a:r>
              <a:rPr sz="1400" b="0" i="0">
                <a:solidFill>
                  <a:srgbClr val="1A1A1A"/>
                </a:solidFill>
                <a:latin typeface="Arial"/>
              </a:rPr>
              <a:t>, ou </a:t>
            </a:r>
            <a:r>
              <a:rPr sz="1400" b="1" i="0">
                <a:solidFill>
                  <a:srgbClr val="1A1A1A"/>
                </a:solidFill>
                <a:latin typeface="Arial"/>
              </a:rPr>
              <a:t>signaler</a:t>
            </a:r>
            <a:r>
              <a:rPr sz="1400" b="0" i="0">
                <a:solidFill>
                  <a:srgbClr val="1A1A1A"/>
                </a:solidFill>
                <a:latin typeface="Arial"/>
              </a:rPr>
              <a:t> la non-conformité</a:t>
            </a:r>
          </a:p>
        </p:txBody>
      </p:sp>
      <p:sp>
        <p:nvSpPr>
          <p:cNvPr id="15" name="Rounded Rectangle 14"/>
          <p:cNvSpPr/>
          <p:nvPr/>
        </p:nvSpPr>
        <p:spPr>
          <a:xfrm>
            <a:off x="6400800" y="4251960"/>
            <a:ext cx="5029200" cy="141732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16" name="Oval 15"/>
          <p:cNvSpPr/>
          <p:nvPr/>
        </p:nvSpPr>
        <p:spPr>
          <a:xfrm>
            <a:off x="6547104" y="436168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7" name="TextBox 16"/>
          <p:cNvSpPr txBox="1"/>
          <p:nvPr/>
        </p:nvSpPr>
        <p:spPr>
          <a:xfrm>
            <a:off x="6949440" y="4361688"/>
            <a:ext cx="43434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18" name="TextBox 17"/>
          <p:cNvSpPr txBox="1"/>
          <p:nvPr/>
        </p:nvSpPr>
        <p:spPr>
          <a:xfrm>
            <a:off x="6583680" y="4782312"/>
            <a:ext cx="4663440" cy="79552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Table de cuisson bi / triphasé : </a:t>
            </a:r>
            <a:r>
              <a:rPr sz="1400" b="1" i="0">
                <a:solidFill>
                  <a:srgbClr val="1A1A1A"/>
                </a:solidFill>
                <a:latin typeface="Arial"/>
              </a:rPr>
              <a:t>débaguage</a:t>
            </a:r>
            <a:r>
              <a:rPr sz="1400" b="0" i="0">
                <a:solidFill>
                  <a:srgbClr val="1A1A1A"/>
                </a:solidFill>
                <a:latin typeface="Arial"/>
              </a:rPr>
              <a:t> possible avec pince + embout à sertir</a:t>
            </a:r>
          </a:p>
        </p:txBody>
      </p:sp>
      <p:sp>
        <p:nvSpPr>
          <p:cNvPr id="19" name="TextBox 18"/>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0" name="Rounded Rectangle 19"/>
          <p:cNvSpPr/>
          <p:nvPr/>
        </p:nvSpPr>
        <p:spPr>
          <a:xfrm>
            <a:off x="2148839" y="5852160"/>
            <a:ext cx="151790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Pince à dénuder</a:t>
            </a:r>
          </a:p>
        </p:txBody>
      </p:sp>
      <p:sp>
        <p:nvSpPr>
          <p:cNvPr id="21" name="Rounded Rectangle 20"/>
          <p:cNvSpPr/>
          <p:nvPr/>
        </p:nvSpPr>
        <p:spPr>
          <a:xfrm>
            <a:off x="3776471" y="585216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Pince à sertir</a:t>
            </a:r>
          </a:p>
        </p:txBody>
      </p:sp>
      <p:sp>
        <p:nvSpPr>
          <p:cNvPr id="22" name="Rounded Rectangle 21"/>
          <p:cNvSpPr/>
          <p:nvPr/>
        </p:nvSpPr>
        <p:spPr>
          <a:xfrm>
            <a:off x="5319979" y="5852160"/>
            <a:ext cx="2022652"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Embouts (à confirmer)</a:t>
            </a:r>
          </a:p>
        </p:txBody>
      </p:sp>
      <p:sp>
        <p:nvSpPr>
          <p:cNvPr id="23" name="TextBox 2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4" name="TextBox 2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Poser une fiche mâle sur le câble de l'appareil</a:t>
            </a:r>
          </a:p>
        </p:txBody>
      </p:sp>
      <p:pic>
        <p:nvPicPr>
          <p:cNvPr id="3" name="Embouts_cablag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280160" y="1371600"/>
            <a:ext cx="4572000" cy="2569464"/>
          </a:xfrm>
          <a:prstGeom prst="rect">
            <a:avLst/>
          </a:prstGeom>
        </p:spPr>
      </p:pic>
      <p:sp>
        <p:nvSpPr>
          <p:cNvPr id="4" name="TextBox 3"/>
          <p:cNvSpPr txBox="1"/>
          <p:nvPr/>
        </p:nvSpPr>
        <p:spPr>
          <a:xfrm>
            <a:off x="1280160" y="3977639"/>
            <a:ext cx="457200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Vidéo facultative : pose des embouts de câblage</a:t>
            </a:r>
          </a:p>
        </p:txBody>
      </p:sp>
      <p:pic>
        <p:nvPicPr>
          <p:cNvPr id="5" name="Picture 4" descr="Branchement_sans_embour_non_OK_.jpg"/>
          <p:cNvPicPr>
            <a:picLocks noChangeAspect="1"/>
          </p:cNvPicPr>
          <p:nvPr/>
        </p:nvPicPr>
        <p:blipFill>
          <a:blip r:embed="rId6"/>
          <a:stretch>
            <a:fillRect/>
          </a:stretch>
        </p:blipFill>
        <p:spPr>
          <a:xfrm>
            <a:off x="6080760" y="1383030"/>
            <a:ext cx="2651760" cy="1988819"/>
          </a:xfrm>
          <a:prstGeom prst="rect">
            <a:avLst/>
          </a:prstGeom>
          <a:ln w="9525">
            <a:solidFill>
              <a:srgbClr val="C8102E"/>
            </a:solidFill>
          </a:ln>
        </p:spPr>
      </p:pic>
      <p:sp>
        <p:nvSpPr>
          <p:cNvPr id="6" name="Oval 5"/>
          <p:cNvSpPr/>
          <p:nvPr/>
        </p:nvSpPr>
        <p:spPr>
          <a:xfrm>
            <a:off x="6126480" y="1417320"/>
            <a:ext cx="365760" cy="365760"/>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pic>
        <p:nvPicPr>
          <p:cNvPr id="7" name="Picture 6" descr="branchement_avec_embout_OK.jpg"/>
          <p:cNvPicPr>
            <a:picLocks noChangeAspect="1"/>
          </p:cNvPicPr>
          <p:nvPr/>
        </p:nvPicPr>
        <p:blipFill>
          <a:blip r:embed="rId7"/>
          <a:stretch>
            <a:fillRect/>
          </a:stretch>
        </p:blipFill>
        <p:spPr>
          <a:xfrm>
            <a:off x="8778240" y="1383030"/>
            <a:ext cx="2651760" cy="1988819"/>
          </a:xfrm>
          <a:prstGeom prst="rect">
            <a:avLst/>
          </a:prstGeom>
          <a:ln w="9525">
            <a:solidFill>
              <a:srgbClr val="1B7F3B"/>
            </a:solidFill>
          </a:ln>
        </p:spPr>
      </p:pic>
      <p:sp>
        <p:nvSpPr>
          <p:cNvPr id="8" name="Oval 7"/>
          <p:cNvSpPr/>
          <p:nvPr/>
        </p:nvSpPr>
        <p:spPr>
          <a:xfrm>
            <a:off x="8823960" y="1417320"/>
            <a:ext cx="365760" cy="365760"/>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600" b="1" i="0">
                <a:solidFill>
                  <a:srgbClr val="FFFFFF"/>
                </a:solidFill>
                <a:latin typeface="Arial"/>
              </a:rPr>
              <a:t>✓</a:t>
            </a:r>
          </a:p>
        </p:txBody>
      </p:sp>
      <p:sp>
        <p:nvSpPr>
          <p:cNvPr id="9" name="TextBox 8"/>
          <p:cNvSpPr txBox="1"/>
          <p:nvPr/>
        </p:nvSpPr>
        <p:spPr>
          <a:xfrm>
            <a:off x="6080760" y="3429000"/>
            <a:ext cx="265176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Sans embout : non conforme</a:t>
            </a:r>
          </a:p>
        </p:txBody>
      </p:sp>
      <p:sp>
        <p:nvSpPr>
          <p:cNvPr id="10" name="TextBox 9"/>
          <p:cNvSpPr txBox="1"/>
          <p:nvPr/>
        </p:nvSpPr>
        <p:spPr>
          <a:xfrm>
            <a:off x="8778240" y="3429000"/>
            <a:ext cx="2651760" cy="274320"/>
          </a:xfrm>
          <a:prstGeom prst="rect">
            <a:avLst/>
          </a:prstGeom>
          <a:noFill/>
        </p:spPr>
        <p:txBody>
          <a:bodyPr wrap="square" lIns="0" rIns="0" tIns="0" bIns="0" anchor="t">
            <a:spAutoFit/>
          </a:bodyPr>
          <a:lstStyle/>
          <a:p>
            <a:pPr algn="ctr">
              <a:spcBef>
                <a:spcPts val="0"/>
              </a:spcBef>
              <a:spcAft>
                <a:spcPts val="400"/>
              </a:spcAft>
            </a:pPr>
            <a:r>
              <a:rPr sz="1200" b="0" i="0">
                <a:solidFill>
                  <a:srgbClr val="5F5F5F"/>
                </a:solidFill>
                <a:latin typeface="Arial"/>
              </a:rPr>
              <a:t>Avec embout : correct</a:t>
            </a:r>
          </a:p>
        </p:txBody>
      </p:sp>
      <p:sp>
        <p:nvSpPr>
          <p:cNvPr id="11" name="Rounded Rectangle 10"/>
          <p:cNvSpPr/>
          <p:nvPr/>
        </p:nvSpPr>
        <p:spPr>
          <a:xfrm>
            <a:off x="1280160" y="4389120"/>
            <a:ext cx="6400800" cy="12801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2" name="Oval 11"/>
          <p:cNvSpPr/>
          <p:nvPr/>
        </p:nvSpPr>
        <p:spPr>
          <a:xfrm>
            <a:off x="1426463" y="449884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1828800" y="4498848"/>
            <a:ext cx="57150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AUTORISÉ</a:t>
            </a:r>
          </a:p>
        </p:txBody>
      </p:sp>
      <p:sp>
        <p:nvSpPr>
          <p:cNvPr id="14" name="TextBox 13"/>
          <p:cNvSpPr txBox="1"/>
          <p:nvPr/>
        </p:nvSpPr>
        <p:spPr>
          <a:xfrm>
            <a:off x="1463039" y="4919472"/>
            <a:ext cx="6035040" cy="658367"/>
          </a:xfrm>
          <a:prstGeom prst="rect">
            <a:avLst/>
          </a:prstGeom>
          <a:noFill/>
        </p:spPr>
        <p:txBody>
          <a:bodyPr wrap="square" lIns="0" rIns="0" tIns="0" bIns="0" anchor="t">
            <a:spAutoFit/>
          </a:bodyPr>
          <a:lstStyle/>
          <a:p>
            <a:pPr algn="l">
              <a:spcBef>
                <a:spcPts val="0"/>
              </a:spcBef>
              <a:spcAft>
                <a:spcPts val="400"/>
              </a:spcAft>
            </a:pPr>
            <a:r>
              <a:rPr sz="1400" b="1" i="0">
                <a:solidFill>
                  <a:srgbClr val="1A1A1A"/>
                </a:solidFill>
                <a:latin typeface="Arial"/>
              </a:rPr>
              <a:t>Dénuder</a:t>
            </a:r>
            <a:r>
              <a:rPr sz="1400" b="0" i="0">
                <a:solidFill>
                  <a:srgbClr val="1A1A1A"/>
                </a:solidFill>
                <a:latin typeface="Arial"/>
              </a:rPr>
              <a:t> sans abîmer ni couper de brins · </a:t>
            </a:r>
            <a:r>
              <a:rPr sz="1400" b="1" i="0">
                <a:solidFill>
                  <a:srgbClr val="1A1A1A"/>
                </a:solidFill>
                <a:latin typeface="Arial"/>
              </a:rPr>
              <a:t>embout</a:t>
            </a:r>
            <a:r>
              <a:rPr sz="1400" b="0" i="0">
                <a:solidFill>
                  <a:srgbClr val="1A1A1A"/>
                </a:solidFill>
                <a:latin typeface="Arial"/>
              </a:rPr>
              <a:t> adapté à la section · </a:t>
            </a:r>
            <a:r>
              <a:rPr sz="1400" b="1" i="0">
                <a:solidFill>
                  <a:srgbClr val="1A1A1A"/>
                </a:solidFill>
                <a:latin typeface="Arial"/>
              </a:rPr>
              <a:t>sertir</a:t>
            </a:r>
            <a:r>
              <a:rPr sz="1400" b="0" i="0">
                <a:solidFill>
                  <a:srgbClr val="1A1A1A"/>
                </a:solidFill>
                <a:latin typeface="Arial"/>
              </a:rPr>
              <a:t> avec la pince appropriée</a:t>
            </a:r>
          </a:p>
        </p:txBody>
      </p:sp>
      <p:sp>
        <p:nvSpPr>
          <p:cNvPr id="15" name="Rounded Rectangle 14"/>
          <p:cNvSpPr/>
          <p:nvPr/>
        </p:nvSpPr>
        <p:spPr>
          <a:xfrm>
            <a:off x="7863840" y="3794760"/>
            <a:ext cx="3566160" cy="1874519"/>
          </a:xfrm>
          <a:prstGeom prst="roundRect">
            <a:avLst>
              <a:gd name="adj" fmla="val 6000"/>
            </a:avLst>
          </a:prstGeom>
          <a:solidFill>
            <a:srgbClr val="FFF3D1"/>
          </a:solidFill>
          <a:ln w="19050">
            <a:solidFill>
              <a:srgbClr val="D99100"/>
            </a:solidFill>
          </a:ln>
        </p:spPr>
        <p:txBody>
          <a:bodyPr rtlCol="0" anchor="ctr"/>
          <a:lstStyle/>
          <a:p>
            <a:pPr algn="ctr"/>
          </a:p>
        </p:txBody>
      </p:sp>
      <p:sp>
        <p:nvSpPr>
          <p:cNvPr id="16" name="Oval 15"/>
          <p:cNvSpPr/>
          <p:nvPr/>
        </p:nvSpPr>
        <p:spPr>
          <a:xfrm>
            <a:off x="8010144" y="390448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7" name="TextBox 16"/>
          <p:cNvSpPr txBox="1"/>
          <p:nvPr/>
        </p:nvSpPr>
        <p:spPr>
          <a:xfrm>
            <a:off x="8412480" y="3904488"/>
            <a:ext cx="28803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18" name="TextBox 17"/>
          <p:cNvSpPr txBox="1"/>
          <p:nvPr/>
        </p:nvSpPr>
        <p:spPr>
          <a:xfrm>
            <a:off x="8046719" y="4325112"/>
            <a:ext cx="3200400" cy="1252727"/>
          </a:xfrm>
          <a:prstGeom prst="rect">
            <a:avLst/>
          </a:prstGeom>
          <a:noFill/>
        </p:spPr>
        <p:txBody>
          <a:bodyPr wrap="square" lIns="0" rIns="0" tIns="0" bIns="0" anchor="t">
            <a:spAutoFit/>
          </a:bodyPr>
          <a:lstStyle/>
          <a:p>
            <a:pPr algn="l" marL="228600" indent="-228600">
              <a:spcBef>
                <a:spcPts val="0"/>
              </a:spcBef>
              <a:spcAft>
                <a:spcPts val="300"/>
              </a:spcAft>
              <a:buClr>
                <a:srgbClr val="D99100"/>
              </a:buClr>
              <a:buFont typeface="Arial"/>
              <a:buChar char="•"/>
            </a:pPr>
            <a:r>
              <a:rPr sz="1400" b="1" i="0">
                <a:solidFill>
                  <a:srgbClr val="1A1A1A"/>
                </a:solidFill>
                <a:latin typeface="Arial"/>
              </a:rPr>
              <a:t>Sous réserve</a:t>
            </a:r>
            <a:r>
              <a:rPr sz="1400" b="0" i="0">
                <a:solidFill>
                  <a:srgbClr val="1A1A1A"/>
                </a:solidFill>
                <a:latin typeface="Arial"/>
              </a:rPr>
              <a:t> de la consigne de l'entreprise</a:t>
            </a:r>
          </a:p>
          <a:p>
            <a:pPr algn="l" marL="228600" indent="-228600">
              <a:spcBef>
                <a:spcPts val="0"/>
              </a:spcBef>
              <a:spcAft>
                <a:spcPts val="300"/>
              </a:spcAft>
              <a:buClr>
                <a:srgbClr val="D99100"/>
              </a:buClr>
              <a:buFont typeface="Arial"/>
              <a:buChar char="•"/>
            </a:pPr>
            <a:r>
              <a:rPr sz="1400" b="0" i="0">
                <a:solidFill>
                  <a:srgbClr val="1A1A1A"/>
                </a:solidFill>
                <a:latin typeface="Arial"/>
              </a:rPr>
              <a:t>Doute : je ne modifie pas l'appareil</a:t>
            </a:r>
          </a:p>
        </p:txBody>
      </p:sp>
      <p:sp>
        <p:nvSpPr>
          <p:cNvPr id="19" name="TextBox 18"/>
          <p:cNvSpPr txBox="1"/>
          <p:nvPr/>
        </p:nvSpPr>
        <p:spPr>
          <a:xfrm>
            <a:off x="1280160" y="589788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0" name="Rounded Rectangle 19"/>
          <p:cNvSpPr/>
          <p:nvPr/>
        </p:nvSpPr>
        <p:spPr>
          <a:xfrm>
            <a:off x="2148839" y="5897880"/>
            <a:ext cx="151790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Pince à dénuder</a:t>
            </a:r>
          </a:p>
        </p:txBody>
      </p:sp>
      <p:sp>
        <p:nvSpPr>
          <p:cNvPr id="21" name="Rounded Rectangle 20"/>
          <p:cNvSpPr/>
          <p:nvPr/>
        </p:nvSpPr>
        <p:spPr>
          <a:xfrm>
            <a:off x="3776471" y="589788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Pince à sertir</a:t>
            </a:r>
          </a:p>
        </p:txBody>
      </p:sp>
      <p:sp>
        <p:nvSpPr>
          <p:cNvPr id="22" name="Rounded Rectangle 21"/>
          <p:cNvSpPr/>
          <p:nvPr/>
        </p:nvSpPr>
        <p:spPr>
          <a:xfrm>
            <a:off x="5319979" y="5897880"/>
            <a:ext cx="844905"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Embouts</a:t>
            </a:r>
          </a:p>
        </p:txBody>
      </p:sp>
      <p:sp>
        <p:nvSpPr>
          <p:cNvPr id="23" name="TextBox 2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24" name="TextBox 2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26 / 54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Je ne peux pas raccorder : la conduite à tenir</a:t>
            </a:r>
          </a:p>
        </p:txBody>
      </p:sp>
      <p:sp>
        <p:nvSpPr>
          <p:cNvPr id="3" name="Rounded Rectangle 2"/>
          <p:cNvSpPr/>
          <p:nvPr/>
        </p:nvSpPr>
        <p:spPr>
          <a:xfrm>
            <a:off x="1280160" y="1463040"/>
            <a:ext cx="1667865" cy="237744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4" name="Oval 3"/>
          <p:cNvSpPr/>
          <p:nvPr/>
        </p:nvSpPr>
        <p:spPr>
          <a:xfrm>
            <a:off x="1389888" y="157276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1</a:t>
            </a:r>
          </a:p>
        </p:txBody>
      </p:sp>
      <p:sp>
        <p:nvSpPr>
          <p:cNvPr id="5" name="TextBox 4"/>
          <p:cNvSpPr txBox="1"/>
          <p:nvPr/>
        </p:nvSpPr>
        <p:spPr>
          <a:xfrm>
            <a:off x="1408176" y="2048256"/>
            <a:ext cx="1411833" cy="173736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Je m'arrête</a:t>
            </a:r>
          </a:p>
          <a:p>
            <a:pPr algn="l">
              <a:spcBef>
                <a:spcPts val="0"/>
              </a:spcBef>
              <a:spcAft>
                <a:spcPts val="400"/>
              </a:spcAft>
            </a:pPr>
            <a:r>
              <a:rPr sz="1300" b="0" i="0">
                <a:solidFill>
                  <a:srgbClr val="1A1A1A"/>
                </a:solidFill>
                <a:latin typeface="Arial"/>
              </a:rPr>
              <a:t>Aucune adaptation improvisée</a:t>
            </a:r>
          </a:p>
        </p:txBody>
      </p:sp>
      <p:sp>
        <p:nvSpPr>
          <p:cNvPr id="6" name="Right Arrow 5"/>
          <p:cNvSpPr/>
          <p:nvPr/>
        </p:nvSpPr>
        <p:spPr>
          <a:xfrm>
            <a:off x="2984601" y="2532888"/>
            <a:ext cx="219456" cy="237744"/>
          </a:xfrm>
          <a:prstGeom prst="rightArrow">
            <a:avLst/>
          </a:prstGeom>
          <a:solidFill>
            <a:srgbClr val="5F5F5F"/>
          </a:solidFill>
          <a:ln>
            <a:noFill/>
          </a:ln>
        </p:spPr>
        <p:txBody>
          <a:bodyPr rtlCol="0" anchor="ctr"/>
          <a:lstStyle/>
          <a:p>
            <a:pPr algn="ctr"/>
          </a:p>
        </p:txBody>
      </p:sp>
      <p:sp>
        <p:nvSpPr>
          <p:cNvPr id="7" name="Rounded Rectangle 6"/>
          <p:cNvSpPr/>
          <p:nvPr/>
        </p:nvSpPr>
        <p:spPr>
          <a:xfrm>
            <a:off x="3240633" y="1463040"/>
            <a:ext cx="1667865" cy="237744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8" name="Oval 7"/>
          <p:cNvSpPr/>
          <p:nvPr/>
        </p:nvSpPr>
        <p:spPr>
          <a:xfrm>
            <a:off x="3350361" y="157276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2</a:t>
            </a:r>
          </a:p>
        </p:txBody>
      </p:sp>
      <p:sp>
        <p:nvSpPr>
          <p:cNvPr id="9" name="TextBox 8"/>
          <p:cNvSpPr txBox="1"/>
          <p:nvPr/>
        </p:nvSpPr>
        <p:spPr>
          <a:xfrm>
            <a:off x="3368649" y="2048256"/>
            <a:ext cx="1411833" cy="173736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J'informe le client</a:t>
            </a:r>
          </a:p>
          <a:p>
            <a:pPr algn="l">
              <a:spcBef>
                <a:spcPts val="0"/>
              </a:spcBef>
              <a:spcAft>
                <a:spcPts val="400"/>
              </a:spcAft>
            </a:pPr>
            <a:r>
              <a:rPr sz="1300" b="0" i="0">
                <a:solidFill>
                  <a:srgbClr val="1A1A1A"/>
                </a:solidFill>
                <a:latin typeface="Arial"/>
              </a:rPr>
              <a:t>Il fait appel à un électricien</a:t>
            </a:r>
          </a:p>
        </p:txBody>
      </p:sp>
      <p:sp>
        <p:nvSpPr>
          <p:cNvPr id="10" name="Right Arrow 9"/>
          <p:cNvSpPr/>
          <p:nvPr/>
        </p:nvSpPr>
        <p:spPr>
          <a:xfrm>
            <a:off x="4945075" y="2532888"/>
            <a:ext cx="219456" cy="237744"/>
          </a:xfrm>
          <a:prstGeom prst="rightArrow">
            <a:avLst/>
          </a:prstGeom>
          <a:solidFill>
            <a:srgbClr val="5F5F5F"/>
          </a:solidFill>
          <a:ln>
            <a:noFill/>
          </a:ln>
        </p:spPr>
        <p:txBody>
          <a:bodyPr rtlCol="0" anchor="ctr"/>
          <a:lstStyle/>
          <a:p>
            <a:pPr algn="ctr"/>
          </a:p>
        </p:txBody>
      </p:sp>
      <p:sp>
        <p:nvSpPr>
          <p:cNvPr id="11" name="Rounded Rectangle 10"/>
          <p:cNvSpPr/>
          <p:nvPr/>
        </p:nvSpPr>
        <p:spPr>
          <a:xfrm>
            <a:off x="5201107" y="1463040"/>
            <a:ext cx="1667865" cy="237744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12" name="Oval 11"/>
          <p:cNvSpPr/>
          <p:nvPr/>
        </p:nvSpPr>
        <p:spPr>
          <a:xfrm>
            <a:off x="5310835" y="157276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3</a:t>
            </a:r>
          </a:p>
        </p:txBody>
      </p:sp>
      <p:sp>
        <p:nvSpPr>
          <p:cNvPr id="13" name="TextBox 12"/>
          <p:cNvSpPr txBox="1"/>
          <p:nvPr/>
        </p:nvSpPr>
        <p:spPr>
          <a:xfrm>
            <a:off x="5329123" y="2048256"/>
            <a:ext cx="1411833" cy="173736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Je photographie</a:t>
            </a:r>
          </a:p>
          <a:p>
            <a:pPr algn="l">
              <a:spcBef>
                <a:spcPts val="0"/>
              </a:spcBef>
              <a:spcAft>
                <a:spcPts val="400"/>
              </a:spcAft>
            </a:pPr>
            <a:r>
              <a:rPr sz="1300" b="0" i="0">
                <a:solidFill>
                  <a:srgbClr val="1A1A1A"/>
                </a:solidFill>
                <a:latin typeface="Arial"/>
              </a:rPr>
              <a:t>L'anomalie constatée</a:t>
            </a:r>
          </a:p>
        </p:txBody>
      </p:sp>
      <p:sp>
        <p:nvSpPr>
          <p:cNvPr id="14" name="Right Arrow 13"/>
          <p:cNvSpPr/>
          <p:nvPr/>
        </p:nvSpPr>
        <p:spPr>
          <a:xfrm>
            <a:off x="6905548" y="2532888"/>
            <a:ext cx="219456" cy="237744"/>
          </a:xfrm>
          <a:prstGeom prst="rightArrow">
            <a:avLst/>
          </a:prstGeom>
          <a:solidFill>
            <a:srgbClr val="5F5F5F"/>
          </a:solidFill>
          <a:ln>
            <a:noFill/>
          </a:ln>
        </p:spPr>
        <p:txBody>
          <a:bodyPr rtlCol="0" anchor="ctr"/>
          <a:lstStyle/>
          <a:p>
            <a:pPr algn="ctr"/>
          </a:p>
        </p:txBody>
      </p:sp>
      <p:sp>
        <p:nvSpPr>
          <p:cNvPr id="15" name="Rounded Rectangle 14"/>
          <p:cNvSpPr/>
          <p:nvPr/>
        </p:nvSpPr>
        <p:spPr>
          <a:xfrm>
            <a:off x="7161580" y="1463040"/>
            <a:ext cx="1667865" cy="237744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16" name="Oval 15"/>
          <p:cNvSpPr/>
          <p:nvPr/>
        </p:nvSpPr>
        <p:spPr>
          <a:xfrm>
            <a:off x="7271308" y="157276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4</a:t>
            </a:r>
          </a:p>
        </p:txBody>
      </p:sp>
      <p:sp>
        <p:nvSpPr>
          <p:cNvPr id="17" name="TextBox 16"/>
          <p:cNvSpPr txBox="1"/>
          <p:nvPr/>
        </p:nvSpPr>
        <p:spPr>
          <a:xfrm>
            <a:off x="7289596" y="2048256"/>
            <a:ext cx="1411833" cy="173736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Appareil débranché</a:t>
            </a:r>
          </a:p>
          <a:p>
            <a:pPr algn="l">
              <a:spcBef>
                <a:spcPts val="0"/>
              </a:spcBef>
              <a:spcAft>
                <a:spcPts val="400"/>
              </a:spcAft>
            </a:pPr>
            <a:r>
              <a:rPr sz="1300" b="0" i="0">
                <a:solidFill>
                  <a:srgbClr val="1A1A1A"/>
                </a:solidFill>
                <a:latin typeface="Arial"/>
              </a:rPr>
              <a:t>Laissé en sécurité</a:t>
            </a:r>
          </a:p>
        </p:txBody>
      </p:sp>
      <p:sp>
        <p:nvSpPr>
          <p:cNvPr id="18" name="Right Arrow 17"/>
          <p:cNvSpPr/>
          <p:nvPr/>
        </p:nvSpPr>
        <p:spPr>
          <a:xfrm>
            <a:off x="8866022" y="2532888"/>
            <a:ext cx="219456" cy="237744"/>
          </a:xfrm>
          <a:prstGeom prst="rightArrow">
            <a:avLst/>
          </a:prstGeom>
          <a:solidFill>
            <a:srgbClr val="5F5F5F"/>
          </a:solidFill>
          <a:ln>
            <a:noFill/>
          </a:ln>
        </p:spPr>
        <p:txBody>
          <a:bodyPr rtlCol="0" anchor="ctr"/>
          <a:lstStyle/>
          <a:p>
            <a:pPr algn="ctr"/>
          </a:p>
        </p:txBody>
      </p:sp>
      <p:sp>
        <p:nvSpPr>
          <p:cNvPr id="19" name="Rounded Rectangle 18"/>
          <p:cNvSpPr/>
          <p:nvPr/>
        </p:nvSpPr>
        <p:spPr>
          <a:xfrm>
            <a:off x="9122054" y="1463040"/>
            <a:ext cx="1667865" cy="2377440"/>
          </a:xfrm>
          <a:prstGeom prst="roundRect">
            <a:avLst>
              <a:gd name="adj" fmla="val 5000"/>
            </a:avLst>
          </a:prstGeom>
          <a:solidFill>
            <a:srgbClr val="F3F3F3"/>
          </a:solidFill>
          <a:ln w="12700">
            <a:solidFill>
              <a:srgbClr val="BDBDBD"/>
            </a:solidFill>
          </a:ln>
        </p:spPr>
        <p:txBody>
          <a:bodyPr rtlCol="0" anchor="ctr"/>
          <a:lstStyle/>
          <a:p>
            <a:pPr algn="ctr"/>
          </a:p>
        </p:txBody>
      </p:sp>
      <p:sp>
        <p:nvSpPr>
          <p:cNvPr id="20" name="Oval 19"/>
          <p:cNvSpPr/>
          <p:nvPr/>
        </p:nvSpPr>
        <p:spPr>
          <a:xfrm>
            <a:off x="9231782" y="1572768"/>
            <a:ext cx="384048" cy="384048"/>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500" b="1" i="0">
                <a:solidFill>
                  <a:srgbClr val="FFFFFF"/>
                </a:solidFill>
                <a:latin typeface="Arial"/>
              </a:rPr>
              <a:t>5</a:t>
            </a:r>
          </a:p>
        </p:txBody>
      </p:sp>
      <p:sp>
        <p:nvSpPr>
          <p:cNvPr id="21" name="TextBox 20"/>
          <p:cNvSpPr txBox="1"/>
          <p:nvPr/>
        </p:nvSpPr>
        <p:spPr>
          <a:xfrm>
            <a:off x="9250070" y="2048256"/>
            <a:ext cx="1411833" cy="1737360"/>
          </a:xfrm>
          <a:prstGeom prst="rect">
            <a:avLst/>
          </a:prstGeom>
          <a:noFill/>
        </p:spPr>
        <p:txBody>
          <a:bodyPr wrap="square" lIns="0" rIns="0" tIns="0" bIns="0" anchor="t">
            <a:spAutoFit/>
          </a:bodyPr>
          <a:lstStyle/>
          <a:p>
            <a:pPr algn="l">
              <a:spcBef>
                <a:spcPts val="0"/>
              </a:spcBef>
              <a:spcAft>
                <a:spcPts val="300"/>
              </a:spcAft>
            </a:pPr>
            <a:r>
              <a:rPr sz="1500" b="1" i="0">
                <a:solidFill>
                  <a:srgbClr val="1A1A1A"/>
                </a:solidFill>
                <a:latin typeface="Arial"/>
              </a:rPr>
              <a:t>Je notifie dans le dossier Nomad</a:t>
            </a:r>
          </a:p>
          <a:p>
            <a:pPr algn="l">
              <a:spcBef>
                <a:spcPts val="0"/>
              </a:spcBef>
              <a:spcAft>
                <a:spcPts val="400"/>
              </a:spcAft>
            </a:pPr>
            <a:r>
              <a:rPr sz="1300" b="0" i="0">
                <a:solidFill>
                  <a:srgbClr val="1A1A1A"/>
                </a:solidFill>
                <a:latin typeface="Arial"/>
              </a:rPr>
              <a:t>Branchement non effectué</a:t>
            </a:r>
          </a:p>
        </p:txBody>
      </p:sp>
      <p:sp>
        <p:nvSpPr>
          <p:cNvPr id="22" name="Rounded Rectangle 21"/>
          <p:cNvSpPr/>
          <p:nvPr/>
        </p:nvSpPr>
        <p:spPr>
          <a:xfrm>
            <a:off x="1280160" y="4114800"/>
            <a:ext cx="9509760" cy="137160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23" name="Oval 22"/>
          <p:cNvSpPr/>
          <p:nvPr/>
        </p:nvSpPr>
        <p:spPr>
          <a:xfrm>
            <a:off x="1426463" y="422452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24" name="TextBox 23"/>
          <p:cNvSpPr txBox="1"/>
          <p:nvPr/>
        </p:nvSpPr>
        <p:spPr>
          <a:xfrm>
            <a:off x="1828800" y="422452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POINT DE VIGILANCE</a:t>
            </a:r>
          </a:p>
        </p:txBody>
      </p:sp>
      <p:sp>
        <p:nvSpPr>
          <p:cNvPr id="25" name="TextBox 24"/>
          <p:cNvSpPr txBox="1"/>
          <p:nvPr/>
        </p:nvSpPr>
        <p:spPr>
          <a:xfrm>
            <a:off x="1463039" y="4645152"/>
            <a:ext cx="9144000" cy="749808"/>
          </a:xfrm>
          <a:prstGeom prst="rect">
            <a:avLst/>
          </a:prstGeom>
          <a:noFill/>
        </p:spPr>
        <p:txBody>
          <a:bodyPr wrap="square" lIns="0" rIns="0" tIns="0" bIns="0" anchor="t">
            <a:spAutoFit/>
          </a:bodyPr>
          <a:lstStyle/>
          <a:p>
            <a:pPr algn="l">
              <a:spcBef>
                <a:spcPts val="0"/>
              </a:spcBef>
              <a:spcAft>
                <a:spcPts val="400"/>
              </a:spcAft>
            </a:pPr>
            <a:r>
              <a:rPr sz="1400" b="1" i="0">
                <a:solidFill>
                  <a:srgbClr val="1A1A1A"/>
                </a:solidFill>
                <a:latin typeface="Arial"/>
              </a:rPr>
              <a:t>Cas déclencheurs :</a:t>
            </a:r>
            <a:r>
              <a:rPr sz="1400" b="0" i="0">
                <a:solidFill>
                  <a:srgbClr val="1A1A1A"/>
                </a:solidFill>
                <a:latin typeface="Arial"/>
              </a:rPr>
              <a:t> pas de terre · mauvaise terre · neutre coupé · pot ou placo abîmé · protection inadaptée · incompatibilité mono / tri · bagues non compatibles</a:t>
            </a:r>
          </a:p>
        </p:txBody>
      </p:sp>
      <p:sp>
        <p:nvSpPr>
          <p:cNvPr id="26" name="TextBox 25"/>
          <p:cNvSpPr txBox="1"/>
          <p:nvPr/>
        </p:nvSpPr>
        <p:spPr>
          <a:xfrm>
            <a:off x="1280160" y="58521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27" name="Rounded Rectangle 26"/>
          <p:cNvSpPr/>
          <p:nvPr/>
        </p:nvSpPr>
        <p:spPr>
          <a:xfrm>
            <a:off x="2148839" y="585216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Appareil photo</a:t>
            </a:r>
          </a:p>
        </p:txBody>
      </p:sp>
      <p:sp>
        <p:nvSpPr>
          <p:cNvPr id="28" name="Rounded Rectangle 27"/>
          <p:cNvSpPr/>
          <p:nvPr/>
        </p:nvSpPr>
        <p:spPr>
          <a:xfrm>
            <a:off x="3692347" y="5852160"/>
            <a:ext cx="134965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Dossier Nomad</a:t>
            </a:r>
          </a:p>
        </p:txBody>
      </p:sp>
      <p:sp>
        <p:nvSpPr>
          <p:cNvPr id="29" name="TextBox 2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30" name="TextBox 2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27 /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Notifier dans le dossier Nomad : appareil laissé débranché</a:t>
            </a:r>
          </a:p>
        </p:txBody>
      </p:sp>
      <p:sp>
        <p:nvSpPr>
          <p:cNvPr id="3" name="Rounded Rectangle 2"/>
          <p:cNvSpPr/>
          <p:nvPr/>
        </p:nvSpPr>
        <p:spPr>
          <a:xfrm>
            <a:off x="1280160" y="1371600"/>
            <a:ext cx="5394960" cy="3749039"/>
          </a:xfrm>
          <a:prstGeom prst="roundRect">
            <a:avLst>
              <a:gd name="adj" fmla="val 3000"/>
            </a:avLst>
          </a:prstGeom>
          <a:solidFill>
            <a:srgbClr val="F8F8F8"/>
          </a:solidFill>
          <a:ln w="19050">
            <a:solidFill>
              <a:srgbClr val="8C8C8C"/>
            </a:solidFill>
            <a:prstDash val="dash"/>
          </a:ln>
        </p:spPr>
        <p:txBody>
          <a:bodyPr rtlCol="0" anchor="ctr" lIns="73152" rIns="73152" tIns="43891" bIns="43891" wrap="square"/>
          <a:lstStyle/>
          <a:p>
            <a:pPr algn="ctr">
              <a:spcBef>
                <a:spcPts val="0"/>
              </a:spcBef>
              <a:spcAft>
                <a:spcPts val="200"/>
              </a:spcAft>
            </a:pPr>
            <a:r>
              <a:rPr sz="1600" b="1" i="0">
                <a:solidFill>
                  <a:srgbClr val="5F5F5F"/>
                </a:solidFill>
                <a:latin typeface="Arial"/>
              </a:rPr>
              <a:t>[ Capture d'écran du dossier Nomad ]</a:t>
            </a:r>
          </a:p>
          <a:p>
            <a:pPr algn="ctr">
              <a:spcBef>
                <a:spcPts val="0"/>
              </a:spcBef>
              <a:spcAft>
                <a:spcPts val="200"/>
              </a:spcAft>
            </a:pPr>
            <a:r>
              <a:rPr sz="1400" b="0" i="0">
                <a:solidFill>
                  <a:srgbClr val="5F5F5F"/>
                </a:solidFill>
                <a:latin typeface="Arial"/>
              </a:rPr>
              <a:t>à fournir par le référent Nomad</a:t>
            </a:r>
          </a:p>
        </p:txBody>
      </p:sp>
      <p:sp>
        <p:nvSpPr>
          <p:cNvPr id="4" name="Rounded Rectangle 3"/>
          <p:cNvSpPr/>
          <p:nvPr/>
        </p:nvSpPr>
        <p:spPr>
          <a:xfrm>
            <a:off x="6949440" y="1371600"/>
            <a:ext cx="4480560" cy="3749039"/>
          </a:xfrm>
          <a:prstGeom prst="roundRect">
            <a:avLst>
              <a:gd name="adj" fmla="val 6000"/>
            </a:avLst>
          </a:prstGeom>
          <a:solidFill>
            <a:srgbClr val="E7F4EA"/>
          </a:solidFill>
          <a:ln w="19050">
            <a:solidFill>
              <a:srgbClr val="1B7F3B"/>
            </a:solidFill>
          </a:ln>
        </p:spPr>
        <p:txBody>
          <a:bodyPr rtlCol="0" anchor="ctr"/>
          <a:lstStyle/>
          <a:p>
            <a:pPr algn="ctr"/>
          </a:p>
        </p:txBody>
      </p:sp>
      <p:sp>
        <p:nvSpPr>
          <p:cNvPr id="5" name="Oval 4"/>
          <p:cNvSpPr/>
          <p:nvPr/>
        </p:nvSpPr>
        <p:spPr>
          <a:xfrm>
            <a:off x="7095744"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6" name="TextBox 5"/>
          <p:cNvSpPr txBox="1"/>
          <p:nvPr/>
        </p:nvSpPr>
        <p:spPr>
          <a:xfrm>
            <a:off x="7498079" y="1481328"/>
            <a:ext cx="3794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CE QUE JE RENSEIGNE</a:t>
            </a:r>
          </a:p>
        </p:txBody>
      </p:sp>
      <p:sp>
        <p:nvSpPr>
          <p:cNvPr id="7" name="TextBox 6"/>
          <p:cNvSpPr txBox="1"/>
          <p:nvPr/>
        </p:nvSpPr>
        <p:spPr>
          <a:xfrm>
            <a:off x="7132320" y="1901952"/>
            <a:ext cx="4114800" cy="3127247"/>
          </a:xfrm>
          <a:prstGeom prst="rect">
            <a:avLst/>
          </a:prstGeom>
          <a:noFill/>
        </p:spPr>
        <p:txBody>
          <a:bodyPr wrap="square" lIns="0" rIns="0" tIns="0" bIns="0" anchor="t">
            <a:spAutoFit/>
          </a:bodyPr>
          <a:lstStyle/>
          <a:p>
            <a:pPr algn="l" marL="228600" indent="-228600">
              <a:spcBef>
                <a:spcPts val="0"/>
              </a:spcBef>
              <a:spcAft>
                <a:spcPts val="1200"/>
              </a:spcAft>
              <a:buClr>
                <a:srgbClr val="1B7F3B"/>
              </a:buClr>
              <a:buFont typeface="Arial"/>
              <a:buChar char="•"/>
            </a:pPr>
            <a:r>
              <a:rPr sz="1700" b="1" i="0">
                <a:solidFill>
                  <a:srgbClr val="1A1A1A"/>
                </a:solidFill>
                <a:latin typeface="Arial"/>
              </a:rPr>
              <a:t>Branchement non effectué</a:t>
            </a:r>
            <a:r>
              <a:rPr sz="1700" b="0" i="0">
                <a:solidFill>
                  <a:srgbClr val="1A1A1A"/>
                </a:solidFill>
                <a:latin typeface="Arial"/>
              </a:rPr>
              <a:t> mentionné au dossier</a:t>
            </a:r>
          </a:p>
          <a:p>
            <a:pPr algn="l" marL="228600" indent="-228600">
              <a:spcBef>
                <a:spcPts val="0"/>
              </a:spcBef>
              <a:spcAft>
                <a:spcPts val="1200"/>
              </a:spcAft>
              <a:buClr>
                <a:srgbClr val="1B7F3B"/>
              </a:buClr>
              <a:buFont typeface="Arial"/>
              <a:buChar char="•"/>
            </a:pPr>
            <a:r>
              <a:rPr sz="1700" b="0" i="0">
                <a:solidFill>
                  <a:srgbClr val="1A1A1A"/>
                </a:solidFill>
                <a:latin typeface="Arial"/>
              </a:rPr>
              <a:t>Mention : </a:t>
            </a:r>
            <a:r>
              <a:rPr sz="1700" b="1" i="0">
                <a:solidFill>
                  <a:srgbClr val="1A1A1A"/>
                </a:solidFill>
                <a:latin typeface="Arial"/>
              </a:rPr>
              <a:t>appareil laissé débranché</a:t>
            </a:r>
          </a:p>
          <a:p>
            <a:pPr algn="l" marL="228600" indent="-228600">
              <a:spcBef>
                <a:spcPts val="0"/>
              </a:spcBef>
              <a:spcAft>
                <a:spcPts val="1200"/>
              </a:spcAft>
              <a:buClr>
                <a:srgbClr val="1B7F3B"/>
              </a:buClr>
              <a:buFont typeface="Arial"/>
              <a:buChar char="•"/>
            </a:pPr>
            <a:r>
              <a:rPr sz="1700" b="1" i="0">
                <a:solidFill>
                  <a:srgbClr val="1A1A1A"/>
                </a:solidFill>
                <a:latin typeface="Arial"/>
              </a:rPr>
              <a:t>Photographie</a:t>
            </a:r>
            <a:r>
              <a:rPr sz="1700" b="0" i="0">
                <a:solidFill>
                  <a:srgbClr val="1A1A1A"/>
                </a:solidFill>
                <a:latin typeface="Arial"/>
              </a:rPr>
              <a:t> de l'anomalie jointe</a:t>
            </a:r>
          </a:p>
          <a:p>
            <a:pPr algn="l" marL="228600" indent="-228600">
              <a:spcBef>
                <a:spcPts val="0"/>
              </a:spcBef>
              <a:spcAft>
                <a:spcPts val="1200"/>
              </a:spcAft>
              <a:buClr>
                <a:srgbClr val="1B7F3B"/>
              </a:buClr>
              <a:buFont typeface="Arial"/>
              <a:buChar char="•"/>
            </a:pPr>
            <a:r>
              <a:rPr sz="1700" b="1" i="0">
                <a:solidFill>
                  <a:srgbClr val="1A1A1A"/>
                </a:solidFill>
                <a:latin typeface="Arial"/>
              </a:rPr>
              <a:t>Compte rendu</a:t>
            </a:r>
            <a:r>
              <a:rPr sz="1700" b="0" i="0">
                <a:solidFill>
                  <a:srgbClr val="1A1A1A"/>
                </a:solidFill>
                <a:latin typeface="Arial"/>
              </a:rPr>
              <a:t> d'intervention</a:t>
            </a:r>
          </a:p>
        </p:txBody>
      </p:sp>
      <p:sp>
        <p:nvSpPr>
          <p:cNvPr id="8" name="Rounded Rectangle 7"/>
          <p:cNvSpPr/>
          <p:nvPr/>
        </p:nvSpPr>
        <p:spPr>
          <a:xfrm>
            <a:off x="1280160" y="534924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600" b="1" i="0">
                <a:solidFill>
                  <a:srgbClr val="FFFFFF"/>
                </a:solidFill>
                <a:latin typeface="Arial"/>
              </a:rPr>
              <a:t>Pas de notification, pas de preuve : je renseigne toujours Nomad.</a:t>
            </a:r>
          </a:p>
        </p:txBody>
      </p:sp>
      <p:sp>
        <p:nvSpPr>
          <p:cNvPr id="9" name="TextBox 8"/>
          <p:cNvSpPr txBox="1"/>
          <p:nvPr/>
        </p:nvSpPr>
        <p:spPr>
          <a:xfrm>
            <a:off x="1280160" y="6080760"/>
            <a:ext cx="86868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Outils :</a:t>
            </a:r>
          </a:p>
        </p:txBody>
      </p:sp>
      <p:sp>
        <p:nvSpPr>
          <p:cNvPr id="10" name="Rounded Rectangle 9"/>
          <p:cNvSpPr/>
          <p:nvPr/>
        </p:nvSpPr>
        <p:spPr>
          <a:xfrm>
            <a:off x="2148839" y="6080760"/>
            <a:ext cx="1349654"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Dossier Nomad</a:t>
            </a:r>
          </a:p>
        </p:txBody>
      </p:sp>
      <p:sp>
        <p:nvSpPr>
          <p:cNvPr id="11" name="Rounded Rectangle 10"/>
          <p:cNvSpPr/>
          <p:nvPr/>
        </p:nvSpPr>
        <p:spPr>
          <a:xfrm>
            <a:off x="3608222" y="6080760"/>
            <a:ext cx="1433779" cy="310896"/>
          </a:xfrm>
          <a:prstGeom prst="roundRect">
            <a:avLst>
              <a:gd name="adj" fmla="val 50000"/>
            </a:avLst>
          </a:prstGeom>
          <a:solidFill>
            <a:srgbClr val="FFFFFF"/>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0E2841"/>
                </a:solidFill>
                <a:latin typeface="Arial"/>
              </a:rPr>
              <a:t>Appareil photo</a:t>
            </a:r>
          </a:p>
        </p:txBody>
      </p:sp>
      <p:sp>
        <p:nvSpPr>
          <p:cNvPr id="12" name="TextBox 11"/>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3" name="TextBox 12"/>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28 / 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Mise en situation : « Branchez, mon beau-frère réparera »</a:t>
            </a:r>
          </a:p>
        </p:txBody>
      </p:sp>
      <p:pic>
        <p:nvPicPr>
          <p:cNvPr id="3" name="Picture 2" descr="s34_55.jpg"/>
          <p:cNvPicPr>
            <a:picLocks noChangeAspect="1"/>
          </p:cNvPicPr>
          <p:nvPr/>
        </p:nvPicPr>
        <p:blipFill>
          <a:blip r:embed="rId3"/>
          <a:stretch>
            <a:fillRect/>
          </a:stretch>
        </p:blipFill>
        <p:spPr>
          <a:xfrm>
            <a:off x="1280160" y="1435228"/>
            <a:ext cx="3657600" cy="3256023"/>
          </a:xfrm>
          <a:prstGeom prst="rect">
            <a:avLst/>
          </a:prstGeom>
          <a:ln w="9525">
            <a:solidFill>
              <a:srgbClr val="BDBDBD"/>
            </a:solidFill>
          </a:ln>
        </p:spPr>
      </p:pic>
      <p:sp>
        <p:nvSpPr>
          <p:cNvPr id="4" name="TextBox 3"/>
          <p:cNvSpPr txBox="1"/>
          <p:nvPr/>
        </p:nvSpPr>
        <p:spPr>
          <a:xfrm>
            <a:off x="5212080" y="1371600"/>
            <a:ext cx="6217920" cy="868680"/>
          </a:xfrm>
          <a:prstGeom prst="rect">
            <a:avLst/>
          </a:prstGeom>
          <a:noFill/>
        </p:spPr>
        <p:txBody>
          <a:bodyPr wrap="square" lIns="0" rIns="0" tIns="0" bIns="0" anchor="t">
            <a:spAutoFit/>
          </a:bodyPr>
          <a:lstStyle/>
          <a:p>
            <a:pPr algn="l">
              <a:spcBef>
                <a:spcPts val="0"/>
              </a:spcBef>
              <a:spcAft>
                <a:spcPts val="400"/>
              </a:spcAft>
            </a:pPr>
            <a:r>
              <a:rPr sz="1600" b="1" i="0">
                <a:solidFill>
                  <a:srgbClr val="1A1A1A"/>
                </a:solidFill>
                <a:latin typeface="Arial"/>
              </a:rPr>
              <a:t>Lave-linge à installer. Pot desserré, placo effrité. Le client insiste : « Branchez, c'est urgent ! »</a:t>
            </a:r>
          </a:p>
        </p:txBody>
      </p:sp>
      <p:sp>
        <p:nvSpPr>
          <p:cNvPr id="5" name="Rounded Rectangle 4">
            <a:hlinkClick action="ppaction://hlinksldjump" r:id="rId4"/>
          </p:cNvPr>
          <p:cNvSpPr/>
          <p:nvPr/>
        </p:nvSpPr>
        <p:spPr>
          <a:xfrm>
            <a:off x="5212080" y="2331720"/>
            <a:ext cx="6217920" cy="914400"/>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A · Je rebouche vite fait et je branche : le client est d'accord</a:t>
            </a:r>
          </a:p>
        </p:txBody>
      </p:sp>
      <p:sp>
        <p:nvSpPr>
          <p:cNvPr id="6" name="Rounded Rectangle 5">
            <a:hlinkClick action="ppaction://hlinksldjump" r:id="rId5"/>
          </p:cNvPr>
          <p:cNvSpPr/>
          <p:nvPr/>
        </p:nvSpPr>
        <p:spPr>
          <a:xfrm>
            <a:off x="5212080" y="3355848"/>
            <a:ext cx="6217920" cy="914400"/>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B · Je laisse l'appareil débranché, je photographie, j'explique au client et je notifie dans le dossier Nomad</a:t>
            </a:r>
          </a:p>
        </p:txBody>
      </p:sp>
      <p:sp>
        <p:nvSpPr>
          <p:cNvPr id="7" name="Rounded Rectangle 6">
            <a:hlinkClick action="ppaction://hlinksldjump" r:id="rId4"/>
          </p:cNvPr>
          <p:cNvSpPr/>
          <p:nvPr/>
        </p:nvSpPr>
        <p:spPr>
          <a:xfrm>
            <a:off x="5212080" y="4379976"/>
            <a:ext cx="6217920" cy="914400"/>
          </a:xfrm>
          <a:prstGeom prst="roundRect">
            <a:avLst>
              <a:gd name="adj" fmla="val 10000"/>
            </a:avLst>
          </a:prstGeom>
          <a:solidFill>
            <a:srgbClr val="FFFFFF"/>
          </a:solidFill>
          <a:ln w="25400">
            <a:solidFill>
              <a:srgbClr val="0E2841"/>
            </a:solidFill>
          </a:ln>
        </p:spPr>
        <p:txBody>
          <a:bodyPr rtlCol="0" anchor="ctr" lIns="164592" rIns="164592" tIns="98755" bIns="98755" wrap="square"/>
          <a:lstStyle/>
          <a:p>
            <a:pPr algn="l">
              <a:spcBef>
                <a:spcPts val="0"/>
              </a:spcBef>
              <a:spcAft>
                <a:spcPts val="200"/>
              </a:spcAft>
            </a:pPr>
            <a:r>
              <a:rPr sz="1500" b="1" i="0">
                <a:solidFill>
                  <a:srgbClr val="1A1A1A"/>
                </a:solidFill>
                <a:latin typeface="Arial"/>
              </a:rPr>
              <a:t>C · Je branche sur une multiprise posée au sol</a:t>
            </a:r>
          </a:p>
        </p:txBody>
      </p:sp>
      <p:sp>
        <p:nvSpPr>
          <p:cNvPr id="8" name="TextBox 7"/>
          <p:cNvSpPr txBox="1"/>
          <p:nvPr/>
        </p:nvSpPr>
        <p:spPr>
          <a:xfrm>
            <a:off x="5212080" y="5440680"/>
            <a:ext cx="5486400" cy="365760"/>
          </a:xfrm>
          <a:prstGeom prst="rect">
            <a:avLst/>
          </a:prstGeom>
          <a:noFill/>
        </p:spPr>
        <p:txBody>
          <a:bodyPr wrap="square" lIns="0" rIns="0" tIns="0" bIns="0" anchor="t">
            <a:spAutoFit/>
          </a:bodyPr>
          <a:lstStyle/>
          <a:p>
            <a:pPr algn="l">
              <a:spcBef>
                <a:spcPts val="0"/>
              </a:spcBef>
              <a:spcAft>
                <a:spcPts val="400"/>
              </a:spcAft>
            </a:pPr>
            <a:r>
              <a:rPr sz="1300" b="0" i="0">
                <a:solidFill>
                  <a:srgbClr val="5F5F5F"/>
                </a:solidFill>
                <a:latin typeface="Arial"/>
              </a:rPr>
              <a:t>Cliquez sur une réponse</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Bonne réponse !</a:t>
            </a:r>
          </a:p>
        </p:txBody>
      </p:sp>
      <p:sp>
        <p:nvSpPr>
          <p:cNvPr id="3" name="Rounded Rectangle 2"/>
          <p:cNvSpPr/>
          <p:nvPr/>
        </p:nvSpPr>
        <p:spPr>
          <a:xfrm>
            <a:off x="1280160" y="1463040"/>
            <a:ext cx="9509760" cy="26517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4" name="Oval 3"/>
          <p:cNvSpPr/>
          <p:nvPr/>
        </p:nvSpPr>
        <p:spPr>
          <a:xfrm>
            <a:off x="1426463" y="15727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7276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BONNE RÉPONSE : B</a:t>
            </a:r>
          </a:p>
        </p:txBody>
      </p:sp>
      <p:sp>
        <p:nvSpPr>
          <p:cNvPr id="6" name="TextBox 5"/>
          <p:cNvSpPr txBox="1"/>
          <p:nvPr/>
        </p:nvSpPr>
        <p:spPr>
          <a:xfrm>
            <a:off x="1463039" y="1993392"/>
            <a:ext cx="9144000" cy="2029967"/>
          </a:xfrm>
          <a:prstGeom prst="rect">
            <a:avLst/>
          </a:prstGeom>
          <a:noFill/>
        </p:spPr>
        <p:txBody>
          <a:bodyPr wrap="square" lIns="0" rIns="0" tIns="0" bIns="0" anchor="t">
            <a:spAutoFit/>
          </a:bodyPr>
          <a:lstStyle/>
          <a:p>
            <a:pPr algn="l" marL="228600" indent="-228600">
              <a:spcBef>
                <a:spcPts val="0"/>
              </a:spcBef>
              <a:spcAft>
                <a:spcPts val="800"/>
              </a:spcAft>
              <a:buClr>
                <a:srgbClr val="1B7F3B"/>
              </a:buClr>
              <a:buFont typeface="Arial"/>
              <a:buChar char="•"/>
            </a:pPr>
            <a:r>
              <a:rPr sz="1800" b="0" i="0">
                <a:solidFill>
                  <a:srgbClr val="1A1A1A"/>
                </a:solidFill>
                <a:latin typeface="Arial"/>
              </a:rPr>
              <a:t>Pot cassé ou placo dégradé : </a:t>
            </a:r>
            <a:r>
              <a:rPr sz="1800" b="1" i="0">
                <a:solidFill>
                  <a:srgbClr val="1A1A1A"/>
                </a:solidFill>
                <a:latin typeface="Arial"/>
              </a:rPr>
              <a:t>arrêt du raccordement</a:t>
            </a:r>
          </a:p>
          <a:p>
            <a:pPr algn="l" marL="228600" indent="-228600">
              <a:spcBef>
                <a:spcPts val="0"/>
              </a:spcBef>
              <a:spcAft>
                <a:spcPts val="800"/>
              </a:spcAft>
              <a:buClr>
                <a:srgbClr val="1B7F3B"/>
              </a:buClr>
              <a:buFont typeface="Arial"/>
              <a:buChar char="•"/>
            </a:pPr>
            <a:r>
              <a:rPr sz="1800" b="0" i="0">
                <a:solidFill>
                  <a:srgbClr val="1A1A1A"/>
                </a:solidFill>
                <a:latin typeface="Arial"/>
              </a:rPr>
              <a:t>Photo · appareil </a:t>
            </a:r>
            <a:r>
              <a:rPr sz="1800" b="1" i="0">
                <a:solidFill>
                  <a:srgbClr val="1A1A1A"/>
                </a:solidFill>
                <a:latin typeface="Arial"/>
              </a:rPr>
              <a:t>débranché</a:t>
            </a:r>
            <a:r>
              <a:rPr sz="1800" b="0" i="0">
                <a:solidFill>
                  <a:srgbClr val="1A1A1A"/>
                </a:solidFill>
                <a:latin typeface="Arial"/>
              </a:rPr>
              <a:t> · </a:t>
            </a:r>
            <a:r>
              <a:rPr sz="1800" b="1" i="0">
                <a:solidFill>
                  <a:srgbClr val="1A1A1A"/>
                </a:solidFill>
                <a:latin typeface="Arial"/>
              </a:rPr>
              <a:t>notification</a:t>
            </a:r>
            <a:r>
              <a:rPr sz="1800" b="0" i="0">
                <a:solidFill>
                  <a:srgbClr val="1A1A1A"/>
                </a:solidFill>
                <a:latin typeface="Arial"/>
              </a:rPr>
              <a:t> dans le dossier Nomad</a:t>
            </a:r>
          </a:p>
          <a:p>
            <a:pPr algn="l" marL="228600" indent="-228600">
              <a:spcBef>
                <a:spcPts val="0"/>
              </a:spcBef>
              <a:spcAft>
                <a:spcPts val="800"/>
              </a:spcAft>
              <a:buClr>
                <a:srgbClr val="1B7F3B"/>
              </a:buClr>
              <a:buFont typeface="Arial"/>
              <a:buChar char="•"/>
            </a:pPr>
            <a:r>
              <a:rPr sz="1800" b="0" i="0">
                <a:solidFill>
                  <a:srgbClr val="1A1A1A"/>
                </a:solidFill>
                <a:latin typeface="Arial"/>
              </a:rPr>
              <a:t>Le client fait intervenir un </a:t>
            </a:r>
            <a:r>
              <a:rPr sz="1800" b="1" i="0">
                <a:solidFill>
                  <a:srgbClr val="1A1A1A"/>
                </a:solidFill>
                <a:latin typeface="Arial"/>
              </a:rPr>
              <a:t>électricien</a:t>
            </a:r>
          </a:p>
        </p:txBody>
      </p:sp>
      <p:sp>
        <p:nvSpPr>
          <p:cNvPr id="7" name="Rounded Rectangle 6"/>
          <p:cNvSpPr/>
          <p:nvPr/>
        </p:nvSpPr>
        <p:spPr>
          <a:xfrm>
            <a:off x="1280160" y="438912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Règle : pot ou placo abîmé = j'arrête, je photographie, je notifie dans le dossier Nomad</a:t>
            </a:r>
          </a:p>
        </p:txBody>
      </p:sp>
      <p:sp>
        <p:nvSpPr>
          <p:cNvPr id="8" name="Rounded Rectangle 7">
            <a:hlinkClick action="ppaction://hlinksldjump" r:id="rId3"/>
          </p:cNvPr>
          <p:cNvSpPr/>
          <p:nvPr/>
        </p:nvSpPr>
        <p:spPr>
          <a:xfrm>
            <a:off x="8412480" y="5394960"/>
            <a:ext cx="2103120" cy="64008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Continuer  ›</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30 / 54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Pas tout à fait</a:t>
            </a:r>
          </a:p>
        </p:txBody>
      </p:sp>
      <p:sp>
        <p:nvSpPr>
          <p:cNvPr id="3" name="Rounded Rectangle 2"/>
          <p:cNvSpPr/>
          <p:nvPr/>
        </p:nvSpPr>
        <p:spPr>
          <a:xfrm>
            <a:off x="1280160" y="1463040"/>
            <a:ext cx="9509760" cy="265176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4" name="Oval 3"/>
          <p:cNvSpPr/>
          <p:nvPr/>
        </p:nvSpPr>
        <p:spPr>
          <a:xfrm>
            <a:off x="1426463" y="157276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72768"/>
            <a:ext cx="88239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PAS TOUT À FAIT</a:t>
            </a:r>
          </a:p>
        </p:txBody>
      </p:sp>
      <p:sp>
        <p:nvSpPr>
          <p:cNvPr id="6" name="TextBox 5"/>
          <p:cNvSpPr txBox="1"/>
          <p:nvPr/>
        </p:nvSpPr>
        <p:spPr>
          <a:xfrm>
            <a:off x="1463039" y="1993392"/>
            <a:ext cx="9144000" cy="2029967"/>
          </a:xfrm>
          <a:prstGeom prst="rect">
            <a:avLst/>
          </a:prstGeom>
          <a:noFill/>
        </p:spPr>
        <p:txBody>
          <a:bodyPr wrap="square" lIns="0" rIns="0" tIns="0" bIns="0" anchor="t">
            <a:spAutoFit/>
          </a:bodyPr>
          <a:lstStyle/>
          <a:p>
            <a:pPr algn="l" marL="228600" indent="-228600">
              <a:spcBef>
                <a:spcPts val="0"/>
              </a:spcBef>
              <a:spcAft>
                <a:spcPts val="800"/>
              </a:spcAft>
              <a:buClr>
                <a:srgbClr val="C8102E"/>
              </a:buClr>
              <a:buFont typeface="Arial"/>
              <a:buChar char="•"/>
            </a:pPr>
            <a:r>
              <a:rPr sz="1800" b="0" i="0">
                <a:solidFill>
                  <a:srgbClr val="1A1A1A"/>
                </a:solidFill>
                <a:latin typeface="Arial"/>
              </a:rPr>
              <a:t>La bonne réponse est </a:t>
            </a:r>
            <a:r>
              <a:rPr sz="1800" b="1" i="0">
                <a:solidFill>
                  <a:srgbClr val="1A1A1A"/>
                </a:solidFill>
                <a:latin typeface="Arial"/>
              </a:rPr>
              <a:t>B</a:t>
            </a:r>
          </a:p>
          <a:p>
            <a:pPr algn="l" marL="228600" indent="-228600">
              <a:spcBef>
                <a:spcPts val="0"/>
              </a:spcBef>
              <a:spcAft>
                <a:spcPts val="800"/>
              </a:spcAft>
              <a:buClr>
                <a:srgbClr val="C8102E"/>
              </a:buClr>
              <a:buFont typeface="Arial"/>
              <a:buChar char="•"/>
            </a:pPr>
            <a:r>
              <a:rPr sz="1800" b="0" i="0">
                <a:solidFill>
                  <a:srgbClr val="1A1A1A"/>
                </a:solidFill>
                <a:latin typeface="Arial"/>
              </a:rPr>
              <a:t>Je ne rebouche pas, je ne remets pas l'installation en conformité</a:t>
            </a:r>
          </a:p>
          <a:p>
            <a:pPr algn="l" marL="228600" indent="-228600">
              <a:spcBef>
                <a:spcPts val="0"/>
              </a:spcBef>
              <a:spcAft>
                <a:spcPts val="800"/>
              </a:spcAft>
              <a:buClr>
                <a:srgbClr val="C8102E"/>
              </a:buClr>
              <a:buFont typeface="Arial"/>
              <a:buChar char="•"/>
            </a:pPr>
            <a:r>
              <a:rPr sz="1800" b="0" i="0">
                <a:solidFill>
                  <a:srgbClr val="1A1A1A"/>
                </a:solidFill>
                <a:latin typeface="Arial"/>
              </a:rPr>
              <a:t>Multiprise, triplette, rallonge : </a:t>
            </a:r>
            <a:r>
              <a:rPr sz="1800" b="1" i="0">
                <a:solidFill>
                  <a:srgbClr val="1A1A1A"/>
                </a:solidFill>
                <a:latin typeface="Arial"/>
              </a:rPr>
              <a:t>interdites</a:t>
            </a:r>
            <a:r>
              <a:rPr sz="1800" b="0" i="0">
                <a:solidFill>
                  <a:srgbClr val="1A1A1A"/>
                </a:solidFill>
                <a:latin typeface="Arial"/>
              </a:rPr>
              <a:t> pour un GEM de classe I</a:t>
            </a:r>
          </a:p>
        </p:txBody>
      </p:sp>
      <p:sp>
        <p:nvSpPr>
          <p:cNvPr id="7" name="Rounded Rectangle 6"/>
          <p:cNvSpPr/>
          <p:nvPr/>
        </p:nvSpPr>
        <p:spPr>
          <a:xfrm>
            <a:off x="1280160" y="4389120"/>
            <a:ext cx="9509760" cy="640080"/>
          </a:xfrm>
          <a:prstGeom prst="roundRect">
            <a:avLst>
              <a:gd name="adj" fmla="val 12000"/>
            </a:avLst>
          </a:prstGeom>
          <a:solidFill>
            <a:srgbClr val="0E2841"/>
          </a:solidFill>
          <a:ln>
            <a:noFill/>
          </a:ln>
        </p:spPr>
        <p:txBody>
          <a:bodyPr rtlCol="0" anchor="ctr" lIns="182880" rIns="182880" tIns="109728" bIns="109728" wrap="square"/>
          <a:lstStyle/>
          <a:p>
            <a:pPr algn="l">
              <a:spcBef>
                <a:spcPts val="0"/>
              </a:spcBef>
              <a:spcAft>
                <a:spcPts val="200"/>
              </a:spcAft>
            </a:pPr>
            <a:r>
              <a:rPr sz="1700" b="1" i="0">
                <a:solidFill>
                  <a:srgbClr val="FFFFFF"/>
                </a:solidFill>
                <a:latin typeface="Arial"/>
              </a:rPr>
              <a:t>Règle : pot ou placo abîmé = j'arrête, je photographie, je notifie dans le dossier Nomad</a:t>
            </a:r>
          </a:p>
        </p:txBody>
      </p:sp>
      <p:sp>
        <p:nvSpPr>
          <p:cNvPr id="8" name="Rounded Rectangle 7">
            <a:hlinkClick action="ppaction://hlinksldjump" r:id="rId3"/>
          </p:cNvPr>
          <p:cNvSpPr/>
          <p:nvPr/>
        </p:nvSpPr>
        <p:spPr>
          <a:xfrm>
            <a:off x="8412480" y="5394960"/>
            <a:ext cx="2103120" cy="64008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Continuer  ›</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31 / 54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À retenir : contrôler, décider, notifier</a:t>
            </a:r>
          </a:p>
        </p:txBody>
      </p:sp>
      <p:sp>
        <p:nvSpPr>
          <p:cNvPr id="3" name="Rounded Rectangle 2"/>
          <p:cNvSpPr/>
          <p:nvPr/>
        </p:nvSpPr>
        <p:spPr>
          <a:xfrm>
            <a:off x="1280160" y="1371600"/>
            <a:ext cx="3246120" cy="31089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4" name="Oval 3"/>
          <p:cNvSpPr/>
          <p:nvPr/>
        </p:nvSpPr>
        <p:spPr>
          <a:xfrm>
            <a:off x="1426463"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48132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JE CONTRÔLE</a:t>
            </a:r>
          </a:p>
        </p:txBody>
      </p:sp>
      <p:sp>
        <p:nvSpPr>
          <p:cNvPr id="6" name="TextBox 5"/>
          <p:cNvSpPr txBox="1"/>
          <p:nvPr/>
        </p:nvSpPr>
        <p:spPr>
          <a:xfrm>
            <a:off x="1463039" y="1901952"/>
            <a:ext cx="2880360" cy="2487168"/>
          </a:xfrm>
          <a:prstGeom prst="rect">
            <a:avLst/>
          </a:prstGeom>
          <a:noFill/>
        </p:spPr>
        <p:txBody>
          <a:bodyPr wrap="square" lIns="0" rIns="0" tIns="0" bIns="0" anchor="t">
            <a:spAutoFit/>
          </a:bodyPr>
          <a:lstStyle/>
          <a:p>
            <a:pPr algn="l" marL="228600" indent="-228600">
              <a:spcBef>
                <a:spcPts val="0"/>
              </a:spcBef>
              <a:spcAft>
                <a:spcPts val="700"/>
              </a:spcAft>
              <a:buClr>
                <a:srgbClr val="1B7F3B"/>
              </a:buClr>
              <a:buFont typeface="Arial"/>
              <a:buChar char="•"/>
            </a:pPr>
            <a:r>
              <a:rPr sz="1500" b="0" i="0">
                <a:solidFill>
                  <a:srgbClr val="1A1A1A"/>
                </a:solidFill>
                <a:latin typeface="Arial"/>
              </a:rPr>
              <a:t>Prise au </a:t>
            </a:r>
            <a:r>
              <a:rPr sz="1500" b="1" i="0">
                <a:solidFill>
                  <a:srgbClr val="1A1A1A"/>
                </a:solidFill>
                <a:latin typeface="Arial"/>
              </a:rPr>
              <a:t>VAT</a:t>
            </a:r>
            <a:r>
              <a:rPr sz="1500" b="0" i="0">
                <a:solidFill>
                  <a:srgbClr val="1A1A1A"/>
                </a:solidFill>
                <a:latin typeface="Arial"/>
              </a:rPr>
              <a:t> (avant / après auto-test)</a:t>
            </a:r>
          </a:p>
          <a:p>
            <a:pPr algn="l" marL="228600" indent="-228600">
              <a:spcBef>
                <a:spcPts val="0"/>
              </a:spcBef>
              <a:spcAft>
                <a:spcPts val="700"/>
              </a:spcAft>
              <a:buClr>
                <a:srgbClr val="1B7F3B"/>
              </a:buClr>
              <a:buFont typeface="Arial"/>
              <a:buChar char="•"/>
            </a:pPr>
            <a:r>
              <a:rPr sz="1500" b="0" i="0">
                <a:solidFill>
                  <a:srgbClr val="1A1A1A"/>
                </a:solidFill>
                <a:latin typeface="Arial"/>
              </a:rPr>
              <a:t>Différentiel </a:t>
            </a:r>
            <a:r>
              <a:rPr sz="1500" b="1" i="0">
                <a:solidFill>
                  <a:srgbClr val="1A1A1A"/>
                </a:solidFill>
                <a:latin typeface="Arial"/>
              </a:rPr>
              <a:t>30 mA</a:t>
            </a:r>
            <a:r>
              <a:rPr sz="1500" b="0" i="0">
                <a:solidFill>
                  <a:srgbClr val="1A1A1A"/>
                </a:solidFill>
                <a:latin typeface="Arial"/>
              </a:rPr>
              <a:t>, disjoncteur adapté</a:t>
            </a:r>
          </a:p>
          <a:p>
            <a:pPr algn="l" marL="228600" indent="-228600">
              <a:spcBef>
                <a:spcPts val="0"/>
              </a:spcBef>
              <a:spcAft>
                <a:spcPts val="700"/>
              </a:spcAft>
              <a:buClr>
                <a:srgbClr val="1B7F3B"/>
              </a:buClr>
              <a:buFont typeface="Arial"/>
              <a:buChar char="•"/>
            </a:pPr>
            <a:r>
              <a:rPr sz="1500" b="0" i="0">
                <a:solidFill>
                  <a:srgbClr val="1A1A1A"/>
                </a:solidFill>
                <a:latin typeface="Arial"/>
              </a:rPr>
              <a:t>Prise dédiée ? </a:t>
            </a:r>
            <a:r>
              <a:rPr sz="1500" b="1" i="0">
                <a:solidFill>
                  <a:srgbClr val="1A1A1A"/>
                </a:solidFill>
                <a:latin typeface="Arial"/>
              </a:rPr>
              <a:t>Section</a:t>
            </a:r>
            <a:r>
              <a:rPr sz="1500" b="0" i="0">
                <a:solidFill>
                  <a:srgbClr val="1A1A1A"/>
                </a:solidFill>
                <a:latin typeface="Arial"/>
              </a:rPr>
              <a:t> des fils</a:t>
            </a:r>
          </a:p>
        </p:txBody>
      </p:sp>
      <p:sp>
        <p:nvSpPr>
          <p:cNvPr id="7" name="Rounded Rectangle 6"/>
          <p:cNvSpPr/>
          <p:nvPr/>
        </p:nvSpPr>
        <p:spPr>
          <a:xfrm>
            <a:off x="4709160" y="1371600"/>
            <a:ext cx="3246120" cy="310896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8" name="Oval 7"/>
          <p:cNvSpPr/>
          <p:nvPr/>
        </p:nvSpPr>
        <p:spPr>
          <a:xfrm>
            <a:off x="4855464" y="148132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5257800" y="148132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JE DÉCIDE</a:t>
            </a:r>
          </a:p>
        </p:txBody>
      </p:sp>
      <p:sp>
        <p:nvSpPr>
          <p:cNvPr id="10" name="TextBox 9"/>
          <p:cNvSpPr txBox="1"/>
          <p:nvPr/>
        </p:nvSpPr>
        <p:spPr>
          <a:xfrm>
            <a:off x="4892040" y="1901952"/>
            <a:ext cx="2880360" cy="2487168"/>
          </a:xfrm>
          <a:prstGeom prst="rect">
            <a:avLst/>
          </a:prstGeom>
          <a:noFill/>
        </p:spPr>
        <p:txBody>
          <a:bodyPr wrap="square" lIns="0" rIns="0" tIns="0" bIns="0" anchor="t">
            <a:spAutoFit/>
          </a:bodyPr>
          <a:lstStyle/>
          <a:p>
            <a:pPr algn="l" marL="228600" indent="-228600">
              <a:spcBef>
                <a:spcPts val="0"/>
              </a:spcBef>
              <a:spcAft>
                <a:spcPts val="700"/>
              </a:spcAft>
              <a:buClr>
                <a:srgbClr val="D99100"/>
              </a:buClr>
              <a:buFont typeface="Arial"/>
              <a:buChar char="•"/>
            </a:pPr>
            <a:r>
              <a:rPr sz="1500" b="0" i="0">
                <a:solidFill>
                  <a:srgbClr val="1A1A1A"/>
                </a:solidFill>
                <a:latin typeface="Arial"/>
              </a:rPr>
              <a:t>Tout est conforme : </a:t>
            </a:r>
            <a:r>
              <a:rPr sz="1500" b="1" i="0">
                <a:solidFill>
                  <a:srgbClr val="1A1A1A"/>
                </a:solidFill>
                <a:latin typeface="Arial"/>
              </a:rPr>
              <a:t>j'installe</a:t>
            </a:r>
          </a:p>
          <a:p>
            <a:pPr algn="l" marL="228600" indent="-228600">
              <a:spcBef>
                <a:spcPts val="0"/>
              </a:spcBef>
              <a:spcAft>
                <a:spcPts val="700"/>
              </a:spcAft>
              <a:buClr>
                <a:srgbClr val="D99100"/>
              </a:buClr>
              <a:buFont typeface="Arial"/>
              <a:buChar char="•"/>
            </a:pPr>
            <a:r>
              <a:rPr sz="1500" b="0" i="0">
                <a:solidFill>
                  <a:srgbClr val="1A1A1A"/>
                </a:solidFill>
                <a:latin typeface="Arial"/>
              </a:rPr>
              <a:t>Défaut : </a:t>
            </a:r>
            <a:r>
              <a:rPr sz="1500" b="1" i="0">
                <a:solidFill>
                  <a:srgbClr val="1A1A1A"/>
                </a:solidFill>
                <a:latin typeface="Arial"/>
              </a:rPr>
              <a:t>je ne raccorde pas</a:t>
            </a:r>
          </a:p>
          <a:p>
            <a:pPr algn="l" marL="228600" indent="-228600">
              <a:spcBef>
                <a:spcPts val="0"/>
              </a:spcBef>
              <a:spcAft>
                <a:spcPts val="700"/>
              </a:spcAft>
              <a:buClr>
                <a:srgbClr val="D99100"/>
              </a:buClr>
              <a:buFont typeface="Arial"/>
              <a:buChar char="•"/>
            </a:pPr>
            <a:r>
              <a:rPr sz="1500" b="0" i="0">
                <a:solidFill>
                  <a:srgbClr val="1A1A1A"/>
                </a:solidFill>
                <a:latin typeface="Arial"/>
              </a:rPr>
              <a:t>Mise en conformité : </a:t>
            </a:r>
            <a:r>
              <a:rPr sz="1500" b="1" i="0">
                <a:solidFill>
                  <a:srgbClr val="1A1A1A"/>
                </a:solidFill>
                <a:latin typeface="Arial"/>
              </a:rPr>
              <a:t>électricien</a:t>
            </a:r>
          </a:p>
        </p:txBody>
      </p:sp>
      <p:sp>
        <p:nvSpPr>
          <p:cNvPr id="11" name="Rounded Rectangle 10"/>
          <p:cNvSpPr/>
          <p:nvPr/>
        </p:nvSpPr>
        <p:spPr>
          <a:xfrm>
            <a:off x="8138160" y="1371600"/>
            <a:ext cx="3246120" cy="310896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12" name="Oval 11"/>
          <p:cNvSpPr/>
          <p:nvPr/>
        </p:nvSpPr>
        <p:spPr>
          <a:xfrm>
            <a:off x="8284464" y="148132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8686800" y="148132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JE NOTIFIE DANS NOMAD</a:t>
            </a:r>
          </a:p>
        </p:txBody>
      </p:sp>
      <p:sp>
        <p:nvSpPr>
          <p:cNvPr id="14" name="TextBox 13"/>
          <p:cNvSpPr txBox="1"/>
          <p:nvPr/>
        </p:nvSpPr>
        <p:spPr>
          <a:xfrm>
            <a:off x="8321040" y="1901952"/>
            <a:ext cx="2880360" cy="2487168"/>
          </a:xfrm>
          <a:prstGeom prst="rect">
            <a:avLst/>
          </a:prstGeom>
          <a:noFill/>
        </p:spPr>
        <p:txBody>
          <a:bodyPr wrap="square" lIns="0" rIns="0" tIns="0" bIns="0" anchor="t">
            <a:spAutoFit/>
          </a:bodyPr>
          <a:lstStyle/>
          <a:p>
            <a:pPr algn="l" marL="228600" indent="-228600">
              <a:spcBef>
                <a:spcPts val="0"/>
              </a:spcBef>
              <a:spcAft>
                <a:spcPts val="700"/>
              </a:spcAft>
              <a:buClr>
                <a:srgbClr val="0E2841"/>
              </a:buClr>
              <a:buFont typeface="Arial"/>
              <a:buChar char="•"/>
            </a:pPr>
            <a:r>
              <a:rPr sz="1500" b="1" i="0">
                <a:solidFill>
                  <a:srgbClr val="1A1A1A"/>
                </a:solidFill>
                <a:latin typeface="Arial"/>
              </a:rPr>
              <a:t>Photo</a:t>
            </a:r>
            <a:r>
              <a:rPr sz="1500" b="0" i="0">
                <a:solidFill>
                  <a:srgbClr val="1A1A1A"/>
                </a:solidFill>
                <a:latin typeface="Arial"/>
              </a:rPr>
              <a:t> de l'anomalie</a:t>
            </a:r>
          </a:p>
          <a:p>
            <a:pPr algn="l" marL="228600" indent="-228600">
              <a:spcBef>
                <a:spcPts val="0"/>
              </a:spcBef>
              <a:spcAft>
                <a:spcPts val="700"/>
              </a:spcAft>
              <a:buClr>
                <a:srgbClr val="0E2841"/>
              </a:buClr>
              <a:buFont typeface="Arial"/>
              <a:buChar char="•"/>
            </a:pPr>
            <a:r>
              <a:rPr sz="1500" b="0" i="0">
                <a:solidFill>
                  <a:srgbClr val="1A1A1A"/>
                </a:solidFill>
                <a:latin typeface="Arial"/>
              </a:rPr>
              <a:t>Appareil laissé </a:t>
            </a:r>
            <a:r>
              <a:rPr sz="1500" b="1" i="0">
                <a:solidFill>
                  <a:srgbClr val="1A1A1A"/>
                </a:solidFill>
                <a:latin typeface="Arial"/>
              </a:rPr>
              <a:t>débranché</a:t>
            </a:r>
          </a:p>
          <a:p>
            <a:pPr algn="l" marL="228600" indent="-228600">
              <a:spcBef>
                <a:spcPts val="0"/>
              </a:spcBef>
              <a:spcAft>
                <a:spcPts val="700"/>
              </a:spcAft>
              <a:buClr>
                <a:srgbClr val="0E2841"/>
              </a:buClr>
              <a:buFont typeface="Arial"/>
              <a:buChar char="•"/>
            </a:pPr>
            <a:r>
              <a:rPr sz="1500" b="0" i="0">
                <a:solidFill>
                  <a:srgbClr val="1A1A1A"/>
                </a:solidFill>
                <a:latin typeface="Arial"/>
              </a:rPr>
              <a:t>Dossier </a:t>
            </a:r>
            <a:r>
              <a:rPr sz="1500" b="1" i="0">
                <a:solidFill>
                  <a:srgbClr val="1A1A1A"/>
                </a:solidFill>
                <a:latin typeface="Arial"/>
              </a:rPr>
              <a:t>Nomad</a:t>
            </a:r>
          </a:p>
        </p:txBody>
      </p:sp>
      <p:sp>
        <p:nvSpPr>
          <p:cNvPr id="15" name="Rounded Rectangle 14"/>
          <p:cNvSpPr/>
          <p:nvPr/>
        </p:nvSpPr>
        <p:spPr>
          <a:xfrm>
            <a:off x="1280160" y="4709160"/>
            <a:ext cx="9509760" cy="640080"/>
          </a:xfrm>
          <a:prstGeom prst="roundRect">
            <a:avLst>
              <a:gd name="adj" fmla="val 12000"/>
            </a:avLst>
          </a:prstGeom>
          <a:solidFill>
            <a:srgbClr val="C8102E"/>
          </a:solidFill>
          <a:ln>
            <a:noFill/>
          </a:ln>
        </p:spPr>
        <p:txBody>
          <a:bodyPr rtlCol="0" anchor="ctr" lIns="182880" rIns="182880" tIns="109728" bIns="109728" wrap="square"/>
          <a:lstStyle/>
          <a:p>
            <a:pPr algn="l">
              <a:spcBef>
                <a:spcPts val="0"/>
              </a:spcBef>
              <a:spcAft>
                <a:spcPts val="200"/>
              </a:spcAft>
            </a:pPr>
            <a:r>
              <a:rPr sz="1800" b="1" i="0">
                <a:solidFill>
                  <a:srgbClr val="FFFFFF"/>
                </a:solidFill>
                <a:latin typeface="Arial"/>
              </a:rPr>
              <a:t>Au moindre doute : je ne branche pas.</a:t>
            </a:r>
          </a:p>
        </p:txBody>
      </p:sp>
      <p:sp>
        <p:nvSpPr>
          <p:cNvPr id="16" name="Rounded Rectangle 15">
            <a:hlinkClick action="ppaction://hlinksldjump" r:id="rId3"/>
          </p:cNvPr>
          <p:cNvSpPr/>
          <p:nvPr/>
        </p:nvSpPr>
        <p:spPr>
          <a:xfrm>
            <a:off x="8412480" y="5577840"/>
            <a:ext cx="2194560" cy="59436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600" b="1" i="0">
                <a:solidFill>
                  <a:srgbClr val="FFFFFF"/>
                </a:solidFill>
                <a:latin typeface="Arial"/>
              </a:rPr>
              <a:t>Passer au quiz  ›</a:t>
            </a:r>
          </a:p>
        </p:txBody>
      </p:sp>
      <p:sp>
        <p:nvSpPr>
          <p:cNvPr id="17" name="TextBox 16"/>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Séquence 3 · Raccordements, interdits et cas particuliers  ·  Académie Fnac Darty</a:t>
            </a:r>
          </a:p>
        </p:txBody>
      </p:sp>
      <p:sp>
        <p:nvSpPr>
          <p:cNvPr id="18" name="TextBox 17"/>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32 / 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Quiz final : 10 questions, 80 % pour valider</a:t>
            </a:r>
          </a:p>
        </p:txBody>
      </p:sp>
      <p:sp>
        <p:nvSpPr>
          <p:cNvPr id="3" name="Rounded Rectangle 2"/>
          <p:cNvSpPr/>
          <p:nvPr/>
        </p:nvSpPr>
        <p:spPr>
          <a:xfrm>
            <a:off x="1280160" y="1463040"/>
            <a:ext cx="3246120" cy="32004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4" name="Oval 3"/>
          <p:cNvSpPr/>
          <p:nvPr/>
        </p:nvSpPr>
        <p:spPr>
          <a:xfrm>
            <a:off x="1426463" y="157276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5" name="TextBox 4"/>
          <p:cNvSpPr txBox="1"/>
          <p:nvPr/>
        </p:nvSpPr>
        <p:spPr>
          <a:xfrm>
            <a:off x="1828800" y="157276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10 QUESTIONS</a:t>
            </a:r>
          </a:p>
        </p:txBody>
      </p:sp>
      <p:sp>
        <p:nvSpPr>
          <p:cNvPr id="6" name="TextBox 5"/>
          <p:cNvSpPr txBox="1"/>
          <p:nvPr/>
        </p:nvSpPr>
        <p:spPr>
          <a:xfrm>
            <a:off x="1463039" y="1993392"/>
            <a:ext cx="2880360" cy="2578608"/>
          </a:xfrm>
          <a:prstGeom prst="rect">
            <a:avLst/>
          </a:prstGeom>
          <a:noFill/>
        </p:spPr>
        <p:txBody>
          <a:bodyPr wrap="square" lIns="0" rIns="0" tIns="0" bIns="0" anchor="t">
            <a:spAutoFit/>
          </a:bodyPr>
          <a:lstStyle/>
          <a:p>
            <a:pPr algn="l" marL="228600" indent="-228600">
              <a:spcBef>
                <a:spcPts val="0"/>
              </a:spcBef>
              <a:spcAft>
                <a:spcPts val="800"/>
              </a:spcAft>
              <a:buClr>
                <a:srgbClr val="0E2841"/>
              </a:buClr>
              <a:buFont typeface="Arial"/>
              <a:buChar char="•"/>
            </a:pPr>
            <a:r>
              <a:rPr sz="1500" b="0" i="0">
                <a:solidFill>
                  <a:srgbClr val="1A1A1A"/>
                </a:solidFill>
                <a:latin typeface="Arial"/>
              </a:rPr>
              <a:t>Mises en situation chez le client</a:t>
            </a:r>
          </a:p>
          <a:p>
            <a:pPr algn="l" marL="228600" indent="-228600">
              <a:spcBef>
                <a:spcPts val="0"/>
              </a:spcBef>
              <a:spcAft>
                <a:spcPts val="800"/>
              </a:spcAft>
              <a:buClr>
                <a:srgbClr val="0E2841"/>
              </a:buClr>
              <a:buFont typeface="Arial"/>
              <a:buChar char="•"/>
            </a:pPr>
            <a:r>
              <a:rPr sz="1500" b="0" i="0">
                <a:solidFill>
                  <a:srgbClr val="1A1A1A"/>
                </a:solidFill>
                <a:latin typeface="Arial"/>
              </a:rPr>
              <a:t>Four, plaque, lave-linge, lave-vaisselle, sèche-linge, TV</a:t>
            </a:r>
          </a:p>
        </p:txBody>
      </p:sp>
      <p:sp>
        <p:nvSpPr>
          <p:cNvPr id="7" name="Rounded Rectangle 6"/>
          <p:cNvSpPr/>
          <p:nvPr/>
        </p:nvSpPr>
        <p:spPr>
          <a:xfrm>
            <a:off x="4709160" y="1463040"/>
            <a:ext cx="3246120" cy="3200400"/>
          </a:xfrm>
          <a:prstGeom prst="roundRect">
            <a:avLst>
              <a:gd name="adj" fmla="val 6000"/>
            </a:avLst>
          </a:prstGeom>
          <a:solidFill>
            <a:srgbClr val="FFF3D1"/>
          </a:solidFill>
          <a:ln w="19050">
            <a:solidFill>
              <a:srgbClr val="D99100"/>
            </a:solidFill>
          </a:ln>
        </p:spPr>
        <p:txBody>
          <a:bodyPr rtlCol="0" anchor="ctr"/>
          <a:lstStyle/>
          <a:p>
            <a:pPr algn="ctr"/>
          </a:p>
        </p:txBody>
      </p:sp>
      <p:sp>
        <p:nvSpPr>
          <p:cNvPr id="8" name="Oval 7"/>
          <p:cNvSpPr/>
          <p:nvPr/>
        </p:nvSpPr>
        <p:spPr>
          <a:xfrm>
            <a:off x="4855464" y="1572768"/>
            <a:ext cx="310896" cy="310896"/>
          </a:xfrm>
          <a:prstGeom prst="ellipse">
            <a:avLst/>
          </a:prstGeom>
          <a:solidFill>
            <a:srgbClr val="D99100"/>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5257800" y="157276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D99100"/>
                </a:solidFill>
                <a:latin typeface="Arial"/>
              </a:rPr>
              <a:t>1 OU PLUSIEURS RÉPONSES</a:t>
            </a:r>
          </a:p>
        </p:txBody>
      </p:sp>
      <p:sp>
        <p:nvSpPr>
          <p:cNvPr id="10" name="TextBox 9"/>
          <p:cNvSpPr txBox="1"/>
          <p:nvPr/>
        </p:nvSpPr>
        <p:spPr>
          <a:xfrm>
            <a:off x="4892040" y="1993392"/>
            <a:ext cx="2880360" cy="2578608"/>
          </a:xfrm>
          <a:prstGeom prst="rect">
            <a:avLst/>
          </a:prstGeom>
          <a:noFill/>
        </p:spPr>
        <p:txBody>
          <a:bodyPr wrap="square" lIns="0" rIns="0" tIns="0" bIns="0" anchor="t">
            <a:spAutoFit/>
          </a:bodyPr>
          <a:lstStyle/>
          <a:p>
            <a:pPr algn="l" marL="228600" indent="-228600">
              <a:spcBef>
                <a:spcPts val="0"/>
              </a:spcBef>
              <a:spcAft>
                <a:spcPts val="800"/>
              </a:spcAft>
              <a:buClr>
                <a:srgbClr val="D99100"/>
              </a:buClr>
              <a:buFont typeface="Arial"/>
              <a:buChar char="•"/>
            </a:pPr>
            <a:r>
              <a:rPr sz="1500" b="0" i="0">
                <a:solidFill>
                  <a:srgbClr val="1A1A1A"/>
                </a:solidFill>
                <a:latin typeface="Arial"/>
              </a:rPr>
              <a:t>La consigne l'indique à chaque question</a:t>
            </a:r>
          </a:p>
          <a:p>
            <a:pPr algn="l" marL="228600" indent="-228600">
              <a:spcBef>
                <a:spcPts val="0"/>
              </a:spcBef>
              <a:spcAft>
                <a:spcPts val="800"/>
              </a:spcAft>
              <a:buClr>
                <a:srgbClr val="D99100"/>
              </a:buClr>
              <a:buFont typeface="Arial"/>
              <a:buChar char="•"/>
            </a:pPr>
            <a:r>
              <a:rPr sz="1500" b="0" i="0">
                <a:solidFill>
                  <a:srgbClr val="1A1A1A"/>
                </a:solidFill>
                <a:latin typeface="Arial"/>
              </a:rPr>
              <a:t>Pour les questions à choix multiples : cochez, puis cliquez sur « Valider »</a:t>
            </a:r>
          </a:p>
        </p:txBody>
      </p:sp>
      <p:sp>
        <p:nvSpPr>
          <p:cNvPr id="11" name="Rounded Rectangle 10"/>
          <p:cNvSpPr/>
          <p:nvPr/>
        </p:nvSpPr>
        <p:spPr>
          <a:xfrm>
            <a:off x="8138160" y="1463040"/>
            <a:ext cx="3246120" cy="320040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12" name="Oval 11"/>
          <p:cNvSpPr/>
          <p:nvPr/>
        </p:nvSpPr>
        <p:spPr>
          <a:xfrm>
            <a:off x="8284464" y="157276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8686800" y="1572768"/>
            <a:ext cx="256032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SEUIL : 80 %</a:t>
            </a:r>
          </a:p>
        </p:txBody>
      </p:sp>
      <p:sp>
        <p:nvSpPr>
          <p:cNvPr id="14" name="TextBox 13"/>
          <p:cNvSpPr txBox="1"/>
          <p:nvPr/>
        </p:nvSpPr>
        <p:spPr>
          <a:xfrm>
            <a:off x="8321040" y="1993392"/>
            <a:ext cx="2880360" cy="2578608"/>
          </a:xfrm>
          <a:prstGeom prst="rect">
            <a:avLst/>
          </a:prstGeom>
          <a:noFill/>
        </p:spPr>
        <p:txBody>
          <a:bodyPr wrap="square" lIns="0" rIns="0" tIns="0" bIns="0" anchor="t">
            <a:spAutoFit/>
          </a:bodyPr>
          <a:lstStyle/>
          <a:p>
            <a:pPr algn="l" marL="228600" indent="-228600">
              <a:spcBef>
                <a:spcPts val="0"/>
              </a:spcBef>
              <a:spcAft>
                <a:spcPts val="800"/>
              </a:spcAft>
              <a:buClr>
                <a:srgbClr val="1B7F3B"/>
              </a:buClr>
              <a:buFont typeface="Arial"/>
              <a:buChar char="•"/>
            </a:pPr>
            <a:r>
              <a:rPr sz="1500" b="1" i="0">
                <a:solidFill>
                  <a:srgbClr val="1A1A1A"/>
                </a:solidFill>
                <a:latin typeface="Arial"/>
              </a:rPr>
              <a:t>8 bonnes réponses sur 10</a:t>
            </a:r>
            <a:r>
              <a:rPr sz="1500" b="0" i="0">
                <a:solidFill>
                  <a:srgbClr val="1A1A1A"/>
                </a:solidFill>
                <a:latin typeface="Arial"/>
              </a:rPr>
              <a:t> pour valider</a:t>
            </a:r>
          </a:p>
          <a:p>
            <a:pPr algn="l" marL="228600" indent="-228600">
              <a:spcBef>
                <a:spcPts val="0"/>
              </a:spcBef>
              <a:spcAft>
                <a:spcPts val="800"/>
              </a:spcAft>
              <a:buClr>
                <a:srgbClr val="1B7F3B"/>
              </a:buClr>
              <a:buFont typeface="Arial"/>
              <a:buChar char="•"/>
            </a:pPr>
            <a:r>
              <a:rPr sz="1500" b="0" i="0">
                <a:solidFill>
                  <a:srgbClr val="1A1A1A"/>
                </a:solidFill>
                <a:latin typeface="Arial"/>
              </a:rPr>
              <a:t>Correction + explication après chaque question</a:t>
            </a:r>
          </a:p>
        </p:txBody>
      </p:sp>
      <p:sp>
        <p:nvSpPr>
          <p:cNvPr id="15" name="Rounded Rectangle 14">
            <a:hlinkClick action="ppaction://hlinksldjump" r:id="rId3"/>
          </p:cNvPr>
          <p:cNvSpPr/>
          <p:nvPr/>
        </p:nvSpPr>
        <p:spPr>
          <a:xfrm>
            <a:off x="8412480" y="5303520"/>
            <a:ext cx="2194560" cy="68580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700" b="1" i="0">
                <a:solidFill>
                  <a:srgbClr val="FFFFFF"/>
                </a:solidFill>
                <a:latin typeface="Arial"/>
              </a:rPr>
              <a:t>Commencer  ›</a:t>
            </a:r>
          </a:p>
        </p:txBody>
      </p:sp>
      <p:sp>
        <p:nvSpPr>
          <p:cNvPr id="16" name="TextBox 15"/>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7" name="TextBox 16"/>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1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Lave-linge. Vous mesurez : phase↔neutre 230 V, phase↔terre 200 V, neutre↔terre 30 V. Que faites-vous ?</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Je branche : il y a bien 230 V</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Je ne branche pas : mauvaise terre. J'oriente le client vers un électricien et je notifie dans le dossier Nomad</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Je branche et je préviens le client après</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Je change la prise moi-même</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34 /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1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Lave-linge. Vous mesurez : phase↔neutre 230 V, phase↔terre 200 V, neutre↔terre 30 V. Que faites-vous ?</a:t>
            </a:r>
          </a:p>
        </p:txBody>
      </p:sp>
      <p:sp>
        <p:nvSpPr>
          <p:cNvPr id="4" name="Rounded Rectangle 3"/>
          <p:cNvSpPr/>
          <p:nvPr/>
        </p:nvSpPr>
        <p:spPr>
          <a:xfrm>
            <a:off x="1280160" y="2103120"/>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A   Je branche : il y a bien 230 V</a:t>
            </a:r>
          </a:p>
        </p:txBody>
      </p:sp>
      <p:sp>
        <p:nvSpPr>
          <p:cNvPr id="5" name="Rounded Rectangle 4"/>
          <p:cNvSpPr/>
          <p:nvPr/>
        </p:nvSpPr>
        <p:spPr>
          <a:xfrm>
            <a:off x="1280160" y="2724912"/>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B   Je ne branche pas : mauvaise terre. J'oriente le client vers un électricien et je notifie dans le dossier Nomad</a:t>
            </a:r>
          </a:p>
        </p:txBody>
      </p:sp>
      <p:sp>
        <p:nvSpPr>
          <p:cNvPr id="6" name="Rounded Rectangle 5"/>
          <p:cNvSpPr/>
          <p:nvPr/>
        </p:nvSpPr>
        <p:spPr>
          <a:xfrm>
            <a:off x="1280160" y="3346704"/>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C   Je branche et je préviens le client après</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Je change la prise moi-même</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Plus de 5 V entre neutre et terre = mauvaise terre. On ne branche pas, le client fait appel à un électricien et on notifie dans le dossier Nomad.</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35 / 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2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Four à installer. Quelles actions relèvent de vos limites d'intervention ?</a:t>
            </a:r>
          </a:p>
        </p:txBody>
      </p:sp>
      <p:sp>
        <p:nvSpPr>
          <p:cNvPr id="4" name="Rounded Rectangle 3"/>
          <p:cNvSpPr/>
          <p:nvPr/>
        </p:nvSpPr>
        <p:spPr>
          <a:xfrm>
            <a:off x="1280160" y="2468880"/>
            <a:ext cx="3291840" cy="329184"/>
          </a:xfrm>
          <a:prstGeom prst="roundRect">
            <a:avLst>
              <a:gd name="adj" fmla="val 50000"/>
            </a:avLst>
          </a:prstGeom>
          <a:solidFill>
            <a:srgbClr val="D99100"/>
          </a:solidFill>
          <a:ln w="12700">
            <a:solidFill>
              <a:srgbClr val="D99100"/>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Plusieurs bonnes réponses</a:t>
            </a:r>
          </a:p>
        </p:txBody>
      </p:sp>
      <p:sp>
        <p:nvSpPr>
          <p:cNvPr id="5" name="Rounded Rectangle 4"/>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A   Contrôler la prise avec un VAT</a:t>
            </a:r>
          </a:p>
        </p:txBody>
      </p:sp>
      <p:sp>
        <p:nvSpPr>
          <p:cNvPr id="6" name="Rounded Rectangle 5"/>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B   Lire l'étiquette du disjoncteur au tableau</a:t>
            </a:r>
          </a:p>
        </p:txBody>
      </p:sp>
      <p:sp>
        <p:nvSpPr>
          <p:cNvPr id="7" name="Rounded Rectangle 6"/>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C   Remplacer le disjoncteur par un calibre adapté</a:t>
            </a:r>
          </a:p>
        </p:txBody>
      </p:sp>
      <p:sp>
        <p:nvSpPr>
          <p:cNvPr id="8" name="Rounded Rectangle 7"/>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D   Photographier une anomalie constatée</a:t>
            </a:r>
          </a:p>
        </p:txBody>
      </p:sp>
      <p:sp>
        <p:nvSpPr>
          <p:cNvPr id="9" name="Rounded Rectangle 8">
            <a:hlinkClick action="ppaction://hlinksldjump" r:id="rId3"/>
          </p:cNvPr>
          <p:cNvSpPr/>
          <p:nvPr/>
        </p:nvSpPr>
        <p:spPr>
          <a:xfrm>
            <a:off x="8412480" y="5806440"/>
            <a:ext cx="2011680" cy="50292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Valider  ›</a:t>
            </a:r>
          </a:p>
        </p:txBody>
      </p:sp>
      <p:sp>
        <p:nvSpPr>
          <p:cNvPr id="10" name="TextBox 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1" name="TextBox 1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36 / 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2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Four à installer. Quelles actions relèvent de vos limites d'intervention ?</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Contrôler la prise avec un VAT</a:t>
            </a:r>
          </a:p>
        </p:txBody>
      </p:sp>
      <p:sp>
        <p:nvSpPr>
          <p:cNvPr id="5" name="Rounded Rectangle 4"/>
          <p:cNvSpPr/>
          <p:nvPr/>
        </p:nvSpPr>
        <p:spPr>
          <a:xfrm>
            <a:off x="1280160" y="2724912"/>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B   Lire l'étiquette du disjoncteur au tableau</a:t>
            </a:r>
          </a:p>
        </p:txBody>
      </p:sp>
      <p:sp>
        <p:nvSpPr>
          <p:cNvPr id="6" name="Rounded Rectangle 5"/>
          <p:cNvSpPr/>
          <p:nvPr/>
        </p:nvSpPr>
        <p:spPr>
          <a:xfrm>
            <a:off x="1280160" y="3346704"/>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C   Remplacer le disjoncteur par un calibre adapté</a:t>
            </a:r>
          </a:p>
        </p:txBody>
      </p:sp>
      <p:sp>
        <p:nvSpPr>
          <p:cNvPr id="7" name="Rounded Rectangle 6"/>
          <p:cNvSpPr/>
          <p:nvPr/>
        </p:nvSpPr>
        <p:spPr>
          <a:xfrm>
            <a:off x="1280160" y="3968496"/>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D   Photographier une anomalie constatée</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Vous contrôlez, repérez et signalez. Remplacer un disjoncteur modifie l'installation : c'est le travail d'un électricien.</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37 /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3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Lave-vaisselle. La prise voisine alimente aussi un téléviseur et une cafetière, via une multiprise. Que faites-vous ?</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Je branche : la prise est derrière le lave-vaisselle</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Je branche sur la multiprise pour aller plus vite</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Je ne branche pas : multiprise interdite et prise probablement confort. J'oriente le client et je notifie dans le dossier Nomad</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Je débranche la cafetière et je branche</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3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Lave-vaisselle. La prise voisine alimente aussi un téléviseur et une cafetière, via une multiprise. Que faites-vous ?</a:t>
            </a:r>
          </a:p>
        </p:txBody>
      </p:sp>
      <p:sp>
        <p:nvSpPr>
          <p:cNvPr id="4" name="Rounded Rectangle 3"/>
          <p:cNvSpPr/>
          <p:nvPr/>
        </p:nvSpPr>
        <p:spPr>
          <a:xfrm>
            <a:off x="1280160" y="2103120"/>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A   Je branche : la prise est derrière le lave-vaisselle</a:t>
            </a:r>
          </a:p>
        </p:txBody>
      </p:sp>
      <p:sp>
        <p:nvSpPr>
          <p:cNvPr id="5" name="Rounded Rectangle 4"/>
          <p:cNvSpPr/>
          <p:nvPr/>
        </p:nvSpPr>
        <p:spPr>
          <a:xfrm>
            <a:off x="1280160" y="2724912"/>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B   Je branche sur la multiprise pour aller plus vite</a:t>
            </a:r>
          </a:p>
        </p:txBody>
      </p:sp>
      <p:sp>
        <p:nvSpPr>
          <p:cNvPr id="6" name="Rounded Rectangle 5"/>
          <p:cNvSpPr/>
          <p:nvPr/>
        </p:nvSpPr>
        <p:spPr>
          <a:xfrm>
            <a:off x="1280160" y="3346704"/>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C   Je ne branche pas : multiprise interdite et prise probablement confort. J'oriente le client et je notifie dans le dossier Nomad</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Je débranche la cafetière et je branche</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Multiprise, triplette et rallonge sont interdites pour un GEM de classe I. Plusieurs usages sur la ligne = suspicion de prise confort : doute = refus.</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39 / 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4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Plaque de cuisson : ligne 6 mm² protégée en 32 A, appareil avec fiche 16 A. Le client veut une prise 16 A tout de suite.</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Je pose une prise femelle 16 A : 6 mm² suffit</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Je remplace le disjoncteur 32 A par un 16 A</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Je ne pose pas la prise : le client fait adapter la protection par un électricien, je notifie dans le dossier Nomad</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Je coupe des brins pour entrer dans la prise</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40 / 54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4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Plaque de cuisson : ligne 6 mm² protégée en 32 A, appareil avec fiche 16 A. Le client veut une prise 16 A tout de suite.</a:t>
            </a:r>
          </a:p>
        </p:txBody>
      </p:sp>
      <p:sp>
        <p:nvSpPr>
          <p:cNvPr id="4" name="Rounded Rectangle 3"/>
          <p:cNvSpPr/>
          <p:nvPr/>
        </p:nvSpPr>
        <p:spPr>
          <a:xfrm>
            <a:off x="1280160" y="2103120"/>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A   Je pose une prise femelle 16 A : 6 mm² suffit</a:t>
            </a:r>
          </a:p>
        </p:txBody>
      </p:sp>
      <p:sp>
        <p:nvSpPr>
          <p:cNvPr id="5" name="Rounded Rectangle 4"/>
          <p:cNvSpPr/>
          <p:nvPr/>
        </p:nvSpPr>
        <p:spPr>
          <a:xfrm>
            <a:off x="1280160" y="2724912"/>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B   Je remplace le disjoncteur 32 A par un 16 A</a:t>
            </a:r>
          </a:p>
        </p:txBody>
      </p:sp>
      <p:sp>
        <p:nvSpPr>
          <p:cNvPr id="6" name="Rounded Rectangle 5"/>
          <p:cNvSpPr/>
          <p:nvPr/>
        </p:nvSpPr>
        <p:spPr>
          <a:xfrm>
            <a:off x="1280160" y="3346704"/>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C   Je ne pose pas la prise : le client fait adapter la protection par un électricien, je notifie dans le dossier Nomad</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Je coupe des brins pour entrer dans la prise</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Le blocage est la protection 32 A, pas la section. Vous ne modifiez pas la protection : le client fait intervenir un électricien.</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41 / 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5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Que signifie « être habilité BS » pour un livreur-installateur ?</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Savoir travailler en sécurité face au risque électrique ; ce n'est pas une formation de métier</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Pouvoir modifier le tableau électrique du client</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Être électricien</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Pouvoir remplacer les disjoncteurs</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5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Que signifie « être habilité BS » pour un livreur-installateur ?</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Savoir travailler en sécurité face au risque électrique ; ce n'est pas une formation de métier</a:t>
            </a:r>
          </a:p>
        </p:txBody>
      </p:sp>
      <p:sp>
        <p:nvSpPr>
          <p:cNvPr id="5" name="Rounded Rectangle 4"/>
          <p:cNvSpPr/>
          <p:nvPr/>
        </p:nvSpPr>
        <p:spPr>
          <a:xfrm>
            <a:off x="1280160" y="2724912"/>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B   Pouvoir modifier le tableau électrique du client</a:t>
            </a:r>
          </a:p>
        </p:txBody>
      </p:sp>
      <p:sp>
        <p:nvSpPr>
          <p:cNvPr id="6" name="Rounded Rectangle 5"/>
          <p:cNvSpPr/>
          <p:nvPr/>
        </p:nvSpPr>
        <p:spPr>
          <a:xfrm>
            <a:off x="1280160" y="3346704"/>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C   Être électricien</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Pouvoir remplacer les disjoncteurs</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L'habilitation atteste la capacité à travailler en sécurité. Elle ne remplace pas la compétence métier et ne fait pas de vous un électricien.</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43 / 54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6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Table de cuisson : les fils portent des bagues (ferrules) qui ne rentrent pas dans le bornier de la prise. Cochez toutes les actions INTERDITES.</a:t>
            </a:r>
          </a:p>
        </p:txBody>
      </p:sp>
      <p:sp>
        <p:nvSpPr>
          <p:cNvPr id="4" name="Rounded Rectangle 3"/>
          <p:cNvSpPr/>
          <p:nvPr/>
        </p:nvSpPr>
        <p:spPr>
          <a:xfrm>
            <a:off x="1280160" y="2468880"/>
            <a:ext cx="3291840" cy="329184"/>
          </a:xfrm>
          <a:prstGeom prst="roundRect">
            <a:avLst>
              <a:gd name="adj" fmla="val 50000"/>
            </a:avLst>
          </a:prstGeom>
          <a:solidFill>
            <a:srgbClr val="D99100"/>
          </a:solidFill>
          <a:ln w="12700">
            <a:solidFill>
              <a:srgbClr val="D99100"/>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Plusieurs bonnes réponses</a:t>
            </a:r>
          </a:p>
        </p:txBody>
      </p:sp>
      <p:sp>
        <p:nvSpPr>
          <p:cNvPr id="5" name="Rounded Rectangle 4"/>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A   Couper ou retirer la bague</a:t>
            </a:r>
          </a:p>
        </p:txBody>
      </p:sp>
      <p:sp>
        <p:nvSpPr>
          <p:cNvPr id="6" name="Rounded Rectangle 5"/>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B   Diminuer la section du conducteur</a:t>
            </a:r>
          </a:p>
        </p:txBody>
      </p:sp>
      <p:sp>
        <p:nvSpPr>
          <p:cNvPr id="7" name="Rounded Rectangle 6"/>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C   Forcer le raccordement</a:t>
            </a:r>
          </a:p>
        </p:txBody>
      </p:sp>
      <p:sp>
        <p:nvSpPr>
          <p:cNvPr id="8" name="Rounded Rectangle 7"/>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D   Utiliser du matériel compatible ou signaler la non-conformité</a:t>
            </a:r>
          </a:p>
        </p:txBody>
      </p:sp>
      <p:sp>
        <p:nvSpPr>
          <p:cNvPr id="9" name="Rounded Rectangle 8">
            <a:hlinkClick action="ppaction://hlinksldjump" r:id="rId3"/>
          </p:cNvPr>
          <p:cNvSpPr/>
          <p:nvPr/>
        </p:nvSpPr>
        <p:spPr>
          <a:xfrm>
            <a:off x="8412480" y="5806440"/>
            <a:ext cx="2011680" cy="50292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Valider  ›</a:t>
            </a:r>
          </a:p>
        </p:txBody>
      </p:sp>
      <p:sp>
        <p:nvSpPr>
          <p:cNvPr id="10" name="TextBox 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1" name="TextBox 1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44 / 54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6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Table de cuisson : les fils portent des bagues (ferrules) qui ne rentrent pas dans le bornier de la prise. Cochez toutes les actions INTERDITES.</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Couper ou retirer la bague</a:t>
            </a:r>
          </a:p>
        </p:txBody>
      </p:sp>
      <p:sp>
        <p:nvSpPr>
          <p:cNvPr id="5" name="Rounded Rectangle 4"/>
          <p:cNvSpPr/>
          <p:nvPr/>
        </p:nvSpPr>
        <p:spPr>
          <a:xfrm>
            <a:off x="1280160" y="2724912"/>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B   Diminuer la section du conducteur</a:t>
            </a:r>
          </a:p>
        </p:txBody>
      </p:sp>
      <p:sp>
        <p:nvSpPr>
          <p:cNvPr id="6" name="Rounded Rectangle 5"/>
          <p:cNvSpPr/>
          <p:nvPr/>
        </p:nvSpPr>
        <p:spPr>
          <a:xfrm>
            <a:off x="1280160" y="3346704"/>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C   Forcer le raccordement</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Utiliser du matériel compatible ou signaler la non-conformité</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Il est interdit de couper la bague, de diminuer la section ou de forcer. La bonne pratique : matériel compatible, sinon signalement.</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45 / 54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7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Chez un client, vous voyez des dominos. Quelles affirmations sont exactes ?</a:t>
            </a:r>
          </a:p>
        </p:txBody>
      </p:sp>
      <p:sp>
        <p:nvSpPr>
          <p:cNvPr id="4" name="Rounded Rectangle 3"/>
          <p:cNvSpPr/>
          <p:nvPr/>
        </p:nvSpPr>
        <p:spPr>
          <a:xfrm>
            <a:off x="1280160" y="2468880"/>
            <a:ext cx="3291840" cy="329184"/>
          </a:xfrm>
          <a:prstGeom prst="roundRect">
            <a:avLst>
              <a:gd name="adj" fmla="val 50000"/>
            </a:avLst>
          </a:prstGeom>
          <a:solidFill>
            <a:srgbClr val="D99100"/>
          </a:solidFill>
          <a:ln w="12700">
            <a:solidFill>
              <a:srgbClr val="D99100"/>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Plusieurs bonnes réponses</a:t>
            </a:r>
          </a:p>
        </p:txBody>
      </p:sp>
      <p:sp>
        <p:nvSpPr>
          <p:cNvPr id="5" name="Rounded Rectangle 4"/>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A   Les dominos sont tolérés s'ils sont adaptés à la section, bien serrés et accessibles</a:t>
            </a:r>
          </a:p>
        </p:txBody>
      </p:sp>
      <p:sp>
        <p:nvSpPr>
          <p:cNvPr id="6" name="Rounded Rectangle 5"/>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B   Les connecteurs Wago d'origine sont fortement préconisés</a:t>
            </a:r>
          </a:p>
        </p:txBody>
      </p:sp>
      <p:sp>
        <p:nvSpPr>
          <p:cNvPr id="7" name="Rounded Rectangle 6"/>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C   Un Wago convient pour toutes les sections</a:t>
            </a:r>
          </a:p>
        </p:txBody>
      </p:sp>
      <p:sp>
        <p:nvSpPr>
          <p:cNvPr id="8" name="Rounded Rectangle 7"/>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D   Des fils torsadés avec du ruban adhésif sont acceptables</a:t>
            </a:r>
          </a:p>
        </p:txBody>
      </p:sp>
      <p:sp>
        <p:nvSpPr>
          <p:cNvPr id="9" name="Rounded Rectangle 8">
            <a:hlinkClick action="ppaction://hlinksldjump" r:id="rId3"/>
          </p:cNvPr>
          <p:cNvSpPr/>
          <p:nvPr/>
        </p:nvSpPr>
        <p:spPr>
          <a:xfrm>
            <a:off x="8412480" y="5806440"/>
            <a:ext cx="2011680" cy="50292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Valider  ›</a:t>
            </a:r>
          </a:p>
        </p:txBody>
      </p:sp>
      <p:sp>
        <p:nvSpPr>
          <p:cNvPr id="10" name="TextBox 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1" name="TextBox 1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7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Chez un client, vous voyez des dominos. Quelles affirmations sont exactes ?</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Les dominos sont tolérés s'ils sont adaptés à la section, bien serrés et accessibles</a:t>
            </a:r>
          </a:p>
        </p:txBody>
      </p:sp>
      <p:sp>
        <p:nvSpPr>
          <p:cNvPr id="5" name="Rounded Rectangle 4"/>
          <p:cNvSpPr/>
          <p:nvPr/>
        </p:nvSpPr>
        <p:spPr>
          <a:xfrm>
            <a:off x="1280160" y="2724912"/>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B   Les connecteurs Wago d'origine sont fortement préconisés</a:t>
            </a:r>
          </a:p>
        </p:txBody>
      </p:sp>
      <p:sp>
        <p:nvSpPr>
          <p:cNvPr id="6" name="Rounded Rectangle 5"/>
          <p:cNvSpPr/>
          <p:nvPr/>
        </p:nvSpPr>
        <p:spPr>
          <a:xfrm>
            <a:off x="1280160" y="3346704"/>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C   Un Wago convient pour toutes les sections</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Des fils torsadés avec du ruban adhésif sont acceptables</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Toujours vérifier la section admise. Les épissures (fils torsadés + ruban) sont interdites, et un Wago n'est pas compatible avec toutes les sections.</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47 / 54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8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Plaque livrée pour un raccordement 6 mm² monophasé ; l'installation du client est en triphasé (câble 5 × 2,5 mm²). Que faites-vous ?</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J'adapte le couplage de l'appareil en triphasé</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Je coupe des brins pour entrer dans le bornier</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Je constate l'incompatibilité, j'informe le client, je notifie dans le dossier Nomad et j'applique la procédure</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Je branche sur une seule phase du câble 2,5 mm²</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48 / 54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8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Plaque livrée pour un raccordement 6 mm² monophasé ; l'installation du client est en triphasé (câble 5 × 2,5 mm²). Que faites-vous ?</a:t>
            </a:r>
          </a:p>
        </p:txBody>
      </p:sp>
      <p:sp>
        <p:nvSpPr>
          <p:cNvPr id="4" name="Rounded Rectangle 3"/>
          <p:cNvSpPr/>
          <p:nvPr/>
        </p:nvSpPr>
        <p:spPr>
          <a:xfrm>
            <a:off x="1280160" y="2103120"/>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A   J'adapte le couplage de l'appareil en triphasé</a:t>
            </a:r>
          </a:p>
        </p:txBody>
      </p:sp>
      <p:sp>
        <p:nvSpPr>
          <p:cNvPr id="5" name="Rounded Rectangle 4"/>
          <p:cNvSpPr/>
          <p:nvPr/>
        </p:nvSpPr>
        <p:spPr>
          <a:xfrm>
            <a:off x="1280160" y="2724912"/>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B   Je coupe des brins pour entrer dans le bornier</a:t>
            </a:r>
          </a:p>
        </p:txBody>
      </p:sp>
      <p:sp>
        <p:nvSpPr>
          <p:cNvPr id="6" name="Rounded Rectangle 5"/>
          <p:cNvSpPr/>
          <p:nvPr/>
        </p:nvSpPr>
        <p:spPr>
          <a:xfrm>
            <a:off x="1280160" y="3346704"/>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C   Je constate l'incompatibilité, j'informe le client, je notifie dans le dossier Nomad et j'applique la procédure</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Je branche sur une seule phase du câble 2,5 mm²</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Vous ne modifiez ni le câblage, ni la section, ni le couplage. Vous constatez, informez, notifiez dans le dossier Nomad.</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49 / 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9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L'appareil est livré avec un câble sans fiche. Si l'entreprise autorise la pose d'une fiche mâle, quelle méthode respecte les règles de l'art ?</a:t>
            </a:r>
          </a:p>
        </p:txBody>
      </p:sp>
      <p:sp>
        <p:nvSpPr>
          <p:cNvPr id="4" name="Rounded Rectangle 3"/>
          <p:cNvSpPr/>
          <p:nvPr/>
        </p:nvSpPr>
        <p:spPr>
          <a:xfrm>
            <a:off x="1280160" y="2468880"/>
            <a:ext cx="2377440" cy="329184"/>
          </a:xfrm>
          <a:prstGeom prst="roundRect">
            <a:avLst>
              <a:gd name="adj" fmla="val 50000"/>
            </a:avLst>
          </a:prstGeom>
          <a:solidFill>
            <a:srgbClr val="0E2841"/>
          </a:solidFill>
          <a:ln w="12700">
            <a:solidFill>
              <a:srgbClr val="0E2841"/>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Une seule bonne réponse</a:t>
            </a:r>
          </a:p>
        </p:txBody>
      </p:sp>
      <p:sp>
        <p:nvSpPr>
          <p:cNvPr id="5" name="Rounded Rectangle 4">
            <a:hlinkClick action="ppaction://hlinksldjump" r:id="rId3"/>
          </p:cNvPr>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A   Dénuder sans couper de brins, poser un embout adapté à la section, sertir avec une pince appropriée</a:t>
            </a:r>
          </a:p>
        </p:txBody>
      </p:sp>
      <p:sp>
        <p:nvSpPr>
          <p:cNvPr id="6" name="Rounded Rectangle 5">
            <a:hlinkClick action="ppaction://hlinksldjump" r:id="rId3"/>
          </p:cNvPr>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B   Tordre les brins et serrer la vis</a:t>
            </a:r>
          </a:p>
        </p:txBody>
      </p:sp>
      <p:sp>
        <p:nvSpPr>
          <p:cNvPr id="7" name="Rounded Rectangle 6">
            <a:hlinkClick action="ppaction://hlinksldjump" r:id="rId3"/>
          </p:cNvPr>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C   Couper des brins pour entrer dans la fiche</a:t>
            </a:r>
          </a:p>
        </p:txBody>
      </p:sp>
      <p:sp>
        <p:nvSpPr>
          <p:cNvPr id="8" name="Rounded Rectangle 7">
            <a:hlinkClick action="ppaction://hlinksldjump" r:id="rId3"/>
          </p:cNvPr>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D   Raccorder sans embout si le fil est souple</a:t>
            </a:r>
          </a:p>
        </p:txBody>
      </p:sp>
      <p:sp>
        <p:nvSpPr>
          <p:cNvPr id="9" name="TextBox 8"/>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0" name="TextBox 9"/>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9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L'appareil est livré avec un câble sans fiche. Si l'entreprise autorise la pose d'une fiche mâle, quelle méthode respecte les règles de l'art ?</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Dénuder sans couper de brins, poser un embout adapté à la section, sertir avec une pince appropriée</a:t>
            </a:r>
          </a:p>
        </p:txBody>
      </p:sp>
      <p:sp>
        <p:nvSpPr>
          <p:cNvPr id="5" name="Rounded Rectangle 4"/>
          <p:cNvSpPr/>
          <p:nvPr/>
        </p:nvSpPr>
        <p:spPr>
          <a:xfrm>
            <a:off x="1280160" y="2724912"/>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B   Tordre les brins et serrer la vis</a:t>
            </a:r>
          </a:p>
        </p:txBody>
      </p:sp>
      <p:sp>
        <p:nvSpPr>
          <p:cNvPr id="6" name="Rounded Rectangle 5"/>
          <p:cNvSpPr/>
          <p:nvPr/>
        </p:nvSpPr>
        <p:spPr>
          <a:xfrm>
            <a:off x="1280160" y="3346704"/>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C   Couper des brins pour entrer dans la fiche</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Raccorder sans embout si le fil est souple</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Dénudage soigné, embout de câblage adapté, sertissage à la pince appropriée. Sans embout, le raccordement n'est pas conforme.</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Question suivante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51 / 54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Question 10 / 10</a:t>
            </a:r>
          </a:p>
        </p:txBody>
      </p:sp>
      <p:sp>
        <p:nvSpPr>
          <p:cNvPr id="3" name="TextBox 2"/>
          <p:cNvSpPr txBox="1"/>
          <p:nvPr/>
        </p:nvSpPr>
        <p:spPr>
          <a:xfrm>
            <a:off x="1280160" y="1325880"/>
            <a:ext cx="10149840" cy="1097280"/>
          </a:xfrm>
          <a:prstGeom prst="rect">
            <a:avLst/>
          </a:prstGeom>
          <a:noFill/>
        </p:spPr>
        <p:txBody>
          <a:bodyPr wrap="square" lIns="0" rIns="0" tIns="0" bIns="0" anchor="ctr">
            <a:spAutoFit/>
          </a:bodyPr>
          <a:lstStyle/>
          <a:p>
            <a:pPr algn="l">
              <a:spcBef>
                <a:spcPts val="0"/>
              </a:spcBef>
              <a:spcAft>
                <a:spcPts val="400"/>
              </a:spcAft>
            </a:pPr>
            <a:r>
              <a:rPr sz="1900" b="1" i="0">
                <a:solidFill>
                  <a:srgbClr val="1A1A1A"/>
                </a:solidFill>
                <a:latin typeface="Arial"/>
              </a:rPr>
              <a:t>Pot cassé : vous ne pouvez pas brancher le lave-linge. Que faites-vous avant de partir ?</a:t>
            </a:r>
          </a:p>
        </p:txBody>
      </p:sp>
      <p:sp>
        <p:nvSpPr>
          <p:cNvPr id="4" name="Rounded Rectangle 3"/>
          <p:cNvSpPr/>
          <p:nvPr/>
        </p:nvSpPr>
        <p:spPr>
          <a:xfrm>
            <a:off x="1280160" y="2468880"/>
            <a:ext cx="3291840" cy="329184"/>
          </a:xfrm>
          <a:prstGeom prst="roundRect">
            <a:avLst>
              <a:gd name="adj" fmla="val 50000"/>
            </a:avLst>
          </a:prstGeom>
          <a:solidFill>
            <a:srgbClr val="D99100"/>
          </a:solidFill>
          <a:ln w="12700">
            <a:solidFill>
              <a:srgbClr val="D99100"/>
            </a:solidFill>
          </a:ln>
        </p:spPr>
        <p:txBody>
          <a:bodyPr rtlCol="0" anchor="ctr" lIns="45720" rIns="45720" tIns="27432" bIns="27432" wrap="square"/>
          <a:lstStyle/>
          <a:p>
            <a:pPr algn="ctr">
              <a:spcBef>
                <a:spcPts val="0"/>
              </a:spcBef>
              <a:spcAft>
                <a:spcPts val="200"/>
              </a:spcAft>
            </a:pPr>
            <a:r>
              <a:rPr sz="1200" b="1" i="0">
                <a:solidFill>
                  <a:srgbClr val="FFFFFF"/>
                </a:solidFill>
                <a:latin typeface="Arial"/>
              </a:rPr>
              <a:t>Plusieurs bonnes réponses</a:t>
            </a:r>
          </a:p>
        </p:txBody>
      </p:sp>
      <p:sp>
        <p:nvSpPr>
          <p:cNvPr id="5" name="Rounded Rectangle 4"/>
          <p:cNvSpPr/>
          <p:nvPr/>
        </p:nvSpPr>
        <p:spPr>
          <a:xfrm>
            <a:off x="1280160" y="288036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A   Je laisse l'appareil débranché</a:t>
            </a:r>
          </a:p>
        </p:txBody>
      </p:sp>
      <p:sp>
        <p:nvSpPr>
          <p:cNvPr id="6" name="Rounded Rectangle 5"/>
          <p:cNvSpPr/>
          <p:nvPr/>
        </p:nvSpPr>
        <p:spPr>
          <a:xfrm>
            <a:off x="1280160" y="361188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B   Je mentionne le branchement non effectué dans le dossier Nomad</a:t>
            </a:r>
          </a:p>
        </p:txBody>
      </p:sp>
      <p:sp>
        <p:nvSpPr>
          <p:cNvPr id="7" name="Rounded Rectangle 6"/>
          <p:cNvSpPr/>
          <p:nvPr/>
        </p:nvSpPr>
        <p:spPr>
          <a:xfrm>
            <a:off x="1280160" y="434340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C   Je photographie l'anomalie</a:t>
            </a:r>
          </a:p>
        </p:txBody>
      </p:sp>
      <p:sp>
        <p:nvSpPr>
          <p:cNvPr id="8" name="Rounded Rectangle 7"/>
          <p:cNvSpPr/>
          <p:nvPr/>
        </p:nvSpPr>
        <p:spPr>
          <a:xfrm>
            <a:off x="1280160" y="5074920"/>
            <a:ext cx="9509760" cy="640080"/>
          </a:xfrm>
          <a:prstGeom prst="roundRect">
            <a:avLst>
              <a:gd name="adj" fmla="val 18000"/>
            </a:avLst>
          </a:prstGeom>
          <a:solidFill>
            <a:srgbClr val="FFFFFF"/>
          </a:solidFill>
          <a:ln w="22225">
            <a:solidFill>
              <a:srgbClr val="0E2841"/>
            </a:solidFill>
          </a:ln>
        </p:spPr>
        <p:txBody>
          <a:bodyPr rtlCol="0" anchor="ctr" lIns="182880" rIns="182880" tIns="109728" bIns="109728" wrap="square"/>
          <a:lstStyle/>
          <a:p>
            <a:pPr algn="l">
              <a:spcBef>
                <a:spcPts val="0"/>
              </a:spcBef>
              <a:spcAft>
                <a:spcPts val="200"/>
              </a:spcAft>
            </a:pPr>
            <a:r>
              <a:rPr sz="1500" b="1" i="0">
                <a:solidFill>
                  <a:srgbClr val="1A1A1A"/>
                </a:solidFill>
                <a:latin typeface="Arial"/>
              </a:rPr>
              <a:t>☐   D   Je branche sur une rallonge pour dépanner</a:t>
            </a:r>
          </a:p>
        </p:txBody>
      </p:sp>
      <p:sp>
        <p:nvSpPr>
          <p:cNvPr id="9" name="Rounded Rectangle 8">
            <a:hlinkClick action="ppaction://hlinksldjump" r:id="rId3"/>
          </p:cNvPr>
          <p:cNvSpPr/>
          <p:nvPr/>
        </p:nvSpPr>
        <p:spPr>
          <a:xfrm>
            <a:off x="8412480" y="5806440"/>
            <a:ext cx="2011680" cy="50292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Valider  ›</a:t>
            </a:r>
          </a:p>
        </p:txBody>
      </p:sp>
      <p:sp>
        <p:nvSpPr>
          <p:cNvPr id="10" name="TextBox 9"/>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1" name="TextBox 10"/>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52 /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Correction · question 10 / 10</a:t>
            </a:r>
          </a:p>
        </p:txBody>
      </p:sp>
      <p:sp>
        <p:nvSpPr>
          <p:cNvPr id="3" name="TextBox 2"/>
          <p:cNvSpPr txBox="1"/>
          <p:nvPr/>
        </p:nvSpPr>
        <p:spPr>
          <a:xfrm>
            <a:off x="1280160" y="1280160"/>
            <a:ext cx="10149840" cy="822960"/>
          </a:xfrm>
          <a:prstGeom prst="rect">
            <a:avLst/>
          </a:prstGeom>
          <a:noFill/>
        </p:spPr>
        <p:txBody>
          <a:bodyPr wrap="square" lIns="0" rIns="0" tIns="0" bIns="0" anchor="ctr">
            <a:spAutoFit/>
          </a:bodyPr>
          <a:lstStyle/>
          <a:p>
            <a:pPr algn="l">
              <a:spcBef>
                <a:spcPts val="0"/>
              </a:spcBef>
              <a:spcAft>
                <a:spcPts val="400"/>
              </a:spcAft>
            </a:pPr>
            <a:r>
              <a:rPr sz="1500" b="0" i="0">
                <a:solidFill>
                  <a:srgbClr val="5F5F5F"/>
                </a:solidFill>
                <a:latin typeface="Arial"/>
              </a:rPr>
              <a:t>Pot cassé : vous ne pouvez pas brancher le lave-linge. Que faites-vous avant de partir ?</a:t>
            </a:r>
          </a:p>
        </p:txBody>
      </p:sp>
      <p:sp>
        <p:nvSpPr>
          <p:cNvPr id="4" name="Rounded Rectangle 3"/>
          <p:cNvSpPr/>
          <p:nvPr/>
        </p:nvSpPr>
        <p:spPr>
          <a:xfrm>
            <a:off x="1280160" y="2103120"/>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A   Je laisse l'appareil débranché</a:t>
            </a:r>
          </a:p>
        </p:txBody>
      </p:sp>
      <p:sp>
        <p:nvSpPr>
          <p:cNvPr id="5" name="Rounded Rectangle 4"/>
          <p:cNvSpPr/>
          <p:nvPr/>
        </p:nvSpPr>
        <p:spPr>
          <a:xfrm>
            <a:off x="1280160" y="2724912"/>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B   Je mentionne le branchement non effectué dans le dossier Nomad</a:t>
            </a:r>
          </a:p>
        </p:txBody>
      </p:sp>
      <p:sp>
        <p:nvSpPr>
          <p:cNvPr id="6" name="Rounded Rectangle 5"/>
          <p:cNvSpPr/>
          <p:nvPr/>
        </p:nvSpPr>
        <p:spPr>
          <a:xfrm>
            <a:off x="1280160" y="3346704"/>
            <a:ext cx="9509760" cy="548640"/>
          </a:xfrm>
          <a:prstGeom prst="roundRect">
            <a:avLst>
              <a:gd name="adj" fmla="val 20000"/>
            </a:avLst>
          </a:prstGeom>
          <a:solidFill>
            <a:srgbClr val="E7F4EA"/>
          </a:solidFill>
          <a:ln w="25400">
            <a:solidFill>
              <a:srgbClr val="1B7F3B"/>
            </a:solidFill>
          </a:ln>
        </p:spPr>
        <p:txBody>
          <a:bodyPr rtlCol="0" anchor="ctr" lIns="182880" rIns="182880" tIns="109728" bIns="109728" wrap="square"/>
          <a:lstStyle/>
          <a:p>
            <a:pPr algn="l">
              <a:spcBef>
                <a:spcPts val="0"/>
              </a:spcBef>
              <a:spcAft>
                <a:spcPts val="200"/>
              </a:spcAft>
            </a:pPr>
            <a:r>
              <a:rPr sz="1400" b="1" i="0">
                <a:solidFill>
                  <a:srgbClr val="1B7F3B"/>
                </a:solidFill>
                <a:latin typeface="Arial"/>
              </a:rPr>
              <a:t>✓   C   Je photographie l'anomalie</a:t>
            </a:r>
          </a:p>
        </p:txBody>
      </p:sp>
      <p:sp>
        <p:nvSpPr>
          <p:cNvPr id="7" name="Rounded Rectangle 6"/>
          <p:cNvSpPr/>
          <p:nvPr/>
        </p:nvSpPr>
        <p:spPr>
          <a:xfrm>
            <a:off x="1280160" y="3968496"/>
            <a:ext cx="9509760" cy="548640"/>
          </a:xfrm>
          <a:prstGeom prst="roundRect">
            <a:avLst>
              <a:gd name="adj" fmla="val 20000"/>
            </a:avLst>
          </a:prstGeom>
          <a:solidFill>
            <a:srgbClr val="F3F3F3"/>
          </a:solidFill>
          <a:ln w="12700">
            <a:solidFill>
              <a:srgbClr val="BDBDBD"/>
            </a:solidFill>
          </a:ln>
        </p:spPr>
        <p:txBody>
          <a:bodyPr rtlCol="0" anchor="ctr" lIns="182880" rIns="182880" tIns="109728" bIns="109728" wrap="square"/>
          <a:lstStyle/>
          <a:p>
            <a:pPr algn="l">
              <a:spcBef>
                <a:spcPts val="0"/>
              </a:spcBef>
              <a:spcAft>
                <a:spcPts val="200"/>
              </a:spcAft>
            </a:pPr>
            <a:r>
              <a:rPr sz="1400" b="0" i="0">
                <a:solidFill>
                  <a:srgbClr val="5F5F5F"/>
                </a:solidFill>
                <a:latin typeface="Arial"/>
              </a:rPr>
              <a:t>✕   D   Je branche sur une rallonge pour dépanner</a:t>
            </a:r>
          </a:p>
        </p:txBody>
      </p:sp>
      <p:sp>
        <p:nvSpPr>
          <p:cNvPr id="8" name="Rounded Rectangle 7"/>
          <p:cNvSpPr/>
          <p:nvPr/>
        </p:nvSpPr>
        <p:spPr>
          <a:xfrm>
            <a:off x="1280160" y="4617720"/>
            <a:ext cx="6766560" cy="1371600"/>
          </a:xfrm>
          <a:prstGeom prst="roundRect">
            <a:avLst>
              <a:gd name="adj" fmla="val 6000"/>
            </a:avLst>
          </a:prstGeom>
          <a:solidFill>
            <a:srgbClr val="E4ECF7"/>
          </a:solidFill>
          <a:ln w="19050">
            <a:solidFill>
              <a:srgbClr val="0E2841"/>
            </a:solidFill>
          </a:ln>
        </p:spPr>
        <p:txBody>
          <a:bodyPr rtlCol="0" anchor="ctr"/>
          <a:lstStyle/>
          <a:p>
            <a:pPr algn="ctr"/>
          </a:p>
        </p:txBody>
      </p:sp>
      <p:sp>
        <p:nvSpPr>
          <p:cNvPr id="9" name="Oval 8"/>
          <p:cNvSpPr/>
          <p:nvPr/>
        </p:nvSpPr>
        <p:spPr>
          <a:xfrm>
            <a:off x="1426463" y="4727448"/>
            <a:ext cx="310896" cy="310896"/>
          </a:xfrm>
          <a:prstGeom prst="ellipse">
            <a:avLst/>
          </a:prstGeom>
          <a:solidFill>
            <a:srgbClr val="0E2841"/>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0" name="TextBox 9"/>
          <p:cNvSpPr txBox="1"/>
          <p:nvPr/>
        </p:nvSpPr>
        <p:spPr>
          <a:xfrm>
            <a:off x="1828800" y="4727448"/>
            <a:ext cx="608076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0E2841"/>
                </a:solidFill>
                <a:latin typeface="Arial"/>
              </a:rPr>
              <a:t>POURQUOI ?</a:t>
            </a:r>
          </a:p>
        </p:txBody>
      </p:sp>
      <p:sp>
        <p:nvSpPr>
          <p:cNvPr id="11" name="TextBox 10"/>
          <p:cNvSpPr txBox="1"/>
          <p:nvPr/>
        </p:nvSpPr>
        <p:spPr>
          <a:xfrm>
            <a:off x="1463039" y="5148072"/>
            <a:ext cx="6400800" cy="749808"/>
          </a:xfrm>
          <a:prstGeom prst="rect">
            <a:avLst/>
          </a:prstGeom>
          <a:noFill/>
        </p:spPr>
        <p:txBody>
          <a:bodyPr wrap="square" lIns="0" rIns="0" tIns="0" bIns="0" anchor="t">
            <a:spAutoFit/>
          </a:bodyPr>
          <a:lstStyle/>
          <a:p>
            <a:pPr algn="l">
              <a:spcBef>
                <a:spcPts val="0"/>
              </a:spcBef>
              <a:spcAft>
                <a:spcPts val="400"/>
              </a:spcAft>
            </a:pPr>
            <a:r>
              <a:rPr sz="1400" b="0" i="0">
                <a:solidFill>
                  <a:srgbClr val="1A1A1A"/>
                </a:solidFill>
                <a:latin typeface="Arial"/>
              </a:rPr>
              <a:t>Appareil débranché, photo, notification dans le dossier Nomad. La rallonge est interdite pour un GEM de classe I.</a:t>
            </a:r>
          </a:p>
        </p:txBody>
      </p:sp>
      <p:sp>
        <p:nvSpPr>
          <p:cNvPr id="12" name="Rounded Rectangle 11">
            <a:hlinkClick action="ppaction://hlinksldjump" r:id="rId3"/>
          </p:cNvPr>
          <p:cNvSpPr/>
          <p:nvPr/>
        </p:nvSpPr>
        <p:spPr>
          <a:xfrm>
            <a:off x="8229600" y="5577840"/>
            <a:ext cx="2377440" cy="54864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400" b="1" i="0">
                <a:solidFill>
                  <a:srgbClr val="FFFFFF"/>
                </a:solidFill>
                <a:latin typeface="Arial"/>
              </a:rPr>
              <a:t>Voir mon résultat  ›</a:t>
            </a:r>
          </a:p>
        </p:txBody>
      </p:sp>
      <p:sp>
        <p:nvSpPr>
          <p:cNvPr id="13" name="TextBox 12"/>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14" name="TextBox 13"/>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53 /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256032"/>
            <a:ext cx="10241280" cy="914400"/>
          </a:xfrm>
        </p:spPr>
        <p:txBody>
          <a:bodyPr wrap="square" anchor="ctr"/>
          <a:lstStyle/>
          <a:p>
            <a:r>
              <a:rPr sz="2800"/>
              <a:t>Votre résultat : 8 bonnes réponses sur 10 pour valider</a:t>
            </a:r>
          </a:p>
        </p:txBody>
      </p:sp>
      <p:sp>
        <p:nvSpPr>
          <p:cNvPr id="3" name="Rounded Rectangle 2"/>
          <p:cNvSpPr/>
          <p:nvPr/>
        </p:nvSpPr>
        <p:spPr>
          <a:xfrm>
            <a:off x="1280160" y="1371600"/>
            <a:ext cx="3291840" cy="2194560"/>
          </a:xfrm>
          <a:prstGeom prst="roundRect">
            <a:avLst>
              <a:gd name="adj" fmla="val 8000"/>
            </a:avLst>
          </a:prstGeom>
          <a:solidFill>
            <a:srgbClr val="0E2841"/>
          </a:solidFill>
          <a:ln>
            <a:noFill/>
          </a:ln>
        </p:spPr>
        <p:txBody>
          <a:bodyPr rtlCol="0" anchor="ctr"/>
          <a:lstStyle/>
          <a:p>
            <a:pPr algn="ctr"/>
          </a:p>
        </p:txBody>
      </p:sp>
      <p:sp>
        <p:nvSpPr>
          <p:cNvPr id="4" name="TextBox 3"/>
          <p:cNvSpPr txBox="1"/>
          <p:nvPr/>
        </p:nvSpPr>
        <p:spPr>
          <a:xfrm>
            <a:off x="1280160" y="1463040"/>
            <a:ext cx="3291840" cy="457200"/>
          </a:xfrm>
          <a:prstGeom prst="rect">
            <a:avLst/>
          </a:prstGeom>
          <a:noFill/>
        </p:spPr>
        <p:txBody>
          <a:bodyPr wrap="square" lIns="0" rIns="0" tIns="0" bIns="0" anchor="ctr">
            <a:spAutoFit/>
          </a:bodyPr>
          <a:lstStyle/>
          <a:p>
            <a:pPr algn="ctr">
              <a:spcBef>
                <a:spcPts val="0"/>
              </a:spcBef>
              <a:spcAft>
                <a:spcPts val="400"/>
              </a:spcAft>
            </a:pPr>
            <a:r>
              <a:rPr sz="1400" b="1" i="0">
                <a:solidFill>
                  <a:srgbClr val="FFC000"/>
                </a:solidFill>
                <a:latin typeface="Arial"/>
              </a:rPr>
              <a:t>VOTRE SCORE</a:t>
            </a:r>
          </a:p>
        </p:txBody>
      </p:sp>
      <p:sp>
        <p:nvSpPr>
          <p:cNvPr id="5" name="TextBox 4"/>
          <p:cNvSpPr txBox="1"/>
          <p:nvPr/>
        </p:nvSpPr>
        <p:spPr>
          <a:xfrm>
            <a:off x="1280160" y="1920240"/>
            <a:ext cx="3291840" cy="1097280"/>
          </a:xfrm>
          <a:prstGeom prst="rect">
            <a:avLst/>
          </a:prstGeom>
          <a:noFill/>
        </p:spPr>
        <p:txBody>
          <a:bodyPr wrap="square" lIns="0" rIns="0" tIns="0" bIns="0" anchor="ctr">
            <a:spAutoFit/>
          </a:bodyPr>
          <a:lstStyle/>
          <a:p>
            <a:pPr algn="ctr">
              <a:spcBef>
                <a:spcPts val="0"/>
              </a:spcBef>
              <a:spcAft>
                <a:spcPts val="400"/>
              </a:spcAft>
            </a:pPr>
            <a:r>
              <a:rPr sz="4400" b="1" i="0">
                <a:solidFill>
                  <a:srgbClr val="FFFFFF"/>
                </a:solidFill>
                <a:latin typeface="Arial"/>
              </a:rPr>
              <a:t>___ / 10</a:t>
            </a:r>
          </a:p>
        </p:txBody>
      </p:sp>
      <p:sp>
        <p:nvSpPr>
          <p:cNvPr id="6" name="TextBox 5"/>
          <p:cNvSpPr txBox="1"/>
          <p:nvPr/>
        </p:nvSpPr>
        <p:spPr>
          <a:xfrm>
            <a:off x="1280160" y="3017520"/>
            <a:ext cx="3291840" cy="457200"/>
          </a:xfrm>
          <a:prstGeom prst="rect">
            <a:avLst/>
          </a:prstGeom>
          <a:noFill/>
        </p:spPr>
        <p:txBody>
          <a:bodyPr wrap="square" lIns="0" rIns="0" tIns="0" bIns="0" anchor="ctr">
            <a:spAutoFit/>
          </a:bodyPr>
          <a:lstStyle/>
          <a:p>
            <a:pPr algn="ctr">
              <a:spcBef>
                <a:spcPts val="0"/>
              </a:spcBef>
              <a:spcAft>
                <a:spcPts val="400"/>
              </a:spcAft>
            </a:pPr>
            <a:r>
              <a:rPr sz="1400" b="0" i="0">
                <a:solidFill>
                  <a:srgbClr val="FFFFFF"/>
                </a:solidFill>
                <a:latin typeface="Arial"/>
              </a:rPr>
              <a:t>Seuil de réussite : 8 / 10 (80 %)</a:t>
            </a:r>
          </a:p>
        </p:txBody>
      </p:sp>
      <p:sp>
        <p:nvSpPr>
          <p:cNvPr id="7" name="Rounded Rectangle 6"/>
          <p:cNvSpPr/>
          <p:nvPr/>
        </p:nvSpPr>
        <p:spPr>
          <a:xfrm>
            <a:off x="4846320" y="1371600"/>
            <a:ext cx="3200400" cy="2194560"/>
          </a:xfrm>
          <a:prstGeom prst="roundRect">
            <a:avLst>
              <a:gd name="adj" fmla="val 6000"/>
            </a:avLst>
          </a:prstGeom>
          <a:solidFill>
            <a:srgbClr val="E7F4EA"/>
          </a:solidFill>
          <a:ln w="19050">
            <a:solidFill>
              <a:srgbClr val="1B7F3B"/>
            </a:solidFill>
          </a:ln>
        </p:spPr>
        <p:txBody>
          <a:bodyPr rtlCol="0" anchor="ctr"/>
          <a:lstStyle/>
          <a:p>
            <a:pPr algn="ctr"/>
          </a:p>
        </p:txBody>
      </p:sp>
      <p:sp>
        <p:nvSpPr>
          <p:cNvPr id="8" name="Oval 7"/>
          <p:cNvSpPr/>
          <p:nvPr/>
        </p:nvSpPr>
        <p:spPr>
          <a:xfrm>
            <a:off x="4992624" y="1481328"/>
            <a:ext cx="310896" cy="310896"/>
          </a:xfrm>
          <a:prstGeom prst="ellipse">
            <a:avLst/>
          </a:prstGeom>
          <a:solidFill>
            <a:srgbClr val="1B7F3B"/>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9" name="TextBox 8"/>
          <p:cNvSpPr txBox="1"/>
          <p:nvPr/>
        </p:nvSpPr>
        <p:spPr>
          <a:xfrm>
            <a:off x="5394959" y="1481328"/>
            <a:ext cx="25146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1B7F3B"/>
                </a:solidFill>
                <a:latin typeface="Arial"/>
              </a:rPr>
              <a:t>RÉUSSI</a:t>
            </a:r>
          </a:p>
        </p:txBody>
      </p:sp>
      <p:sp>
        <p:nvSpPr>
          <p:cNvPr id="10" name="TextBox 9"/>
          <p:cNvSpPr txBox="1"/>
          <p:nvPr/>
        </p:nvSpPr>
        <p:spPr>
          <a:xfrm>
            <a:off x="5029200" y="1901952"/>
            <a:ext cx="2834640" cy="1572767"/>
          </a:xfrm>
          <a:prstGeom prst="rect">
            <a:avLst/>
          </a:prstGeom>
          <a:noFill/>
        </p:spPr>
        <p:txBody>
          <a:bodyPr wrap="square" lIns="0" rIns="0" tIns="0" bIns="0" anchor="t">
            <a:spAutoFit/>
          </a:bodyPr>
          <a:lstStyle/>
          <a:p>
            <a:pPr algn="l">
              <a:spcBef>
                <a:spcPts val="0"/>
              </a:spcBef>
              <a:spcAft>
                <a:spcPts val="400"/>
              </a:spcAft>
            </a:pPr>
            <a:r>
              <a:rPr sz="1600" b="1" i="0">
                <a:solidFill>
                  <a:srgbClr val="1A1A1A"/>
                </a:solidFill>
                <a:latin typeface="Arial"/>
              </a:rPr>
              <a:t>8 / 10 ou plus</a:t>
            </a:r>
            <a:r>
              <a:rPr sz="1600" b="0" i="0">
                <a:solidFill>
                  <a:srgbClr val="1A1A1A"/>
                </a:solidFill>
                <a:latin typeface="Arial"/>
              </a:rPr>
              <a:t> : module validé, bravo !</a:t>
            </a:r>
          </a:p>
        </p:txBody>
      </p:sp>
      <p:sp>
        <p:nvSpPr>
          <p:cNvPr id="11" name="Rounded Rectangle 10"/>
          <p:cNvSpPr/>
          <p:nvPr/>
        </p:nvSpPr>
        <p:spPr>
          <a:xfrm>
            <a:off x="8229600" y="1371600"/>
            <a:ext cx="3200400" cy="2194560"/>
          </a:xfrm>
          <a:prstGeom prst="roundRect">
            <a:avLst>
              <a:gd name="adj" fmla="val 6000"/>
            </a:avLst>
          </a:prstGeom>
          <a:solidFill>
            <a:srgbClr val="FCE8EA"/>
          </a:solidFill>
          <a:ln w="19050">
            <a:solidFill>
              <a:srgbClr val="C8102E"/>
            </a:solidFill>
          </a:ln>
        </p:spPr>
        <p:txBody>
          <a:bodyPr rtlCol="0" anchor="ctr"/>
          <a:lstStyle/>
          <a:p>
            <a:pPr algn="ctr"/>
          </a:p>
        </p:txBody>
      </p:sp>
      <p:sp>
        <p:nvSpPr>
          <p:cNvPr id="12" name="Oval 11"/>
          <p:cNvSpPr/>
          <p:nvPr/>
        </p:nvSpPr>
        <p:spPr>
          <a:xfrm>
            <a:off x="8375904" y="1481328"/>
            <a:ext cx="310896" cy="310896"/>
          </a:xfrm>
          <a:prstGeom prst="ellipse">
            <a:avLst/>
          </a:prstGeom>
          <a:solidFill>
            <a:srgbClr val="C8102E"/>
          </a:solidFill>
          <a:ln>
            <a:noFill/>
          </a:ln>
        </p:spPr>
        <p:txBody>
          <a:bodyPr rtlCol="0" anchor="ctr" lIns="0" rIns="0" tIns="0" bIns="0" wrap="square"/>
          <a:lstStyle/>
          <a:p>
            <a:pPr algn="ctr">
              <a:spcBef>
                <a:spcPts val="0"/>
              </a:spcBef>
              <a:spcAft>
                <a:spcPts val="200"/>
              </a:spcAft>
            </a:pPr>
            <a:r>
              <a:rPr sz="1400" b="1" i="0">
                <a:solidFill>
                  <a:srgbClr val="FFFFFF"/>
                </a:solidFill>
                <a:latin typeface="Arial"/>
              </a:rPr>
              <a:t>✕</a:t>
            </a:r>
          </a:p>
        </p:txBody>
      </p:sp>
      <p:sp>
        <p:nvSpPr>
          <p:cNvPr id="13" name="TextBox 12"/>
          <p:cNvSpPr txBox="1"/>
          <p:nvPr/>
        </p:nvSpPr>
        <p:spPr>
          <a:xfrm>
            <a:off x="8778240" y="1481328"/>
            <a:ext cx="2514600" cy="310896"/>
          </a:xfrm>
          <a:prstGeom prst="rect">
            <a:avLst/>
          </a:prstGeom>
          <a:noFill/>
        </p:spPr>
        <p:txBody>
          <a:bodyPr wrap="square" lIns="0" rIns="0" tIns="0" bIns="0" anchor="ctr">
            <a:spAutoFit/>
          </a:bodyPr>
          <a:lstStyle/>
          <a:p>
            <a:pPr algn="l">
              <a:spcBef>
                <a:spcPts val="0"/>
              </a:spcBef>
              <a:spcAft>
                <a:spcPts val="400"/>
              </a:spcAft>
            </a:pPr>
            <a:r>
              <a:rPr sz="1300" b="1" i="0">
                <a:solidFill>
                  <a:srgbClr val="C8102E"/>
                </a:solidFill>
                <a:latin typeface="Arial"/>
              </a:rPr>
              <a:t>À REVOIR</a:t>
            </a:r>
          </a:p>
        </p:txBody>
      </p:sp>
      <p:sp>
        <p:nvSpPr>
          <p:cNvPr id="14" name="TextBox 13"/>
          <p:cNvSpPr txBox="1"/>
          <p:nvPr/>
        </p:nvSpPr>
        <p:spPr>
          <a:xfrm>
            <a:off x="8412480" y="1901952"/>
            <a:ext cx="2834640" cy="1572767"/>
          </a:xfrm>
          <a:prstGeom prst="rect">
            <a:avLst/>
          </a:prstGeom>
          <a:noFill/>
        </p:spPr>
        <p:txBody>
          <a:bodyPr wrap="square" lIns="0" rIns="0" tIns="0" bIns="0" anchor="t">
            <a:spAutoFit/>
          </a:bodyPr>
          <a:lstStyle/>
          <a:p>
            <a:pPr algn="l">
              <a:spcBef>
                <a:spcPts val="0"/>
              </a:spcBef>
              <a:spcAft>
                <a:spcPts val="400"/>
              </a:spcAft>
            </a:pPr>
            <a:r>
              <a:rPr sz="1500" b="1" i="0">
                <a:solidFill>
                  <a:srgbClr val="1A1A1A"/>
                </a:solidFill>
                <a:latin typeface="Arial"/>
              </a:rPr>
              <a:t>Moins de 8</a:t>
            </a:r>
            <a:r>
              <a:rPr sz="1500" b="0" i="0">
                <a:solidFill>
                  <a:srgbClr val="1A1A1A"/>
                </a:solidFill>
                <a:latin typeface="Arial"/>
              </a:rPr>
              <a:t> : revoyez les séquences, puis refaites le quiz</a:t>
            </a:r>
          </a:p>
        </p:txBody>
      </p:sp>
      <p:sp>
        <p:nvSpPr>
          <p:cNvPr id="15" name="TextBox 14"/>
          <p:cNvSpPr txBox="1"/>
          <p:nvPr/>
        </p:nvSpPr>
        <p:spPr>
          <a:xfrm>
            <a:off x="1280160" y="3749039"/>
            <a:ext cx="10149840" cy="320040"/>
          </a:xfrm>
          <a:prstGeom prst="rect">
            <a:avLst/>
          </a:prstGeom>
          <a:noFill/>
        </p:spPr>
        <p:txBody>
          <a:bodyPr wrap="square" lIns="0" rIns="0" tIns="0" bIns="0" anchor="t">
            <a:spAutoFit/>
          </a:bodyPr>
          <a:lstStyle/>
          <a:p>
            <a:pPr algn="l">
              <a:spcBef>
                <a:spcPts val="0"/>
              </a:spcBef>
              <a:spcAft>
                <a:spcPts val="400"/>
              </a:spcAft>
            </a:pPr>
            <a:r>
              <a:rPr sz="1400" b="1" i="0">
                <a:solidFill>
                  <a:srgbClr val="0E2841"/>
                </a:solidFill>
                <a:latin typeface="Arial"/>
              </a:rPr>
              <a:t>Question manquée → séquence à revoir</a:t>
            </a:r>
          </a:p>
        </p:txBody>
      </p:sp>
      <p:sp>
        <p:nvSpPr>
          <p:cNvPr id="16" name="Rounded Rectangle 15"/>
          <p:cNvSpPr/>
          <p:nvPr/>
        </p:nvSpPr>
        <p:spPr>
          <a:xfrm>
            <a:off x="1280160" y="4114800"/>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Q1 · Séq. 2</a:t>
            </a:r>
          </a:p>
        </p:txBody>
      </p:sp>
      <p:sp>
        <p:nvSpPr>
          <p:cNvPr id="17" name="Rounded Rectangle 16"/>
          <p:cNvSpPr/>
          <p:nvPr/>
        </p:nvSpPr>
        <p:spPr>
          <a:xfrm>
            <a:off x="3291840" y="4114800"/>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Q2 · Séq. 1</a:t>
            </a:r>
          </a:p>
        </p:txBody>
      </p:sp>
      <p:sp>
        <p:nvSpPr>
          <p:cNvPr id="18" name="Rounded Rectangle 17"/>
          <p:cNvSpPr/>
          <p:nvPr/>
        </p:nvSpPr>
        <p:spPr>
          <a:xfrm>
            <a:off x="5303520" y="4114800"/>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Q3 · Séq. 2</a:t>
            </a:r>
          </a:p>
        </p:txBody>
      </p:sp>
      <p:sp>
        <p:nvSpPr>
          <p:cNvPr id="19" name="Rounded Rectangle 18"/>
          <p:cNvSpPr/>
          <p:nvPr/>
        </p:nvSpPr>
        <p:spPr>
          <a:xfrm>
            <a:off x="7315200" y="4114800"/>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Q4 · Séq. 3</a:t>
            </a:r>
          </a:p>
        </p:txBody>
      </p:sp>
      <p:sp>
        <p:nvSpPr>
          <p:cNvPr id="20" name="Rounded Rectangle 19"/>
          <p:cNvSpPr/>
          <p:nvPr/>
        </p:nvSpPr>
        <p:spPr>
          <a:xfrm>
            <a:off x="9326880" y="4114800"/>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Q5 · Séq. 1</a:t>
            </a:r>
          </a:p>
        </p:txBody>
      </p:sp>
      <p:sp>
        <p:nvSpPr>
          <p:cNvPr id="21" name="Rounded Rectangle 20"/>
          <p:cNvSpPr/>
          <p:nvPr/>
        </p:nvSpPr>
        <p:spPr>
          <a:xfrm>
            <a:off x="1280160" y="4736592"/>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Q6 · Séq. 3</a:t>
            </a:r>
          </a:p>
        </p:txBody>
      </p:sp>
      <p:sp>
        <p:nvSpPr>
          <p:cNvPr id="22" name="Rounded Rectangle 21"/>
          <p:cNvSpPr/>
          <p:nvPr/>
        </p:nvSpPr>
        <p:spPr>
          <a:xfrm>
            <a:off x="3291840" y="4736592"/>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Q7 · Séq. 3</a:t>
            </a:r>
          </a:p>
        </p:txBody>
      </p:sp>
      <p:sp>
        <p:nvSpPr>
          <p:cNvPr id="23" name="Rounded Rectangle 22"/>
          <p:cNvSpPr/>
          <p:nvPr/>
        </p:nvSpPr>
        <p:spPr>
          <a:xfrm>
            <a:off x="5303520" y="4736592"/>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Q8 · Séq. 3</a:t>
            </a:r>
          </a:p>
        </p:txBody>
      </p:sp>
      <p:sp>
        <p:nvSpPr>
          <p:cNvPr id="24" name="Rounded Rectangle 23"/>
          <p:cNvSpPr/>
          <p:nvPr/>
        </p:nvSpPr>
        <p:spPr>
          <a:xfrm>
            <a:off x="7315200" y="4736592"/>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Q9 · Séq. 3</a:t>
            </a:r>
          </a:p>
        </p:txBody>
      </p:sp>
      <p:sp>
        <p:nvSpPr>
          <p:cNvPr id="25" name="Rounded Rectangle 24"/>
          <p:cNvSpPr/>
          <p:nvPr/>
        </p:nvSpPr>
        <p:spPr>
          <a:xfrm>
            <a:off x="9326880" y="4736592"/>
            <a:ext cx="1920240" cy="530352"/>
          </a:xfrm>
          <a:prstGeom prst="roundRect">
            <a:avLst>
              <a:gd name="adj" fmla="val 50000"/>
            </a:avLst>
          </a:prstGeom>
          <a:solidFill>
            <a:srgbClr val="F3F3F3"/>
          </a:solidFill>
          <a:ln w="12700">
            <a:solidFill>
              <a:srgbClr val="BDBDBD"/>
            </a:solidFill>
          </a:ln>
        </p:spPr>
        <p:txBody>
          <a:bodyPr rtlCol="0" anchor="ctr" lIns="45720" rIns="45720" tIns="27432" bIns="27432" wrap="square"/>
          <a:lstStyle/>
          <a:p>
            <a:pPr algn="ctr">
              <a:spcBef>
                <a:spcPts val="0"/>
              </a:spcBef>
              <a:spcAft>
                <a:spcPts val="200"/>
              </a:spcAft>
            </a:pPr>
            <a:r>
              <a:rPr sz="1100" b="1" i="0">
                <a:solidFill>
                  <a:srgbClr val="1A1A1A"/>
                </a:solidFill>
                <a:latin typeface="Arial"/>
              </a:rPr>
              <a:t>Q10 · Séq. 3</a:t>
            </a:r>
          </a:p>
        </p:txBody>
      </p:sp>
      <p:sp>
        <p:nvSpPr>
          <p:cNvPr id="26" name="Rounded Rectangle 25">
            <a:hlinkClick action="ppaction://hlinksldjump" r:id="rId3"/>
          </p:cNvPr>
          <p:cNvSpPr/>
          <p:nvPr/>
        </p:nvSpPr>
        <p:spPr>
          <a:xfrm>
            <a:off x="1280160" y="5486400"/>
            <a:ext cx="2377440" cy="594360"/>
          </a:xfrm>
          <a:prstGeom prst="roundRect">
            <a:avLst>
              <a:gd name="adj" fmla="val 30000"/>
            </a:avLst>
          </a:prstGeom>
          <a:solidFill>
            <a:srgbClr val="C8102E"/>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Refaire le quiz  ›</a:t>
            </a:r>
          </a:p>
        </p:txBody>
      </p:sp>
      <p:sp>
        <p:nvSpPr>
          <p:cNvPr id="27" name="Rounded Rectangle 26">
            <a:hlinkClick action="ppaction://hlinksldjump" r:id="rId4"/>
          </p:cNvPr>
          <p:cNvSpPr/>
          <p:nvPr/>
        </p:nvSpPr>
        <p:spPr>
          <a:xfrm>
            <a:off x="3840479" y="5486400"/>
            <a:ext cx="2743200" cy="594360"/>
          </a:xfrm>
          <a:prstGeom prst="roundRect">
            <a:avLst>
              <a:gd name="adj" fmla="val 30000"/>
            </a:avLst>
          </a:prstGeom>
          <a:solidFill>
            <a:srgbClr val="0E2841"/>
          </a:solidFill>
          <a:ln>
            <a:noFill/>
          </a:ln>
        </p:spPr>
        <p:txBody>
          <a:bodyPr rtlCol="0" anchor="ctr" lIns="73152" rIns="73152" tIns="43891" bIns="43891" wrap="square"/>
          <a:lstStyle/>
          <a:p>
            <a:pPr algn="ctr">
              <a:spcBef>
                <a:spcPts val="0"/>
              </a:spcBef>
              <a:spcAft>
                <a:spcPts val="200"/>
              </a:spcAft>
            </a:pPr>
            <a:r>
              <a:rPr sz="1500" b="1" i="0">
                <a:solidFill>
                  <a:srgbClr val="FFFFFF"/>
                </a:solidFill>
                <a:latin typeface="Arial"/>
              </a:rPr>
              <a:t>Revoir les séquences  ›</a:t>
            </a:r>
          </a:p>
        </p:txBody>
      </p:sp>
      <p:sp>
        <p:nvSpPr>
          <p:cNvPr id="28" name="TextBox 27"/>
          <p:cNvSpPr txBox="1"/>
          <p:nvPr/>
        </p:nvSpPr>
        <p:spPr>
          <a:xfrm>
            <a:off x="1280160" y="6473952"/>
            <a:ext cx="7772400" cy="256032"/>
          </a:xfrm>
          <a:prstGeom prst="rect">
            <a:avLst/>
          </a:prstGeom>
          <a:noFill/>
        </p:spPr>
        <p:txBody>
          <a:bodyPr wrap="square" lIns="0" rIns="0" tIns="0" bIns="0" anchor="t">
            <a:spAutoFit/>
          </a:bodyPr>
          <a:lstStyle/>
          <a:p>
            <a:pPr algn="l">
              <a:spcBef>
                <a:spcPts val="0"/>
              </a:spcBef>
              <a:spcAft>
                <a:spcPts val="400"/>
              </a:spcAft>
            </a:pPr>
            <a:r>
              <a:rPr sz="1000" b="0" i="0">
                <a:solidFill>
                  <a:srgbClr val="5F5F5F"/>
                </a:solidFill>
                <a:latin typeface="Arial"/>
              </a:rPr>
              <a:t>Quiz final  ·  Académie Fnac Darty</a:t>
            </a:r>
          </a:p>
        </p:txBody>
      </p:sp>
      <p:sp>
        <p:nvSpPr>
          <p:cNvPr id="29" name="TextBox 28"/>
          <p:cNvSpPr txBox="1"/>
          <p:nvPr/>
        </p:nvSpPr>
        <p:spPr>
          <a:xfrm>
            <a:off x="9966960" y="6473952"/>
            <a:ext cx="914400" cy="256032"/>
          </a:xfrm>
          <a:prstGeom prst="rect">
            <a:avLst/>
          </a:prstGeom>
          <a:noFill/>
        </p:spPr>
        <p:txBody>
          <a:bodyPr wrap="square" lIns="0" rIns="0" tIns="0" bIns="0" anchor="t">
            <a:spAutoFit/>
          </a:bodyPr>
          <a:lstStyle/>
          <a:p>
            <a:pPr algn="r">
              <a:spcBef>
                <a:spcPts val="0"/>
              </a:spcBef>
              <a:spcAft>
                <a:spcPts val="400"/>
              </a:spcAft>
            </a:pPr>
            <a:r>
              <a:rPr sz="1000" b="0" i="0">
                <a:solidFill>
                  <a:srgbClr val="5F5F5F"/>
                </a:solidFill>
                <a:latin typeface="Arial"/>
              </a:rPr>
              <a:t>54 / 54</a:t>
            </a:r>
          </a:p>
        </p:txBody>
      </p:sp>
    </p:spTree>
  </p:cSld>
  <p:clrMapOvr>
    <a:masterClrMapping/>
  </p:clrMapOvr>
</p:sld>
</file>

<file path=ppt/theme/theme1.xml><?xml version="1.0" encoding="utf-8"?>
<a:theme xmlns:a="http://schemas.openxmlformats.org/drawingml/2006/main" name="2026_Aca_Thè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28575">
          <a:solidFill>
            <a:srgbClr val="FF0000"/>
          </a:solidFill>
          <a:headEnd type="none" w="med" len="med"/>
          <a:tailEnd type="arrow" w="med" len="med"/>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b="1" dirty="0" err="1" smtClean="0">
            <a:solidFill>
              <a:srgbClr val="0000FF"/>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2026_Aca_Thème1" id="{69058CA9-4472-4F06-B300-E76850A0E1DD}" vid="{353CF980-9FC0-4491-A030-0C59C8756D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